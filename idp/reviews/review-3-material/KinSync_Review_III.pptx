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e8b26c4-dedf-38c8-aacc-ef29cb5457f1}">
          <p14:sldIdLst>
            <p14:sldId id="256"/>
            <p14:sldId id="257"/>
          </p14:sldIdLst>
        </p14:section>
        <p14:section name="Review II follow-up" id="{81b6091c-29cd-992a-0d97-3c81f5746852}">
          <p14:sldIdLst>
            <p14:sldId id="258"/>
            <p14:sldId id="259"/>
          </p14:sldIdLst>
        </p14:section>
        <p14:section name="What we built" id="{8cbdb278-b9e7-1742-0536-523325bdb0f9}">
          <p14:sldIdLst>
            <p14:sldId id="260"/>
            <p14:sldId id="261"/>
          </p14:sldIdLst>
        </p14:section>
        <p14:section name="Design and tools" id="{87d4ec15-cc4d-8f57-93e3-a4b5eb692ffd}">
          <p14:sldIdLst>
            <p14:sldId id="262"/>
            <p14:sldId id="263"/>
          </p14:sldIdLst>
        </p14:section>
        <p14:section name="Testing" id="{b1015e68-9ec0-12a8-f192-2d6737ce16be}">
          <p14:sldIdLst>
            <p14:sldId id="264"/>
          </p14:sldIdLst>
        </p14:section>
        <p14:section name="What's next" id="{645a483c-30c3-1932-6151-a78532fdbba7}">
          <p14:sldIdLst>
            <p14:sldId id="265"/>
            <p14:sldId id="266"/>
            <p14:sldId id="267"/>
          </p14:sldIdLst>
        </p14:section>
        <p14:section name="Team" id="{47ca0a68-a348-c501-10f5-643f631fb990}">
          <p14:sldIdLst>
            <p14:sldId id="268"/>
          </p14:sldIdLst>
        </p14:section>
        <p14:section name="Close" id="{d68659a5-aabf-ab4e-11f9-e6df7eebd7cd}">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KinSync in one sentence: it learns an elderly person's normal phone rhythm on their own phone and alerts family when that rhythm goes silent. This review covers Phase 2: everything the phone collects is now built and visible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follows the five Review III rubric parameters. Each card names the slides that answer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II's only observation was that it was not clear which features would be built. We answered it three ways: a feature map, a Phase 2 that makes every collected signal visible, and a step plan the team approved on 8 October. The five nice-to-haves were moved to Phase 3 on 9 October so the review build stays stable on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Reviews I and II are done. Phase 2 is built and on the phone. Phases 3 to 5 follow the same plan as the feature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retired the two biggest risks: does background collection work on a real phone, and does the self-hosted server work end to end. 17 features in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visible features run on the demo phone. The summary is the app's main screen; the timeline opens from it. In the demo we lock and unlock the phone and walk with it, and the new session and movement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requirements were added after Review II and two were refined. On the phone, the database grew one table per collector, always through a migration that kept the existing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phone-side choices all follow from privacy and battery: keep raw data local, use the cheapest sensor that answers the question, never use GPS. The server is self-hosted on purpose, so the team learns how each part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was built, tested on the computer and the emulator, then checked on the real phone before the next step started. The phone check found the Xiaomi Autostart issue, which is documented with a workaround.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turns the collected data into a baseline, a nudge and an alert to family. The server owns the decision to escalate, so a phone that is off or out of battery still raises an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adds the caregiver side and real pilot users; Phase 5 measures and demonstrates the whole system. Phase 3 and later are plans and may change after each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by construction, not by policy: the server simply has nowhere to put raw activity. This is why Phase 2 could be built entirely on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explains their own part in the demo and answers the technical questions on it. The Phase 3 split follows the same lines: phone logic on the Android side, the alert path on the server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demo script: summary, timeline and the day before, a live unlock and short walk, then the debug list and /health. If the phone or network fails, use the screen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S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49808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291840"/>
            <a:ext cx="7498080" cy="10058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S_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KinSync · Review III · October 2026</a:t>
            </a:r>
            <a:endParaRPr lang="en-US" sz="1000" dirty="0"/>
          </a:p>
        </p:txBody>
      </p:sp>
      <p:sp>
        <p:nvSpPr>
          <p:cNvPr id="3" name="Text 1"/>
          <p:cNvSpPr/>
          <p:nvPr>
            <p:ph idx="101" type="title" hasCustomPrompt="1"/>
          </p:nvPr>
        </p:nvSpPr>
        <p:spPr>
          <a:xfrm>
            <a:off x="548640" y="320040"/>
            <a:ext cx="11094415"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3.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3.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498080" cy="1188720"/>
          </a:xfrm>
          <a:prstGeom prst="rect">
            <a:avLst/>
          </a:prstGeom>
          <a:noFill/>
          <a:ln/>
        </p:spPr>
        <p:txBody>
          <a:bodyPr wrap="square" lIns="0" tIns="0" rIns="0" bIns="0" rtlCol="0" anchor="b"/>
          <a:lstStyle/>
          <a:p>
            <a:pPr algn="l" indent="0" marL="0">
              <a:buNone/>
            </a:pPr>
            <a:r>
              <a:rPr lang="en-US" sz="5400" b="1" dirty="0">
                <a:solidFill>
                  <a:schemeClr val="bg1"/>
                </a:solidFill>
              </a:rPr>
              <a:t>KinSync</a:t>
            </a:r>
            <a:endParaRPr lang="en-US" sz="5400" dirty="0"/>
          </a:p>
        </p:txBody>
      </p:sp>
      <p:sp>
        <p:nvSpPr>
          <p:cNvPr id="3" name="Text 0"/>
          <p:cNvSpPr/>
          <p:nvPr>
            <p:ph idx="101" type="body" hasCustomPrompt="1"/>
          </p:nvPr>
        </p:nvSpPr>
        <p:spPr>
          <a:xfrm>
            <a:off x="548640" y="3291840"/>
            <a:ext cx="7498080" cy="1005840"/>
          </a:xfrm>
          <a:prstGeom prst="rect">
            <a:avLst/>
          </a:prstGeom>
          <a:noFill/>
          <a:ln/>
        </p:spPr>
        <p:txBody>
          <a:bodyPr wrap="square" lIns="0" tIns="0" rIns="0" bIns="0" rtlCol="0" anchor="t"/>
          <a:lstStyle/>
          <a:p>
            <a:pPr algn="l" indent="0" marL="0">
              <a:buNone/>
            </a:pPr>
            <a:r>
              <a:rPr lang="en-US" sz="2200" dirty="0">
                <a:solidFill>
                  <a:schemeClr val="bg2"/>
                </a:solidFill>
              </a:rPr>
              <a:t>Review III · Phase 2: every signal collected on the phone, and shown</a:t>
            </a:r>
            <a:endParaRPr lang="en-US" sz="2200" dirty="0"/>
          </a:p>
        </p:txBody>
      </p:sp>
      <p:sp>
        <p:nvSpPr>
          <p:cNvPr id="4" name="Text 2"/>
          <p:cNvSpPr txBox="1"/>
          <p:nvPr/>
        </p:nvSpPr>
        <p:spPr>
          <a:xfrm>
            <a:off x="548640" y="4389120"/>
            <a:ext cx="7498080" cy="731520"/>
          </a:xfrm>
          <a:prstGeom prst="rect">
            <a:avLst/>
          </a:prstGeom>
          <a:noFill/>
          <a:ln/>
        </p:spPr>
        <p:txBody>
          <a:bodyPr wrap="square" lIns="0" tIns="0" rIns="0" bIns="0" rtlCol="0" anchor="t"/>
          <a:lstStyle/>
          <a:p>
            <a:pPr indent="0" marL="0">
              <a:buNone/>
            </a:pPr>
            <a:r>
              <a:rPr lang="en-US" sz="1600" i="1" dirty="0">
                <a:solidFill>
                  <a:schemeClr val="bg2"/>
                </a:solidFill>
              </a:rPr>
              <a:t>A quiet daily-rhythm monitor for elderly people living alone. Raw activity data never leaves the phone.</a:t>
            </a:r>
            <a:endParaRPr lang="en-US" sz="1600" dirty="0"/>
          </a:p>
        </p:txBody>
      </p:sp>
      <p:sp>
        <p:nvSpPr>
          <p:cNvPr id="5" name="Text 3"/>
          <p:cNvSpPr txBox="1"/>
          <p:nvPr/>
        </p:nvSpPr>
        <p:spPr>
          <a:xfrm>
            <a:off x="548640" y="5349240"/>
            <a:ext cx="8229600" cy="914400"/>
          </a:xfrm>
          <a:prstGeom prst="rect">
            <a:avLst/>
          </a:prstGeom>
          <a:noFill/>
          <a:ln/>
        </p:spPr>
        <p:txBody>
          <a:bodyPr wrap="square" lIns="0" tIns="0" rIns="0" bIns="0" rtlCol="0" anchor="t"/>
          <a:lstStyle/>
          <a:p>
            <a:pPr indent="0" marL="0">
              <a:spcAft>
                <a:spcPts val="200"/>
              </a:spcAft>
              <a:buNone/>
            </a:pPr>
            <a:r>
              <a:rPr lang="en-US" sz="1400" b="1" dirty="0">
                <a:solidFill>
                  <a:schemeClr val="bg1"/>
                </a:solidFill>
              </a:rPr>
              <a:t>Nithin Vinayagamoorthy · Sri Hasini Chowdhary G</a:t>
            </a:r>
            <a:endParaRPr lang="en-US" sz="1400" dirty="0"/>
          </a:p>
          <a:p>
            <a:pPr indent="0" marL="0">
              <a:spcAft>
                <a:spcPts val="200"/>
              </a:spcAft>
              <a:buNone/>
            </a:pPr>
            <a:r>
              <a:rPr lang="en-US" sz="1400" dirty="0">
                <a:solidFill>
                  <a:schemeClr val="bg1"/>
                </a:solidFill>
              </a:rPr>
              <a:t>Guide: Kanchana Devi V</a:t>
            </a:r>
            <a:endParaRPr lang="en-US" sz="1400" dirty="0"/>
          </a:p>
          <a:p>
            <a:pPr indent="0" marL="0">
              <a:spcAft>
                <a:spcPts val="200"/>
              </a:spcAft>
              <a:buNone/>
            </a:pPr>
            <a:r>
              <a:rPr lang="en-US" sz="1400" dirty="0">
                <a:solidFill>
                  <a:schemeClr val="bg1"/>
                </a:solidFill>
              </a:rPr>
              <a:t>BACSE291 Innovative Design Project · VIT Chennai · 12–16 Oct 2026</a:t>
            </a:r>
            <a:endParaRPr lang="en-US" sz="1400" dirty="0"/>
          </a:p>
        </p:txBody>
      </p:sp>
      <p:sp>
        <p:nvSpPr>
          <p:cNvPr id="6" name="icon-circle-FaHandHoldingHeart"/>
          <p:cNvSpPr/>
          <p:nvPr/>
        </p:nvSpPr>
        <p:spPr>
          <a:xfrm>
            <a:off x="8778240" y="1737360"/>
            <a:ext cx="2651760" cy="2651760"/>
          </a:xfrm>
          <a:prstGeom prst="ellipse">
            <a:avLst/>
          </a:prstGeom>
          <a:solidFill>
            <a:schemeClr val="accent1"/>
          </a:solidFill>
          <a:ln/>
        </p:spPr>
      </p:sp>
      <p:pic>
        <p:nvPicPr>
          <p:cNvPr id="7" name="icon-FaHandHoldingHeart" descr="preencoded.png">    </p:cNvPr>
          <p:cNvPicPr>
            <a:picLocks noChangeAspect="1"/>
          </p:cNvPicPr>
          <p:nvPr/>
        </p:nvPicPr>
        <p:blipFill>
          <a:blip r:embed="rId1"/>
          <a:stretch>
            <a:fillRect/>
          </a:stretch>
        </p:blipFill>
        <p:spPr>
          <a:xfrm>
            <a:off x="9414662" y="2373782"/>
            <a:ext cx="1378915" cy="13789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How this review is covered</a:t>
            </a:r>
            <a:endParaRPr lang="en-US" sz="3600" dirty="0"/>
          </a:p>
        </p:txBody>
      </p:sp>
      <p:sp>
        <p:nvSpPr>
          <p:cNvPr id="3" name="rubric-card-1"/>
          <p:cNvSpPr/>
          <p:nvPr/>
        </p:nvSpPr>
        <p:spPr>
          <a:xfrm>
            <a:off x="548640" y="1417320"/>
            <a:ext cx="1999427" cy="3931920"/>
          </a:xfrm>
          <a:prstGeom prst="roundRect">
            <a:avLst>
              <a:gd name="adj" fmla="val 4573"/>
            </a:avLst>
          </a:prstGeom>
          <a:solidFill>
            <a:schemeClr val="bg2"/>
          </a:solidFill>
          <a:ln/>
        </p:spPr>
      </p:sp>
      <p:sp>
        <p:nvSpPr>
          <p:cNvPr id="4" name="icon-circle-FaComments"/>
          <p:cNvSpPr/>
          <p:nvPr/>
        </p:nvSpPr>
        <p:spPr>
          <a:xfrm>
            <a:off x="822960" y="1737360"/>
            <a:ext cx="822960" cy="822960"/>
          </a:xfrm>
          <a:prstGeom prst="ellipse">
            <a:avLst/>
          </a:prstGeom>
          <a:solidFill>
            <a:schemeClr val="accent1"/>
          </a:solidFill>
          <a:ln/>
        </p:spPr>
      </p:sp>
      <p:pic>
        <p:nvPicPr>
          <p:cNvPr id="5" name="icon-FaComments" descr="preencoded.png">    </p:cNvPr>
          <p:cNvPicPr>
            <a:picLocks noChangeAspect="1"/>
          </p:cNvPicPr>
          <p:nvPr/>
        </p:nvPicPr>
        <p:blipFill>
          <a:blip r:embed="rId1"/>
          <a:stretch>
            <a:fillRect/>
          </a:stretch>
        </p:blipFill>
        <p:spPr>
          <a:xfrm>
            <a:off x="1020470" y="1934870"/>
            <a:ext cx="427939" cy="427939"/>
          </a:xfrm>
          <a:prstGeom prst="rect">
            <a:avLst/>
          </a:prstGeom>
        </p:spPr>
      </p:pic>
      <p:sp>
        <p:nvSpPr>
          <p:cNvPr id="6" name="Text 3"/>
          <p:cNvSpPr txBox="1"/>
          <p:nvPr/>
        </p:nvSpPr>
        <p:spPr>
          <a:xfrm>
            <a:off x="822960" y="2788920"/>
            <a:ext cx="1450787" cy="320040"/>
          </a:xfrm>
          <a:prstGeom prst="rect">
            <a:avLst/>
          </a:prstGeom>
          <a:noFill/>
          <a:ln/>
        </p:spPr>
        <p:txBody>
          <a:bodyPr wrap="square" lIns="0" tIns="0" rIns="0" bIns="0" rtlCol="0" anchor="t"/>
          <a:lstStyle/>
          <a:p>
            <a:pPr indent="0" marL="0">
              <a:buNone/>
            </a:pPr>
            <a:r>
              <a:rPr lang="en-US" sz="1400" b="1" dirty="0">
                <a:solidFill>
                  <a:schemeClr val="accent2"/>
                </a:solidFill>
              </a:rPr>
              <a:t>2 marks</a:t>
            </a:r>
            <a:endParaRPr lang="en-US" sz="1400" dirty="0"/>
          </a:p>
        </p:txBody>
      </p:sp>
      <p:sp>
        <p:nvSpPr>
          <p:cNvPr id="7" name="Text 4"/>
          <p:cNvSpPr txBox="1"/>
          <p:nvPr/>
        </p:nvSpPr>
        <p:spPr>
          <a:xfrm>
            <a:off x="822960" y="3154680"/>
            <a:ext cx="1450787" cy="1463040"/>
          </a:xfrm>
          <a:prstGeom prst="rect">
            <a:avLst/>
          </a:prstGeom>
          <a:noFill/>
          <a:ln/>
        </p:spPr>
        <p:txBody>
          <a:bodyPr wrap="square" lIns="0" tIns="0" rIns="0" bIns="0" rtlCol="0" anchor="t"/>
          <a:lstStyle/>
          <a:p>
            <a:pPr indent="0" marL="0">
              <a:buNone/>
            </a:pPr>
            <a:r>
              <a:rPr lang="en-US" sz="1700" b="1" dirty="0">
                <a:solidFill>
                  <a:schemeClr val="tx2"/>
                </a:solidFill>
              </a:rPr>
              <a:t>Follow-up on Review II and progress</a:t>
            </a:r>
            <a:endParaRPr lang="en-US" sz="1700" dirty="0"/>
          </a:p>
        </p:txBody>
      </p:sp>
      <p:sp>
        <p:nvSpPr>
          <p:cNvPr id="8" name="Text 5"/>
          <p:cNvSpPr txBox="1"/>
          <p:nvPr/>
        </p:nvSpPr>
        <p:spPr>
          <a:xfrm>
            <a:off x="822960" y="4800600"/>
            <a:ext cx="1450787" cy="320040"/>
          </a:xfrm>
          <a:prstGeom prst="rect">
            <a:avLst/>
          </a:prstGeom>
          <a:noFill/>
          <a:ln/>
        </p:spPr>
        <p:txBody>
          <a:bodyPr wrap="square" lIns="0" tIns="0" rIns="0" bIns="0" rtlCol="0" anchor="t"/>
          <a:lstStyle/>
          <a:p>
            <a:pPr indent="0" marL="0">
              <a:buNone/>
            </a:pPr>
            <a:r>
              <a:rPr lang="en-US" sz="1200" dirty="0">
                <a:solidFill>
                  <a:schemeClr val="accent4"/>
                </a:solidFill>
              </a:rPr>
              <a:t>Slides 3–4</a:t>
            </a:r>
            <a:endParaRPr lang="en-US" sz="1200" dirty="0"/>
          </a:p>
        </p:txBody>
      </p:sp>
      <p:sp>
        <p:nvSpPr>
          <p:cNvPr id="9" name="rubric-card-2"/>
          <p:cNvSpPr/>
          <p:nvPr/>
        </p:nvSpPr>
        <p:spPr>
          <a:xfrm>
            <a:off x="2822387" y="1417320"/>
            <a:ext cx="1999427" cy="3931920"/>
          </a:xfrm>
          <a:prstGeom prst="roundRect">
            <a:avLst>
              <a:gd name="adj" fmla="val 4573"/>
            </a:avLst>
          </a:prstGeom>
          <a:solidFill>
            <a:schemeClr val="bg2"/>
          </a:solidFill>
          <a:ln/>
        </p:spPr>
      </p:sp>
      <p:sp>
        <p:nvSpPr>
          <p:cNvPr id="10" name="icon-circle-FaSitemap"/>
          <p:cNvSpPr/>
          <p:nvPr/>
        </p:nvSpPr>
        <p:spPr>
          <a:xfrm>
            <a:off x="3096707" y="1737360"/>
            <a:ext cx="822960" cy="822960"/>
          </a:xfrm>
          <a:prstGeom prst="ellipse">
            <a:avLst/>
          </a:prstGeom>
          <a:solidFill>
            <a:schemeClr val="accent1"/>
          </a:solidFill>
          <a:ln/>
        </p:spPr>
      </p:sp>
      <p:pic>
        <p:nvPicPr>
          <p:cNvPr id="11" name="icon-FaSitemap" descr="preencoded.png">    </p:cNvPr>
          <p:cNvPicPr>
            <a:picLocks noChangeAspect="1"/>
          </p:cNvPicPr>
          <p:nvPr/>
        </p:nvPicPr>
        <p:blipFill>
          <a:blip r:embed="rId2"/>
          <a:stretch>
            <a:fillRect/>
          </a:stretch>
        </p:blipFill>
        <p:spPr>
          <a:xfrm>
            <a:off x="3294217" y="1934870"/>
            <a:ext cx="427939" cy="427939"/>
          </a:xfrm>
          <a:prstGeom prst="rect">
            <a:avLst/>
          </a:prstGeom>
        </p:spPr>
      </p:pic>
      <p:sp>
        <p:nvSpPr>
          <p:cNvPr id="12" name="Text 8"/>
          <p:cNvSpPr txBox="1"/>
          <p:nvPr/>
        </p:nvSpPr>
        <p:spPr>
          <a:xfrm>
            <a:off x="3096707" y="2788920"/>
            <a:ext cx="1450787" cy="320040"/>
          </a:xfrm>
          <a:prstGeom prst="rect">
            <a:avLst/>
          </a:prstGeom>
          <a:noFill/>
          <a:ln/>
        </p:spPr>
        <p:txBody>
          <a:bodyPr wrap="square" lIns="0" tIns="0" rIns="0" bIns="0" rtlCol="0" anchor="t"/>
          <a:lstStyle/>
          <a:p>
            <a:pPr indent="0" marL="0">
              <a:buNone/>
            </a:pPr>
            <a:r>
              <a:rPr lang="en-US" sz="1400" b="1" dirty="0">
                <a:solidFill>
                  <a:schemeClr val="accent2"/>
                </a:solidFill>
              </a:rPr>
              <a:t>2 marks</a:t>
            </a:r>
            <a:endParaRPr lang="en-US" sz="1400" dirty="0"/>
          </a:p>
        </p:txBody>
      </p:sp>
      <p:sp>
        <p:nvSpPr>
          <p:cNvPr id="13" name="Text 9"/>
          <p:cNvSpPr txBox="1"/>
          <p:nvPr/>
        </p:nvSpPr>
        <p:spPr>
          <a:xfrm>
            <a:off x="3096707" y="3154680"/>
            <a:ext cx="1450787" cy="1463040"/>
          </a:xfrm>
          <a:prstGeom prst="rect">
            <a:avLst/>
          </a:prstGeom>
          <a:noFill/>
          <a:ln/>
        </p:spPr>
        <p:txBody>
          <a:bodyPr wrap="square" lIns="0" tIns="0" rIns="0" bIns="0" rtlCol="0" anchor="t"/>
          <a:lstStyle/>
          <a:p>
            <a:pPr indent="0" marL="0">
              <a:buNone/>
            </a:pPr>
            <a:r>
              <a:rPr lang="en-US" sz="1700" b="1" dirty="0">
                <a:solidFill>
                  <a:schemeClr val="tx2"/>
                </a:solidFill>
              </a:rPr>
              <a:t>Requirement analysis and design refinement</a:t>
            </a:r>
            <a:endParaRPr lang="en-US" sz="1700" dirty="0"/>
          </a:p>
        </p:txBody>
      </p:sp>
      <p:sp>
        <p:nvSpPr>
          <p:cNvPr id="14" name="Text 10"/>
          <p:cNvSpPr txBox="1"/>
          <p:nvPr/>
        </p:nvSpPr>
        <p:spPr>
          <a:xfrm>
            <a:off x="3096707" y="4800600"/>
            <a:ext cx="1450787" cy="320040"/>
          </a:xfrm>
          <a:prstGeom prst="rect">
            <a:avLst/>
          </a:prstGeom>
          <a:noFill/>
          <a:ln/>
        </p:spPr>
        <p:txBody>
          <a:bodyPr wrap="square" lIns="0" tIns="0" rIns="0" bIns="0" rtlCol="0" anchor="t"/>
          <a:lstStyle/>
          <a:p>
            <a:pPr indent="0" marL="0">
              <a:buNone/>
            </a:pPr>
            <a:r>
              <a:rPr lang="en-US" sz="1200" dirty="0">
                <a:solidFill>
                  <a:schemeClr val="accent4"/>
                </a:solidFill>
              </a:rPr>
              <a:t>Slides 7, 12</a:t>
            </a:r>
            <a:endParaRPr lang="en-US" sz="1200" dirty="0"/>
          </a:p>
        </p:txBody>
      </p:sp>
      <p:sp>
        <p:nvSpPr>
          <p:cNvPr id="15" name="rubric-card-3"/>
          <p:cNvSpPr/>
          <p:nvPr/>
        </p:nvSpPr>
        <p:spPr>
          <a:xfrm>
            <a:off x="5096134" y="1417320"/>
            <a:ext cx="1999427" cy="3931920"/>
          </a:xfrm>
          <a:prstGeom prst="roundRect">
            <a:avLst>
              <a:gd name="adj" fmla="val 4573"/>
            </a:avLst>
          </a:prstGeom>
          <a:solidFill>
            <a:schemeClr val="bg2"/>
          </a:solidFill>
          <a:ln/>
        </p:spPr>
      </p:sp>
      <p:sp>
        <p:nvSpPr>
          <p:cNvPr id="16" name="icon-circle-FaTools"/>
          <p:cNvSpPr/>
          <p:nvPr/>
        </p:nvSpPr>
        <p:spPr>
          <a:xfrm>
            <a:off x="5370454" y="1737360"/>
            <a:ext cx="822960" cy="822960"/>
          </a:xfrm>
          <a:prstGeom prst="ellipse">
            <a:avLst/>
          </a:prstGeom>
          <a:solidFill>
            <a:schemeClr val="accent1"/>
          </a:solidFill>
          <a:ln/>
        </p:spPr>
      </p:sp>
      <p:pic>
        <p:nvPicPr>
          <p:cNvPr id="17" name="icon-FaTools" descr="preencoded.png">    </p:cNvPr>
          <p:cNvPicPr>
            <a:picLocks noChangeAspect="1"/>
          </p:cNvPicPr>
          <p:nvPr/>
        </p:nvPicPr>
        <p:blipFill>
          <a:blip r:embed="rId3"/>
          <a:stretch>
            <a:fillRect/>
          </a:stretch>
        </p:blipFill>
        <p:spPr>
          <a:xfrm>
            <a:off x="5567964" y="1934870"/>
            <a:ext cx="427939" cy="427939"/>
          </a:xfrm>
          <a:prstGeom prst="rect">
            <a:avLst/>
          </a:prstGeom>
        </p:spPr>
      </p:pic>
      <p:sp>
        <p:nvSpPr>
          <p:cNvPr id="18" name="Text 13"/>
          <p:cNvSpPr txBox="1"/>
          <p:nvPr/>
        </p:nvSpPr>
        <p:spPr>
          <a:xfrm>
            <a:off x="5370454" y="2788920"/>
            <a:ext cx="1450787" cy="320040"/>
          </a:xfrm>
          <a:prstGeom prst="rect">
            <a:avLst/>
          </a:prstGeom>
          <a:noFill/>
          <a:ln/>
        </p:spPr>
        <p:txBody>
          <a:bodyPr wrap="square" lIns="0" tIns="0" rIns="0" bIns="0" rtlCol="0" anchor="t"/>
          <a:lstStyle/>
          <a:p>
            <a:pPr indent="0" marL="0">
              <a:buNone/>
            </a:pPr>
            <a:r>
              <a:rPr lang="en-US" sz="1400" b="1" dirty="0">
                <a:solidFill>
                  <a:schemeClr val="accent2"/>
                </a:solidFill>
              </a:rPr>
              <a:t>2 marks</a:t>
            </a:r>
            <a:endParaRPr lang="en-US" sz="1400" dirty="0"/>
          </a:p>
        </p:txBody>
      </p:sp>
      <p:sp>
        <p:nvSpPr>
          <p:cNvPr id="19" name="Text 14"/>
          <p:cNvSpPr txBox="1"/>
          <p:nvPr/>
        </p:nvSpPr>
        <p:spPr>
          <a:xfrm>
            <a:off x="5370454" y="3154680"/>
            <a:ext cx="1450787" cy="1463040"/>
          </a:xfrm>
          <a:prstGeom prst="rect">
            <a:avLst/>
          </a:prstGeom>
          <a:noFill/>
          <a:ln/>
        </p:spPr>
        <p:txBody>
          <a:bodyPr wrap="square" lIns="0" tIns="0" rIns="0" bIns="0" rtlCol="0" anchor="t"/>
          <a:lstStyle/>
          <a:p>
            <a:pPr indent="0" marL="0">
              <a:buNone/>
            </a:pPr>
            <a:r>
              <a:rPr lang="en-US" sz="1700" b="1" dirty="0">
                <a:solidFill>
                  <a:schemeClr val="tx2"/>
                </a:solidFill>
              </a:rPr>
              <a:t>Component and tool selection, with reasons</a:t>
            </a:r>
            <a:endParaRPr lang="en-US" sz="1700" dirty="0"/>
          </a:p>
        </p:txBody>
      </p:sp>
      <p:sp>
        <p:nvSpPr>
          <p:cNvPr id="20" name="Text 15"/>
          <p:cNvSpPr txBox="1"/>
          <p:nvPr/>
        </p:nvSpPr>
        <p:spPr>
          <a:xfrm>
            <a:off x="5370454" y="4800600"/>
            <a:ext cx="1450787" cy="320040"/>
          </a:xfrm>
          <a:prstGeom prst="rect">
            <a:avLst/>
          </a:prstGeom>
          <a:noFill/>
          <a:ln/>
        </p:spPr>
        <p:txBody>
          <a:bodyPr wrap="square" lIns="0" tIns="0" rIns="0" bIns="0" rtlCol="0" anchor="t"/>
          <a:lstStyle/>
          <a:p>
            <a:pPr indent="0" marL="0">
              <a:buNone/>
            </a:pPr>
            <a:r>
              <a:rPr lang="en-US" sz="1200" dirty="0">
                <a:solidFill>
                  <a:schemeClr val="accent4"/>
                </a:solidFill>
              </a:rPr>
              <a:t>Slide 8</a:t>
            </a:r>
            <a:endParaRPr lang="en-US" sz="1200" dirty="0"/>
          </a:p>
        </p:txBody>
      </p:sp>
      <p:sp>
        <p:nvSpPr>
          <p:cNvPr id="21" name="rubric-card-4"/>
          <p:cNvSpPr/>
          <p:nvPr/>
        </p:nvSpPr>
        <p:spPr>
          <a:xfrm>
            <a:off x="7369881" y="1417320"/>
            <a:ext cx="1999427" cy="3931920"/>
          </a:xfrm>
          <a:prstGeom prst="roundRect">
            <a:avLst>
              <a:gd name="adj" fmla="val 4573"/>
            </a:avLst>
          </a:prstGeom>
          <a:solidFill>
            <a:schemeClr val="bg2"/>
          </a:solidFill>
          <a:ln/>
        </p:spPr>
      </p:sp>
      <p:sp>
        <p:nvSpPr>
          <p:cNvPr id="22" name="icon-circle-FaVial"/>
          <p:cNvSpPr/>
          <p:nvPr/>
        </p:nvSpPr>
        <p:spPr>
          <a:xfrm>
            <a:off x="7644201" y="1737360"/>
            <a:ext cx="822960" cy="822960"/>
          </a:xfrm>
          <a:prstGeom prst="ellipse">
            <a:avLst/>
          </a:prstGeom>
          <a:solidFill>
            <a:schemeClr val="accent1"/>
          </a:solidFill>
          <a:ln/>
        </p:spPr>
      </p:sp>
      <p:pic>
        <p:nvPicPr>
          <p:cNvPr id="23" name="icon-FaVial" descr="preencoded.png">    </p:cNvPr>
          <p:cNvPicPr>
            <a:picLocks noChangeAspect="1"/>
          </p:cNvPicPr>
          <p:nvPr/>
        </p:nvPicPr>
        <p:blipFill>
          <a:blip r:embed="rId4"/>
          <a:stretch>
            <a:fillRect/>
          </a:stretch>
        </p:blipFill>
        <p:spPr>
          <a:xfrm>
            <a:off x="7841712" y="1934870"/>
            <a:ext cx="427939" cy="427939"/>
          </a:xfrm>
          <a:prstGeom prst="rect">
            <a:avLst/>
          </a:prstGeom>
        </p:spPr>
      </p:pic>
      <p:sp>
        <p:nvSpPr>
          <p:cNvPr id="24" name="Text 18"/>
          <p:cNvSpPr txBox="1"/>
          <p:nvPr/>
        </p:nvSpPr>
        <p:spPr>
          <a:xfrm>
            <a:off x="7644201" y="2788920"/>
            <a:ext cx="1450787" cy="320040"/>
          </a:xfrm>
          <a:prstGeom prst="rect">
            <a:avLst/>
          </a:prstGeom>
          <a:noFill/>
          <a:ln/>
        </p:spPr>
        <p:txBody>
          <a:bodyPr wrap="square" lIns="0" tIns="0" rIns="0" bIns="0" rtlCol="0" anchor="t"/>
          <a:lstStyle/>
          <a:p>
            <a:pPr indent="0" marL="0">
              <a:buNone/>
            </a:pPr>
            <a:r>
              <a:rPr lang="en-US" sz="1400" b="1" dirty="0">
                <a:solidFill>
                  <a:schemeClr val="accent2"/>
                </a:solidFill>
              </a:rPr>
              <a:t>2 marks</a:t>
            </a:r>
            <a:endParaRPr lang="en-US" sz="1400" dirty="0"/>
          </a:p>
        </p:txBody>
      </p:sp>
      <p:sp>
        <p:nvSpPr>
          <p:cNvPr id="25" name="Text 19"/>
          <p:cNvSpPr txBox="1"/>
          <p:nvPr/>
        </p:nvSpPr>
        <p:spPr>
          <a:xfrm>
            <a:off x="7644201" y="3154680"/>
            <a:ext cx="1450787" cy="1463040"/>
          </a:xfrm>
          <a:prstGeom prst="rect">
            <a:avLst/>
          </a:prstGeom>
          <a:noFill/>
          <a:ln/>
        </p:spPr>
        <p:txBody>
          <a:bodyPr wrap="square" lIns="0" tIns="0" rIns="0" bIns="0" rtlCol="0" anchor="t"/>
          <a:lstStyle/>
          <a:p>
            <a:pPr indent="0" marL="0">
              <a:buNone/>
            </a:pPr>
            <a:r>
              <a:rPr lang="en-US" sz="1700" b="1" dirty="0">
                <a:solidFill>
                  <a:schemeClr val="tx2"/>
                </a:solidFill>
              </a:rPr>
              <a:t>Prototype modules and early testing</a:t>
            </a:r>
            <a:endParaRPr lang="en-US" sz="1700" dirty="0"/>
          </a:p>
        </p:txBody>
      </p:sp>
      <p:sp>
        <p:nvSpPr>
          <p:cNvPr id="26" name="Text 20"/>
          <p:cNvSpPr txBox="1"/>
          <p:nvPr/>
        </p:nvSpPr>
        <p:spPr>
          <a:xfrm>
            <a:off x="7644201" y="4800600"/>
            <a:ext cx="1450787" cy="320040"/>
          </a:xfrm>
          <a:prstGeom prst="rect">
            <a:avLst/>
          </a:prstGeom>
          <a:noFill/>
          <a:ln/>
        </p:spPr>
        <p:txBody>
          <a:bodyPr wrap="square" lIns="0" tIns="0" rIns="0" bIns="0" rtlCol="0" anchor="t"/>
          <a:lstStyle/>
          <a:p>
            <a:pPr indent="0" marL="0">
              <a:buNone/>
            </a:pPr>
            <a:r>
              <a:rPr lang="en-US" sz="1200" dirty="0">
                <a:solidFill>
                  <a:schemeClr val="accent4"/>
                </a:solidFill>
              </a:rPr>
              <a:t>Slides 5, 6, 9</a:t>
            </a:r>
            <a:endParaRPr lang="en-US" sz="1200" dirty="0"/>
          </a:p>
        </p:txBody>
      </p:sp>
      <p:sp>
        <p:nvSpPr>
          <p:cNvPr id="27" name="rubric-card-5"/>
          <p:cNvSpPr/>
          <p:nvPr/>
        </p:nvSpPr>
        <p:spPr>
          <a:xfrm>
            <a:off x="9643628" y="1417320"/>
            <a:ext cx="1999427" cy="3931920"/>
          </a:xfrm>
          <a:prstGeom prst="roundRect">
            <a:avLst>
              <a:gd name="adj" fmla="val 4573"/>
            </a:avLst>
          </a:prstGeom>
          <a:solidFill>
            <a:schemeClr val="bg2"/>
          </a:solidFill>
          <a:ln/>
        </p:spPr>
      </p:sp>
      <p:sp>
        <p:nvSpPr>
          <p:cNvPr id="28" name="icon-circle-FaUsers"/>
          <p:cNvSpPr/>
          <p:nvPr/>
        </p:nvSpPr>
        <p:spPr>
          <a:xfrm>
            <a:off x="9917948" y="1737360"/>
            <a:ext cx="822960" cy="822960"/>
          </a:xfrm>
          <a:prstGeom prst="ellipse">
            <a:avLst/>
          </a:prstGeom>
          <a:solidFill>
            <a:schemeClr val="accent1"/>
          </a:solidFill>
          <a:ln/>
        </p:spPr>
      </p:sp>
      <p:pic>
        <p:nvPicPr>
          <p:cNvPr id="29" name="icon-FaUsers" descr="preencoded.png">    </p:cNvPr>
          <p:cNvPicPr>
            <a:picLocks noChangeAspect="1"/>
          </p:cNvPicPr>
          <p:nvPr/>
        </p:nvPicPr>
        <p:blipFill>
          <a:blip r:embed="rId5"/>
          <a:stretch>
            <a:fillRect/>
          </a:stretch>
        </p:blipFill>
        <p:spPr>
          <a:xfrm>
            <a:off x="10115459" y="1934870"/>
            <a:ext cx="427939" cy="427939"/>
          </a:xfrm>
          <a:prstGeom prst="rect">
            <a:avLst/>
          </a:prstGeom>
        </p:spPr>
      </p:pic>
      <p:sp>
        <p:nvSpPr>
          <p:cNvPr id="30" name="Text 23"/>
          <p:cNvSpPr txBox="1"/>
          <p:nvPr/>
        </p:nvSpPr>
        <p:spPr>
          <a:xfrm>
            <a:off x="9917948" y="2788920"/>
            <a:ext cx="1450787" cy="320040"/>
          </a:xfrm>
          <a:prstGeom prst="rect">
            <a:avLst/>
          </a:prstGeom>
          <a:noFill/>
          <a:ln/>
        </p:spPr>
        <p:txBody>
          <a:bodyPr wrap="square" lIns="0" tIns="0" rIns="0" bIns="0" rtlCol="0" anchor="t"/>
          <a:lstStyle/>
          <a:p>
            <a:pPr indent="0" marL="0">
              <a:buNone/>
            </a:pPr>
            <a:r>
              <a:rPr lang="en-US" sz="1400" b="1" dirty="0">
                <a:solidFill>
                  <a:schemeClr val="accent2"/>
                </a:solidFill>
              </a:rPr>
              <a:t>2 marks</a:t>
            </a:r>
            <a:endParaRPr lang="en-US" sz="1400" dirty="0"/>
          </a:p>
        </p:txBody>
      </p:sp>
      <p:sp>
        <p:nvSpPr>
          <p:cNvPr id="31" name="Text 24"/>
          <p:cNvSpPr txBox="1"/>
          <p:nvPr/>
        </p:nvSpPr>
        <p:spPr>
          <a:xfrm>
            <a:off x="9917948" y="3154680"/>
            <a:ext cx="1450787" cy="1463040"/>
          </a:xfrm>
          <a:prstGeom prst="rect">
            <a:avLst/>
          </a:prstGeom>
          <a:noFill/>
          <a:ln/>
        </p:spPr>
        <p:txBody>
          <a:bodyPr wrap="square" lIns="0" tIns="0" rIns="0" bIns="0" rtlCol="0" anchor="t"/>
          <a:lstStyle/>
          <a:p>
            <a:pPr indent="0" marL="0">
              <a:buNone/>
            </a:pPr>
            <a:r>
              <a:rPr lang="en-US" sz="1700" b="1" dirty="0">
                <a:solidFill>
                  <a:schemeClr val="tx2"/>
                </a:solidFill>
              </a:rPr>
              <a:t>Individual contribution and next-stage roles</a:t>
            </a:r>
            <a:endParaRPr lang="en-US" sz="1700" dirty="0"/>
          </a:p>
        </p:txBody>
      </p:sp>
      <p:sp>
        <p:nvSpPr>
          <p:cNvPr id="32" name="Text 25"/>
          <p:cNvSpPr txBox="1"/>
          <p:nvPr/>
        </p:nvSpPr>
        <p:spPr>
          <a:xfrm>
            <a:off x="9917948" y="4800600"/>
            <a:ext cx="1450787" cy="320040"/>
          </a:xfrm>
          <a:prstGeom prst="rect">
            <a:avLst/>
          </a:prstGeom>
          <a:noFill/>
          <a:ln/>
        </p:spPr>
        <p:txBody>
          <a:bodyPr wrap="square" lIns="0" tIns="0" rIns="0" bIns="0" rtlCol="0" anchor="t"/>
          <a:lstStyle/>
          <a:p>
            <a:pPr indent="0" marL="0">
              <a:buNone/>
            </a:pPr>
            <a:r>
              <a:rPr lang="en-US" sz="1200" dirty="0">
                <a:solidFill>
                  <a:schemeClr val="accent4"/>
                </a:solidFill>
              </a:rPr>
              <a:t>Slides 10, 13</a:t>
            </a:r>
            <a:endParaRPr lang="en-US" sz="1200" dirty="0"/>
          </a:p>
        </p:txBody>
      </p:sp>
      <p:sp>
        <p:nvSpPr>
          <p:cNvPr id="33" name="Text 26"/>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600" i="1" dirty="0">
                <a:solidFill>
                  <a:schemeClr val="tx2"/>
                </a:solidFill>
              </a:rPr>
              <a:t>10 marks in all. A live demo on the real phone follows the slides.</a:t>
            </a:r>
            <a:endParaRPr lang="en-US" sz="1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Review II asked: which features will be built?</a:t>
            </a:r>
            <a:endParaRPr lang="en-US" sz="3600" dirty="0"/>
          </a:p>
        </p:txBody>
      </p:sp>
      <p:sp>
        <p:nvSpPr>
          <p:cNvPr id="3" name="observation-card"/>
          <p:cNvSpPr/>
          <p:nvPr/>
        </p:nvSpPr>
        <p:spPr>
          <a:xfrm>
            <a:off x="548640" y="1371600"/>
            <a:ext cx="3840480" cy="2926080"/>
          </a:xfrm>
          <a:prstGeom prst="roundRect">
            <a:avLst>
              <a:gd name="adj" fmla="val 3125"/>
            </a:avLst>
          </a:prstGeom>
          <a:solidFill>
            <a:schemeClr val="tx2"/>
          </a:solidFill>
          <a:ln/>
        </p:spPr>
      </p:sp>
      <p:sp>
        <p:nvSpPr>
          <p:cNvPr id="4" name="icon-circle-FaComments"/>
          <p:cNvSpPr/>
          <p:nvPr/>
        </p:nvSpPr>
        <p:spPr>
          <a:xfrm>
            <a:off x="868680" y="1645920"/>
            <a:ext cx="640080" cy="640080"/>
          </a:xfrm>
          <a:prstGeom prst="ellipse">
            <a:avLst/>
          </a:prstGeom>
          <a:solidFill>
            <a:schemeClr val="accent2"/>
          </a:solidFill>
          <a:ln/>
        </p:spPr>
      </p:sp>
      <p:pic>
        <p:nvPicPr>
          <p:cNvPr id="5" name="icon-FaComments" descr="preencoded.png">    </p:cNvPr>
          <p:cNvPicPr>
            <a:picLocks noChangeAspect="1"/>
          </p:cNvPicPr>
          <p:nvPr/>
        </p:nvPicPr>
        <p:blipFill>
          <a:blip r:embed="rId1"/>
          <a:stretch>
            <a:fillRect/>
          </a:stretch>
        </p:blipFill>
        <p:spPr>
          <a:xfrm>
            <a:off x="1022299" y="1799539"/>
            <a:ext cx="332842" cy="332842"/>
          </a:xfrm>
          <a:prstGeom prst="rect">
            <a:avLst/>
          </a:prstGeom>
        </p:spPr>
      </p:pic>
      <p:sp>
        <p:nvSpPr>
          <p:cNvPr id="6" name="Text 3"/>
          <p:cNvSpPr txBox="1"/>
          <p:nvPr/>
        </p:nvSpPr>
        <p:spPr>
          <a:xfrm>
            <a:off x="1691640" y="1783080"/>
            <a:ext cx="2560320" cy="365760"/>
          </a:xfrm>
          <a:prstGeom prst="rect">
            <a:avLst/>
          </a:prstGeom>
          <a:noFill/>
          <a:ln/>
        </p:spPr>
        <p:txBody>
          <a:bodyPr wrap="square" lIns="0" tIns="0" rIns="0" bIns="0" rtlCol="0" anchor="t"/>
          <a:lstStyle/>
          <a:p>
            <a:pPr indent="0" marL="0">
              <a:buNone/>
            </a:pPr>
            <a:r>
              <a:rPr lang="en-US" sz="1300" b="1" dirty="0">
                <a:solidFill>
                  <a:schemeClr val="bg2"/>
                </a:solidFill>
              </a:rPr>
              <a:t>Review II panel, 23 Sep 2026</a:t>
            </a:r>
            <a:endParaRPr lang="en-US" sz="1300" dirty="0"/>
          </a:p>
        </p:txBody>
      </p:sp>
      <p:sp>
        <p:nvSpPr>
          <p:cNvPr id="7" name="Text 4"/>
          <p:cNvSpPr txBox="1"/>
          <p:nvPr/>
        </p:nvSpPr>
        <p:spPr>
          <a:xfrm>
            <a:off x="868680" y="2514600"/>
            <a:ext cx="3200400" cy="1188720"/>
          </a:xfrm>
          <a:prstGeom prst="rect">
            <a:avLst/>
          </a:prstGeom>
          <a:noFill/>
          <a:ln/>
        </p:spPr>
        <p:txBody>
          <a:bodyPr wrap="square" lIns="0" tIns="0" rIns="0" bIns="0" rtlCol="0" anchor="t"/>
          <a:lstStyle/>
          <a:p>
            <a:pPr indent="0" marL="0">
              <a:buNone/>
            </a:pPr>
            <a:r>
              <a:rPr lang="en-US" sz="2100" i="1" dirty="0">
                <a:solidFill>
                  <a:schemeClr val="bg1"/>
                </a:solidFill>
              </a:rPr>
              <a:t>“Not clear which features are going to be implemented.”</a:t>
            </a:r>
            <a:endParaRPr lang="en-US" sz="2100" dirty="0"/>
          </a:p>
        </p:txBody>
      </p:sp>
      <p:sp>
        <p:nvSpPr>
          <p:cNvPr id="8" name="Text 5"/>
          <p:cNvSpPr txBox="1"/>
          <p:nvPr/>
        </p:nvSpPr>
        <p:spPr>
          <a:xfrm>
            <a:off x="868680" y="3749040"/>
            <a:ext cx="3200400" cy="365760"/>
          </a:xfrm>
          <a:prstGeom prst="rect">
            <a:avLst/>
          </a:prstGeom>
          <a:noFill/>
          <a:ln/>
        </p:spPr>
        <p:txBody>
          <a:bodyPr wrap="square" lIns="0" tIns="0" rIns="0" bIns="0" rtlCol="0" anchor="t"/>
          <a:lstStyle/>
          <a:p>
            <a:pPr indent="0" marL="0">
              <a:buNone/>
            </a:pPr>
            <a:r>
              <a:rPr lang="en-US" sz="1200" dirty="0">
                <a:solidFill>
                  <a:schemeClr val="bg2"/>
                </a:solidFill>
              </a:rPr>
              <a:t>Otherwise the panel was satisfied with the demo.</a:t>
            </a:r>
            <a:endParaRPr lang="en-US" sz="1200" dirty="0"/>
          </a:p>
        </p:txBody>
      </p:sp>
      <p:pic>
        <p:nvPicPr>
          <p:cNvPr id="9" name="arrow" descr="preencoded.png">    </p:cNvPr>
          <p:cNvPicPr>
            <a:picLocks noChangeAspect="1"/>
          </p:cNvPicPr>
          <p:nvPr/>
        </p:nvPicPr>
        <p:blipFill>
          <a:blip r:embed="rId2"/>
          <a:stretch>
            <a:fillRect/>
          </a:stretch>
        </p:blipFill>
        <p:spPr>
          <a:xfrm>
            <a:off x="4617720" y="2606040"/>
            <a:ext cx="457200" cy="457200"/>
          </a:xfrm>
          <a:prstGeom prst="rect">
            <a:avLst/>
          </a:prstGeom>
        </p:spPr>
      </p:pic>
      <p:sp>
        <p:nvSpPr>
          <p:cNvPr id="10" name="icon-circle-FaMap"/>
          <p:cNvSpPr/>
          <p:nvPr/>
        </p:nvSpPr>
        <p:spPr>
          <a:xfrm>
            <a:off x="5440680" y="1417320"/>
            <a:ext cx="640080" cy="640080"/>
          </a:xfrm>
          <a:prstGeom prst="ellipse">
            <a:avLst/>
          </a:prstGeom>
          <a:solidFill>
            <a:schemeClr val="accent1"/>
          </a:solidFill>
          <a:ln/>
        </p:spPr>
      </p:sp>
      <p:pic>
        <p:nvPicPr>
          <p:cNvPr id="11" name="icon-FaMap" descr="preencoded.png">    </p:cNvPr>
          <p:cNvPicPr>
            <a:picLocks noChangeAspect="1"/>
          </p:cNvPicPr>
          <p:nvPr/>
        </p:nvPicPr>
        <p:blipFill>
          <a:blip r:embed="rId3"/>
          <a:stretch>
            <a:fillRect/>
          </a:stretch>
        </p:blipFill>
        <p:spPr>
          <a:xfrm>
            <a:off x="5594299" y="1570939"/>
            <a:ext cx="332842" cy="332842"/>
          </a:xfrm>
          <a:prstGeom prst="rect">
            <a:avLst/>
          </a:prstGeom>
        </p:spPr>
      </p:pic>
      <p:sp>
        <p:nvSpPr>
          <p:cNvPr id="12" name="Text 7"/>
          <p:cNvSpPr txBox="1"/>
          <p:nvPr/>
        </p:nvSpPr>
        <p:spPr>
          <a:xfrm>
            <a:off x="6309360" y="1371600"/>
            <a:ext cx="5303520" cy="365760"/>
          </a:xfrm>
          <a:prstGeom prst="rect">
            <a:avLst/>
          </a:prstGeom>
          <a:noFill/>
          <a:ln/>
        </p:spPr>
        <p:txBody>
          <a:bodyPr wrap="square" lIns="0" tIns="0" rIns="0" bIns="0" rtlCol="0" anchor="t"/>
          <a:lstStyle/>
          <a:p>
            <a:pPr indent="0" marL="0">
              <a:buNone/>
            </a:pPr>
            <a:r>
              <a:rPr lang="en-US" sz="1700" b="1" dirty="0">
                <a:solidFill>
                  <a:schemeClr val="tx2"/>
                </a:solidFill>
              </a:rPr>
              <a:t>A feature map for the panel</a:t>
            </a:r>
            <a:endParaRPr lang="en-US" sz="1700" dirty="0"/>
          </a:p>
        </p:txBody>
      </p:sp>
      <p:sp>
        <p:nvSpPr>
          <p:cNvPr id="13" name="Text 8"/>
          <p:cNvSpPr txBox="1"/>
          <p:nvPr/>
        </p:nvSpPr>
        <p:spPr>
          <a:xfrm>
            <a:off x="6309360" y="1737360"/>
            <a:ext cx="5303520" cy="548640"/>
          </a:xfrm>
          <a:prstGeom prst="rect">
            <a:avLst/>
          </a:prstGeom>
          <a:noFill/>
          <a:ln/>
        </p:spPr>
        <p:txBody>
          <a:bodyPr wrap="square" lIns="0" tIns="0" rIns="0" bIns="0" rtlCol="0" anchor="t"/>
          <a:lstStyle/>
          <a:p>
            <a:pPr indent="0" marL="0">
              <a:buNone/>
            </a:pPr>
            <a:r>
              <a:rPr lang="en-US" sz="1400" dirty="0">
                <a:solidFill>
                  <a:schemeClr val="tx1"/>
                </a:solidFill>
              </a:rPr>
              <a:t>Every feature, its phase, its priority and its status, across all six reviews.</a:t>
            </a:r>
            <a:endParaRPr lang="en-US" sz="1400" dirty="0"/>
          </a:p>
        </p:txBody>
      </p:sp>
      <p:sp>
        <p:nvSpPr>
          <p:cNvPr id="14" name="icon-circle-FaMobileAlt"/>
          <p:cNvSpPr/>
          <p:nvPr/>
        </p:nvSpPr>
        <p:spPr>
          <a:xfrm>
            <a:off x="5440680" y="2423160"/>
            <a:ext cx="640080" cy="640080"/>
          </a:xfrm>
          <a:prstGeom prst="ellipse">
            <a:avLst/>
          </a:prstGeom>
          <a:solidFill>
            <a:schemeClr val="accent1"/>
          </a:solidFill>
          <a:ln/>
        </p:spPr>
      </p:sp>
      <p:pic>
        <p:nvPicPr>
          <p:cNvPr id="15" name="icon-FaMobileAlt" descr="preencoded.png">    </p:cNvPr>
          <p:cNvPicPr>
            <a:picLocks noChangeAspect="1"/>
          </p:cNvPicPr>
          <p:nvPr/>
        </p:nvPicPr>
        <p:blipFill>
          <a:blip r:embed="rId4"/>
          <a:stretch>
            <a:fillRect/>
          </a:stretch>
        </p:blipFill>
        <p:spPr>
          <a:xfrm>
            <a:off x="5594299" y="2576779"/>
            <a:ext cx="332842" cy="332842"/>
          </a:xfrm>
          <a:prstGeom prst="rect">
            <a:avLst/>
          </a:prstGeom>
        </p:spPr>
      </p:pic>
      <p:sp>
        <p:nvSpPr>
          <p:cNvPr id="16" name="Text 10"/>
          <p:cNvSpPr txBox="1"/>
          <p:nvPr/>
        </p:nvSpPr>
        <p:spPr>
          <a:xfrm>
            <a:off x="6309360" y="2377440"/>
            <a:ext cx="5303520" cy="365760"/>
          </a:xfrm>
          <a:prstGeom prst="rect">
            <a:avLst/>
          </a:prstGeom>
          <a:noFill/>
          <a:ln/>
        </p:spPr>
        <p:txBody>
          <a:bodyPr wrap="square" lIns="0" tIns="0" rIns="0" bIns="0" rtlCol="0" anchor="t"/>
          <a:lstStyle/>
          <a:p>
            <a:pPr indent="0" marL="0">
              <a:buNone/>
            </a:pPr>
            <a:r>
              <a:rPr lang="en-US" sz="1700" b="1" dirty="0">
                <a:solidFill>
                  <a:schemeClr val="tx2"/>
                </a:solidFill>
              </a:rPr>
              <a:t>Phase 2 re-scoped to be visible</a:t>
            </a:r>
            <a:endParaRPr lang="en-US" sz="1700" dirty="0"/>
          </a:p>
        </p:txBody>
      </p:sp>
      <p:sp>
        <p:nvSpPr>
          <p:cNvPr id="17" name="Text 11"/>
          <p:cNvSpPr txBox="1"/>
          <p:nvPr/>
        </p:nvSpPr>
        <p:spPr>
          <a:xfrm>
            <a:off x="6309360" y="2743200"/>
            <a:ext cx="5303520" cy="548640"/>
          </a:xfrm>
          <a:prstGeom prst="rect">
            <a:avLst/>
          </a:prstGeom>
          <a:noFill/>
          <a:ln/>
        </p:spPr>
        <p:txBody>
          <a:bodyPr wrap="square" lIns="0" tIns="0" rIns="0" bIns="0" rtlCol="0" anchor="t"/>
          <a:lstStyle/>
          <a:p>
            <a:pPr indent="0" marL="0">
              <a:buNone/>
            </a:pPr>
            <a:r>
              <a:rPr lang="en-US" sz="1400" dirty="0">
                <a:solidFill>
                  <a:schemeClr val="tx1"/>
                </a:solidFill>
              </a:rPr>
              <a:t>Every signal the phone collects is built and shown in the app, not hidden in a server.</a:t>
            </a:r>
            <a:endParaRPr lang="en-US" sz="1400" dirty="0"/>
          </a:p>
        </p:txBody>
      </p:sp>
      <p:sp>
        <p:nvSpPr>
          <p:cNvPr id="18" name="icon-circle-FaClipboardCheck"/>
          <p:cNvSpPr/>
          <p:nvPr/>
        </p:nvSpPr>
        <p:spPr>
          <a:xfrm>
            <a:off x="5440680" y="3429000"/>
            <a:ext cx="640080" cy="640080"/>
          </a:xfrm>
          <a:prstGeom prst="ellipse">
            <a:avLst/>
          </a:prstGeom>
          <a:solidFill>
            <a:schemeClr val="accent1"/>
          </a:solidFill>
          <a:ln/>
        </p:spPr>
      </p:sp>
      <p:pic>
        <p:nvPicPr>
          <p:cNvPr id="19" name="icon-FaClipboardCheck" descr="preencoded.png">    </p:cNvPr>
          <p:cNvPicPr>
            <a:picLocks noChangeAspect="1"/>
          </p:cNvPicPr>
          <p:nvPr/>
        </p:nvPicPr>
        <p:blipFill>
          <a:blip r:embed="rId5"/>
          <a:stretch>
            <a:fillRect/>
          </a:stretch>
        </p:blipFill>
        <p:spPr>
          <a:xfrm>
            <a:off x="5594299" y="3582619"/>
            <a:ext cx="332842" cy="332842"/>
          </a:xfrm>
          <a:prstGeom prst="rect">
            <a:avLst/>
          </a:prstGeom>
        </p:spPr>
      </p:pic>
      <p:sp>
        <p:nvSpPr>
          <p:cNvPr id="20" name="Text 13"/>
          <p:cNvSpPr txBox="1"/>
          <p:nvPr/>
        </p:nvSpPr>
        <p:spPr>
          <a:xfrm>
            <a:off x="6309360" y="3383280"/>
            <a:ext cx="5303520" cy="365760"/>
          </a:xfrm>
          <a:prstGeom prst="rect">
            <a:avLst/>
          </a:prstGeom>
          <a:noFill/>
          <a:ln/>
        </p:spPr>
        <p:txBody>
          <a:bodyPr wrap="square" lIns="0" tIns="0" rIns="0" bIns="0" rtlCol="0" anchor="t"/>
          <a:lstStyle/>
          <a:p>
            <a:pPr indent="0" marL="0">
              <a:buNone/>
            </a:pPr>
            <a:r>
              <a:rPr lang="en-US" sz="1700" b="1" dirty="0">
                <a:solidFill>
                  <a:schemeClr val="tx2"/>
                </a:solidFill>
              </a:rPr>
              <a:t>A step-by-step plan</a:t>
            </a:r>
            <a:endParaRPr lang="en-US" sz="1700" dirty="0"/>
          </a:p>
        </p:txBody>
      </p:sp>
      <p:sp>
        <p:nvSpPr>
          <p:cNvPr id="21" name="Text 14"/>
          <p:cNvSpPr txBox="1"/>
          <p:nvPr/>
        </p:nvSpPr>
        <p:spPr>
          <a:xfrm>
            <a:off x="6309360" y="3749040"/>
            <a:ext cx="5303520" cy="548640"/>
          </a:xfrm>
          <a:prstGeom prst="rect">
            <a:avLst/>
          </a:prstGeom>
          <a:noFill/>
          <a:ln/>
        </p:spPr>
        <p:txBody>
          <a:bodyPr wrap="square" lIns="0" tIns="0" rIns="0" bIns="0" rtlCol="0" anchor="t"/>
          <a:lstStyle/>
          <a:p>
            <a:pPr indent="0" marL="0">
              <a:buNone/>
            </a:pPr>
            <a:r>
              <a:rPr lang="en-US" sz="1400" dirty="0">
                <a:solidFill>
                  <a:schemeClr val="tx1"/>
                </a:solidFill>
              </a:rPr>
              <a:t>8 must-have and 5 nice-to-have steps, approved by the team on 8 Oct 2026.</a:t>
            </a:r>
            <a:endParaRPr lang="en-US" sz="1400" dirty="0"/>
          </a:p>
        </p:txBody>
      </p:sp>
      <p:sp>
        <p:nvSpPr>
          <p:cNvPr id="22" name="stat-1"/>
          <p:cNvSpPr/>
          <p:nvPr/>
        </p:nvSpPr>
        <p:spPr>
          <a:xfrm>
            <a:off x="548640" y="4572000"/>
            <a:ext cx="3515258" cy="1508760"/>
          </a:xfrm>
          <a:prstGeom prst="roundRect">
            <a:avLst>
              <a:gd name="adj" fmla="val 6061"/>
            </a:avLst>
          </a:prstGeom>
          <a:solidFill>
            <a:schemeClr val="bg2"/>
          </a:solidFill>
          <a:ln/>
        </p:spPr>
      </p:sp>
      <p:sp>
        <p:nvSpPr>
          <p:cNvPr id="23" name="Text 16"/>
          <p:cNvSpPr txBox="1"/>
          <p:nvPr/>
        </p:nvSpPr>
        <p:spPr>
          <a:xfrm>
            <a:off x="822960" y="4663440"/>
            <a:ext cx="2966618" cy="77724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17</a:t>
            </a:r>
            <a:endParaRPr lang="en-US" sz="4400" dirty="0"/>
          </a:p>
        </p:txBody>
      </p:sp>
      <p:sp>
        <p:nvSpPr>
          <p:cNvPr id="24" name="Text 17"/>
          <p:cNvSpPr txBox="1"/>
          <p:nvPr/>
        </p:nvSpPr>
        <p:spPr>
          <a:xfrm>
            <a:off x="822960" y="5440680"/>
            <a:ext cx="2966618" cy="502920"/>
          </a:xfrm>
          <a:prstGeom prst="rect">
            <a:avLst/>
          </a:prstGeom>
          <a:noFill/>
          <a:ln/>
        </p:spPr>
        <p:txBody>
          <a:bodyPr wrap="square" lIns="0" tIns="0" rIns="0" bIns="0" rtlCol="0" anchor="t"/>
          <a:lstStyle/>
          <a:p>
            <a:pPr indent="0" marL="0">
              <a:buNone/>
            </a:pPr>
            <a:r>
              <a:rPr lang="en-US" sz="1400" dirty="0">
                <a:solidFill>
                  <a:schemeClr val="tx2"/>
                </a:solidFill>
              </a:rPr>
              <a:t>features built in Phase 1 (Review II)</a:t>
            </a:r>
            <a:endParaRPr lang="en-US" sz="1400" dirty="0"/>
          </a:p>
        </p:txBody>
      </p:sp>
      <p:sp>
        <p:nvSpPr>
          <p:cNvPr id="25" name="stat-2"/>
          <p:cNvSpPr/>
          <p:nvPr/>
        </p:nvSpPr>
        <p:spPr>
          <a:xfrm>
            <a:off x="4338218" y="4572000"/>
            <a:ext cx="3515258" cy="1508760"/>
          </a:xfrm>
          <a:prstGeom prst="roundRect">
            <a:avLst>
              <a:gd name="adj" fmla="val 6061"/>
            </a:avLst>
          </a:prstGeom>
          <a:solidFill>
            <a:schemeClr val="bg2"/>
          </a:solidFill>
          <a:ln/>
        </p:spPr>
      </p:sp>
      <p:sp>
        <p:nvSpPr>
          <p:cNvPr id="26" name="Text 19"/>
          <p:cNvSpPr txBox="1"/>
          <p:nvPr/>
        </p:nvSpPr>
        <p:spPr>
          <a:xfrm>
            <a:off x="4612538" y="4663440"/>
            <a:ext cx="2966618" cy="77724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8 / 8</a:t>
            </a:r>
            <a:endParaRPr lang="en-US" sz="4400" dirty="0"/>
          </a:p>
        </p:txBody>
      </p:sp>
      <p:sp>
        <p:nvSpPr>
          <p:cNvPr id="27" name="Text 20"/>
          <p:cNvSpPr txBox="1"/>
          <p:nvPr/>
        </p:nvSpPr>
        <p:spPr>
          <a:xfrm>
            <a:off x="4612538" y="5440680"/>
            <a:ext cx="2966618" cy="502920"/>
          </a:xfrm>
          <a:prstGeom prst="rect">
            <a:avLst/>
          </a:prstGeom>
          <a:noFill/>
          <a:ln/>
        </p:spPr>
        <p:txBody>
          <a:bodyPr wrap="square" lIns="0" tIns="0" rIns="0" bIns="0" rtlCol="0" anchor="t"/>
          <a:lstStyle/>
          <a:p>
            <a:pPr indent="0" marL="0">
              <a:buNone/>
            </a:pPr>
            <a:r>
              <a:rPr lang="en-US" sz="1400" dirty="0">
                <a:solidFill>
                  <a:schemeClr val="tx2"/>
                </a:solidFill>
              </a:rPr>
              <a:t>Phase 2 must-haves built and on the demo phone</a:t>
            </a:r>
            <a:endParaRPr lang="en-US" sz="1400" dirty="0"/>
          </a:p>
        </p:txBody>
      </p:sp>
      <p:sp>
        <p:nvSpPr>
          <p:cNvPr id="28" name="stat-3"/>
          <p:cNvSpPr/>
          <p:nvPr/>
        </p:nvSpPr>
        <p:spPr>
          <a:xfrm>
            <a:off x="8127797" y="4572000"/>
            <a:ext cx="3515258" cy="1508760"/>
          </a:xfrm>
          <a:prstGeom prst="roundRect">
            <a:avLst>
              <a:gd name="adj" fmla="val 6061"/>
            </a:avLst>
          </a:prstGeom>
          <a:solidFill>
            <a:schemeClr val="bg2"/>
          </a:solidFill>
          <a:ln/>
        </p:spPr>
      </p:sp>
      <p:sp>
        <p:nvSpPr>
          <p:cNvPr id="29" name="Text 22"/>
          <p:cNvSpPr txBox="1"/>
          <p:nvPr/>
        </p:nvSpPr>
        <p:spPr>
          <a:xfrm>
            <a:off x="8402117" y="4663440"/>
            <a:ext cx="2966618" cy="77724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29</a:t>
            </a:r>
            <a:endParaRPr lang="en-US" sz="4400" dirty="0"/>
          </a:p>
        </p:txBody>
      </p:sp>
      <p:sp>
        <p:nvSpPr>
          <p:cNvPr id="30" name="Text 23"/>
          <p:cNvSpPr txBox="1"/>
          <p:nvPr/>
        </p:nvSpPr>
        <p:spPr>
          <a:xfrm>
            <a:off x="8402117" y="5440680"/>
            <a:ext cx="2966618" cy="502920"/>
          </a:xfrm>
          <a:prstGeom prst="rect">
            <a:avLst/>
          </a:prstGeom>
          <a:noFill/>
          <a:ln/>
        </p:spPr>
        <p:txBody>
          <a:bodyPr wrap="square" lIns="0" tIns="0" rIns="0" bIns="0" rtlCol="0" anchor="t"/>
          <a:lstStyle/>
          <a:p>
            <a:pPr indent="0" marL="0">
              <a:buNone/>
            </a:pPr>
            <a:r>
              <a:rPr lang="en-US" sz="1400" dirty="0">
                <a:solidFill>
                  <a:schemeClr val="tx2"/>
                </a:solidFill>
              </a:rPr>
              <a:t>features planned for Reviews IV to VI</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Progress across the reviews</a:t>
            </a:r>
            <a:endParaRPr lang="en-US" sz="3600" dirty="0"/>
          </a:p>
        </p:txBody>
      </p:sp>
      <p:sp>
        <p:nvSpPr>
          <p:cNvPr id="3" name="timeline-line"/>
          <p:cNvSpPr/>
          <p:nvPr/>
        </p:nvSpPr>
        <p:spPr>
          <a:xfrm>
            <a:off x="1341098" y="3063240"/>
            <a:ext cx="9509499" cy="0"/>
          </a:xfrm>
          <a:prstGeom prst="line">
            <a:avLst/>
          </a:prstGeom>
          <a:noFill/>
          <a:ln w="25400">
            <a:solidFill>
              <a:schemeClr val="accent4"/>
            </a:solidFill>
            <a:prstDash val="solid"/>
          </a:ln>
        </p:spPr>
      </p:sp>
      <p:sp>
        <p:nvSpPr>
          <p:cNvPr id="4" name="Text 2"/>
          <p:cNvSpPr txBox="1"/>
          <p:nvPr/>
        </p:nvSpPr>
        <p:spPr>
          <a:xfrm>
            <a:off x="594360" y="1600200"/>
            <a:ext cx="1493476" cy="365760"/>
          </a:xfrm>
          <a:prstGeom prst="rect">
            <a:avLst/>
          </a:prstGeom>
          <a:noFill/>
          <a:ln/>
        </p:spPr>
        <p:txBody>
          <a:bodyPr wrap="square" lIns="0" tIns="0" rIns="0" bIns="0" rtlCol="0" anchor="t"/>
          <a:lstStyle/>
          <a:p>
            <a:pPr algn="ctr" indent="0" marL="0">
              <a:buNone/>
            </a:pPr>
            <a:r>
              <a:rPr lang="en-US" sz="1600" b="1" dirty="0">
                <a:solidFill>
                  <a:schemeClr val="tx2"/>
                </a:solidFill>
              </a:rPr>
              <a:t>Review I</a:t>
            </a:r>
            <a:endParaRPr lang="en-US" sz="1600" dirty="0"/>
          </a:p>
        </p:txBody>
      </p:sp>
      <p:sp>
        <p:nvSpPr>
          <p:cNvPr id="5" name="Text 3"/>
          <p:cNvSpPr txBox="1"/>
          <p:nvPr/>
        </p:nvSpPr>
        <p:spPr>
          <a:xfrm>
            <a:off x="594360" y="1965960"/>
            <a:ext cx="1493476" cy="320040"/>
          </a:xfrm>
          <a:prstGeom prst="rect">
            <a:avLst/>
          </a:prstGeom>
          <a:noFill/>
          <a:ln/>
        </p:spPr>
        <p:txBody>
          <a:bodyPr wrap="square" lIns="0" tIns="0" rIns="0" bIns="0" rtlCol="0" anchor="t"/>
          <a:lstStyle/>
          <a:p>
            <a:pPr algn="ctr" indent="0" marL="0">
              <a:buNone/>
            </a:pPr>
            <a:r>
              <a:rPr lang="en-US" sz="1200" dirty="0">
                <a:solidFill>
                  <a:schemeClr val="accent4"/>
                </a:solidFill>
              </a:rPr>
              <a:t>17–21 Aug 2026</a:t>
            </a:r>
            <a:endParaRPr lang="en-US" sz="1200" dirty="0"/>
          </a:p>
        </p:txBody>
      </p:sp>
      <p:sp>
        <p:nvSpPr>
          <p:cNvPr id="6" name="icon-circle-FaCheckCircle"/>
          <p:cNvSpPr/>
          <p:nvPr/>
        </p:nvSpPr>
        <p:spPr>
          <a:xfrm>
            <a:off x="998198" y="2720340"/>
            <a:ext cx="685800" cy="685800"/>
          </a:xfrm>
          <a:prstGeom prst="ellipse">
            <a:avLst/>
          </a:prstGeom>
          <a:solidFill>
            <a:schemeClr val="accent3"/>
          </a:solidFill>
          <a:ln/>
        </p:spPr>
      </p:sp>
      <p:pic>
        <p:nvPicPr>
          <p:cNvPr id="7" name="icon-FaCheckCircle" descr="preencoded.png">    </p:cNvPr>
          <p:cNvPicPr>
            <a:picLocks noChangeAspect="1"/>
          </p:cNvPicPr>
          <p:nvPr/>
        </p:nvPicPr>
        <p:blipFill>
          <a:blip r:embed="rId1"/>
          <a:stretch>
            <a:fillRect/>
          </a:stretch>
        </p:blipFill>
        <p:spPr>
          <a:xfrm>
            <a:off x="1162790" y="2884932"/>
            <a:ext cx="356616" cy="356616"/>
          </a:xfrm>
          <a:prstGeom prst="rect">
            <a:avLst/>
          </a:prstGeom>
        </p:spPr>
      </p:pic>
      <p:sp>
        <p:nvSpPr>
          <p:cNvPr id="8" name="Text 5"/>
          <p:cNvSpPr txBox="1"/>
          <p:nvPr/>
        </p:nvSpPr>
        <p:spPr>
          <a:xfrm>
            <a:off x="594360" y="3566160"/>
            <a:ext cx="1493476" cy="320040"/>
          </a:xfrm>
          <a:prstGeom prst="rect">
            <a:avLst/>
          </a:prstGeom>
          <a:noFill/>
          <a:ln/>
        </p:spPr>
        <p:txBody>
          <a:bodyPr wrap="square" lIns="0" tIns="0" rIns="0" bIns="0" rtlCol="0" anchor="t"/>
          <a:lstStyle/>
          <a:p>
            <a:pPr algn="ctr" indent="0" marL="0">
              <a:buNone/>
            </a:pPr>
            <a:r>
              <a:rPr lang="en-US" sz="1300" b="1" dirty="0">
                <a:solidFill>
                  <a:schemeClr val="accent3"/>
                </a:solidFill>
              </a:rPr>
              <a:t>Done</a:t>
            </a:r>
            <a:endParaRPr lang="en-US" sz="1300" dirty="0"/>
          </a:p>
        </p:txBody>
      </p:sp>
      <p:sp>
        <p:nvSpPr>
          <p:cNvPr id="9" name="Text 6"/>
          <p:cNvSpPr txBox="1"/>
          <p:nvPr/>
        </p:nvSpPr>
        <p:spPr>
          <a:xfrm>
            <a:off x="640080" y="3886200"/>
            <a:ext cx="1402036" cy="685800"/>
          </a:xfrm>
          <a:prstGeom prst="rect">
            <a:avLst/>
          </a:prstGeom>
          <a:noFill/>
          <a:ln/>
        </p:spPr>
        <p:txBody>
          <a:bodyPr wrap="square" lIns="0" tIns="0" rIns="0" bIns="0" rtlCol="0" anchor="t"/>
          <a:lstStyle/>
          <a:p>
            <a:pPr algn="ctr" indent="0" marL="0">
              <a:buNone/>
            </a:pPr>
            <a:r>
              <a:rPr lang="en-US" sz="1300" dirty="0">
                <a:solidFill>
                  <a:schemeClr val="tx1"/>
                </a:solidFill>
              </a:rPr>
              <a:t>Problem, objectives, survey</a:t>
            </a:r>
            <a:endParaRPr lang="en-US" sz="1300" dirty="0"/>
          </a:p>
        </p:txBody>
      </p:sp>
      <p:sp>
        <p:nvSpPr>
          <p:cNvPr id="10" name="Text 7"/>
          <p:cNvSpPr txBox="1"/>
          <p:nvPr/>
        </p:nvSpPr>
        <p:spPr>
          <a:xfrm>
            <a:off x="594360" y="4572000"/>
            <a:ext cx="1493476" cy="274320"/>
          </a:xfrm>
          <a:prstGeom prst="rect">
            <a:avLst/>
          </a:prstGeom>
          <a:noFill/>
          <a:ln/>
        </p:spPr>
        <p:txBody>
          <a:bodyPr wrap="square" lIns="0" tIns="0" rIns="0" bIns="0" rtlCol="0" anchor="t"/>
          <a:lstStyle/>
          <a:p>
            <a:pPr algn="ctr" indent="0" marL="0">
              <a:buNone/>
            </a:pPr>
            <a:r>
              <a:rPr lang="en-US" sz="1200" dirty="0">
                <a:solidFill>
                  <a:schemeClr val="accent4"/>
                </a:solidFill>
              </a:rPr>
              <a:t>5 marks</a:t>
            </a:r>
            <a:endParaRPr lang="en-US" sz="1200" dirty="0"/>
          </a:p>
        </p:txBody>
      </p:sp>
      <p:sp>
        <p:nvSpPr>
          <p:cNvPr id="11" name="Text 8"/>
          <p:cNvSpPr txBox="1"/>
          <p:nvPr/>
        </p:nvSpPr>
        <p:spPr>
          <a:xfrm>
            <a:off x="2179276" y="1600200"/>
            <a:ext cx="1493476" cy="365760"/>
          </a:xfrm>
          <a:prstGeom prst="rect">
            <a:avLst/>
          </a:prstGeom>
          <a:noFill/>
          <a:ln/>
        </p:spPr>
        <p:txBody>
          <a:bodyPr wrap="square" lIns="0" tIns="0" rIns="0" bIns="0" rtlCol="0" anchor="t"/>
          <a:lstStyle/>
          <a:p>
            <a:pPr algn="ctr" indent="0" marL="0">
              <a:buNone/>
            </a:pPr>
            <a:r>
              <a:rPr lang="en-US" sz="1600" b="1" dirty="0">
                <a:solidFill>
                  <a:schemeClr val="tx2"/>
                </a:solidFill>
              </a:rPr>
              <a:t>Review II</a:t>
            </a:r>
            <a:endParaRPr lang="en-US" sz="1600" dirty="0"/>
          </a:p>
        </p:txBody>
      </p:sp>
      <p:sp>
        <p:nvSpPr>
          <p:cNvPr id="12" name="Text 9"/>
          <p:cNvSpPr txBox="1"/>
          <p:nvPr/>
        </p:nvSpPr>
        <p:spPr>
          <a:xfrm>
            <a:off x="2179276" y="1965960"/>
            <a:ext cx="1493476" cy="320040"/>
          </a:xfrm>
          <a:prstGeom prst="rect">
            <a:avLst/>
          </a:prstGeom>
          <a:noFill/>
          <a:ln/>
        </p:spPr>
        <p:txBody>
          <a:bodyPr wrap="square" lIns="0" tIns="0" rIns="0" bIns="0" rtlCol="0" anchor="t"/>
          <a:lstStyle/>
          <a:p>
            <a:pPr algn="ctr" indent="0" marL="0">
              <a:buNone/>
            </a:pPr>
            <a:r>
              <a:rPr lang="en-US" sz="1200" dirty="0">
                <a:solidFill>
                  <a:schemeClr val="accent4"/>
                </a:solidFill>
              </a:rPr>
              <a:t>21–25 Sep 2026</a:t>
            </a:r>
            <a:endParaRPr lang="en-US" sz="1200" dirty="0"/>
          </a:p>
        </p:txBody>
      </p:sp>
      <p:sp>
        <p:nvSpPr>
          <p:cNvPr id="13" name="icon-circle-FaCheckCircle"/>
          <p:cNvSpPr/>
          <p:nvPr/>
        </p:nvSpPr>
        <p:spPr>
          <a:xfrm>
            <a:off x="2583115" y="2720340"/>
            <a:ext cx="685800" cy="685800"/>
          </a:xfrm>
          <a:prstGeom prst="ellipse">
            <a:avLst/>
          </a:prstGeom>
          <a:solidFill>
            <a:schemeClr val="accent3"/>
          </a:solidFill>
          <a:ln/>
        </p:spPr>
      </p:sp>
      <p:pic>
        <p:nvPicPr>
          <p:cNvPr id="14" name="icon-FaCheckCircle" descr="preencoded.png">    </p:cNvPr>
          <p:cNvPicPr>
            <a:picLocks noChangeAspect="1"/>
          </p:cNvPicPr>
          <p:nvPr/>
        </p:nvPicPr>
        <p:blipFill>
          <a:blip r:embed="rId2"/>
          <a:stretch>
            <a:fillRect/>
          </a:stretch>
        </p:blipFill>
        <p:spPr>
          <a:xfrm>
            <a:off x="2747707" y="2884932"/>
            <a:ext cx="356616" cy="356616"/>
          </a:xfrm>
          <a:prstGeom prst="rect">
            <a:avLst/>
          </a:prstGeom>
        </p:spPr>
      </p:pic>
      <p:sp>
        <p:nvSpPr>
          <p:cNvPr id="15" name="Text 11"/>
          <p:cNvSpPr txBox="1"/>
          <p:nvPr/>
        </p:nvSpPr>
        <p:spPr>
          <a:xfrm>
            <a:off x="2179276" y="3566160"/>
            <a:ext cx="1493476" cy="320040"/>
          </a:xfrm>
          <a:prstGeom prst="rect">
            <a:avLst/>
          </a:prstGeom>
          <a:noFill/>
          <a:ln/>
        </p:spPr>
        <p:txBody>
          <a:bodyPr wrap="square" lIns="0" tIns="0" rIns="0" bIns="0" rtlCol="0" anchor="t"/>
          <a:lstStyle/>
          <a:p>
            <a:pPr algn="ctr" indent="0" marL="0">
              <a:buNone/>
            </a:pPr>
            <a:r>
              <a:rPr lang="en-US" sz="1300" b="1" dirty="0">
                <a:solidFill>
                  <a:schemeClr val="accent3"/>
                </a:solidFill>
              </a:rPr>
              <a:t>Done</a:t>
            </a:r>
            <a:endParaRPr lang="en-US" sz="1300" dirty="0"/>
          </a:p>
        </p:txBody>
      </p:sp>
      <p:sp>
        <p:nvSpPr>
          <p:cNvPr id="16" name="Text 12"/>
          <p:cNvSpPr txBox="1"/>
          <p:nvPr/>
        </p:nvSpPr>
        <p:spPr>
          <a:xfrm>
            <a:off x="2224996" y="3886200"/>
            <a:ext cx="1402036" cy="685800"/>
          </a:xfrm>
          <a:prstGeom prst="rect">
            <a:avLst/>
          </a:prstGeom>
          <a:noFill/>
          <a:ln/>
        </p:spPr>
        <p:txBody>
          <a:bodyPr wrap="square" lIns="0" tIns="0" rIns="0" bIns="0" rtlCol="0" anchor="t"/>
          <a:lstStyle/>
          <a:p>
            <a:pPr algn="ctr" indent="0" marL="0">
              <a:buNone/>
            </a:pPr>
            <a:r>
              <a:rPr lang="en-US" sz="1300" dirty="0">
                <a:solidFill>
                  <a:schemeClr val="tx1"/>
                </a:solidFill>
              </a:rPr>
              <a:t>Design + first prototype</a:t>
            </a:r>
            <a:endParaRPr lang="en-US" sz="1300" dirty="0"/>
          </a:p>
        </p:txBody>
      </p:sp>
      <p:sp>
        <p:nvSpPr>
          <p:cNvPr id="17" name="Text 13"/>
          <p:cNvSpPr txBox="1"/>
          <p:nvPr/>
        </p:nvSpPr>
        <p:spPr>
          <a:xfrm>
            <a:off x="2179276" y="4572000"/>
            <a:ext cx="1493476" cy="274320"/>
          </a:xfrm>
          <a:prstGeom prst="rect">
            <a:avLst/>
          </a:prstGeom>
          <a:noFill/>
          <a:ln/>
        </p:spPr>
        <p:txBody>
          <a:bodyPr wrap="square" lIns="0" tIns="0" rIns="0" bIns="0" rtlCol="0" anchor="t"/>
          <a:lstStyle/>
          <a:p>
            <a:pPr algn="ctr" indent="0" marL="0">
              <a:buNone/>
            </a:pPr>
            <a:r>
              <a:rPr lang="en-US" sz="1200" dirty="0">
                <a:solidFill>
                  <a:schemeClr val="accent4"/>
                </a:solidFill>
              </a:rPr>
              <a:t>20 marks</a:t>
            </a:r>
            <a:endParaRPr lang="en-US" sz="1200" dirty="0"/>
          </a:p>
        </p:txBody>
      </p:sp>
      <p:sp>
        <p:nvSpPr>
          <p:cNvPr id="18" name="Text 14"/>
          <p:cNvSpPr txBox="1"/>
          <p:nvPr/>
        </p:nvSpPr>
        <p:spPr>
          <a:xfrm>
            <a:off x="3764193" y="1600200"/>
            <a:ext cx="1493476" cy="365760"/>
          </a:xfrm>
          <a:prstGeom prst="rect">
            <a:avLst/>
          </a:prstGeom>
          <a:noFill/>
          <a:ln/>
        </p:spPr>
        <p:txBody>
          <a:bodyPr wrap="square" lIns="0" tIns="0" rIns="0" bIns="0" rtlCol="0" anchor="t"/>
          <a:lstStyle/>
          <a:p>
            <a:pPr algn="ctr" indent="0" marL="0">
              <a:buNone/>
            </a:pPr>
            <a:r>
              <a:rPr lang="en-US" sz="1600" b="1" dirty="0">
                <a:solidFill>
                  <a:schemeClr val="tx2"/>
                </a:solidFill>
              </a:rPr>
              <a:t>Review III</a:t>
            </a:r>
            <a:endParaRPr lang="en-US" sz="1600" dirty="0"/>
          </a:p>
        </p:txBody>
      </p:sp>
      <p:sp>
        <p:nvSpPr>
          <p:cNvPr id="19" name="Text 15"/>
          <p:cNvSpPr txBox="1"/>
          <p:nvPr/>
        </p:nvSpPr>
        <p:spPr>
          <a:xfrm>
            <a:off x="3764193" y="1965960"/>
            <a:ext cx="1493476" cy="320040"/>
          </a:xfrm>
          <a:prstGeom prst="rect">
            <a:avLst/>
          </a:prstGeom>
          <a:noFill/>
          <a:ln/>
        </p:spPr>
        <p:txBody>
          <a:bodyPr wrap="square" lIns="0" tIns="0" rIns="0" bIns="0" rtlCol="0" anchor="t"/>
          <a:lstStyle/>
          <a:p>
            <a:pPr algn="ctr" indent="0" marL="0">
              <a:buNone/>
            </a:pPr>
            <a:r>
              <a:rPr lang="en-US" sz="1200" dirty="0">
                <a:solidFill>
                  <a:schemeClr val="accent4"/>
                </a:solidFill>
              </a:rPr>
              <a:t>12–16 Oct 2026</a:t>
            </a:r>
            <a:endParaRPr lang="en-US" sz="1200" dirty="0"/>
          </a:p>
        </p:txBody>
      </p:sp>
      <p:sp>
        <p:nvSpPr>
          <p:cNvPr id="20" name="icon-circle-FaFlagCheckered"/>
          <p:cNvSpPr/>
          <p:nvPr/>
        </p:nvSpPr>
        <p:spPr>
          <a:xfrm>
            <a:off x="4168031" y="2720340"/>
            <a:ext cx="685800" cy="685800"/>
          </a:xfrm>
          <a:prstGeom prst="ellipse">
            <a:avLst/>
          </a:prstGeom>
          <a:solidFill>
            <a:schemeClr val="accent2"/>
          </a:solidFill>
          <a:ln/>
        </p:spPr>
      </p:sp>
      <p:pic>
        <p:nvPicPr>
          <p:cNvPr id="21" name="icon-FaFlagCheckered" descr="preencoded.png">    </p:cNvPr>
          <p:cNvPicPr>
            <a:picLocks noChangeAspect="1"/>
          </p:cNvPicPr>
          <p:nvPr/>
        </p:nvPicPr>
        <p:blipFill>
          <a:blip r:embed="rId3"/>
          <a:stretch>
            <a:fillRect/>
          </a:stretch>
        </p:blipFill>
        <p:spPr>
          <a:xfrm>
            <a:off x="4332623" y="2884932"/>
            <a:ext cx="356616" cy="356616"/>
          </a:xfrm>
          <a:prstGeom prst="rect">
            <a:avLst/>
          </a:prstGeom>
        </p:spPr>
      </p:pic>
      <p:sp>
        <p:nvSpPr>
          <p:cNvPr id="22" name="Text 17"/>
          <p:cNvSpPr txBox="1"/>
          <p:nvPr/>
        </p:nvSpPr>
        <p:spPr>
          <a:xfrm>
            <a:off x="3764193" y="3566160"/>
            <a:ext cx="1493476" cy="320040"/>
          </a:xfrm>
          <a:prstGeom prst="rect">
            <a:avLst/>
          </a:prstGeom>
          <a:noFill/>
          <a:ln/>
        </p:spPr>
        <p:txBody>
          <a:bodyPr wrap="square" lIns="0" tIns="0" rIns="0" bIns="0" rtlCol="0" anchor="t"/>
          <a:lstStyle/>
          <a:p>
            <a:pPr algn="ctr" indent="0" marL="0">
              <a:buNone/>
            </a:pPr>
            <a:r>
              <a:rPr lang="en-US" sz="1300" b="1" dirty="0">
                <a:solidFill>
                  <a:schemeClr val="accent2"/>
                </a:solidFill>
              </a:rPr>
              <a:t>Now: built</a:t>
            </a:r>
            <a:endParaRPr lang="en-US" sz="1300" dirty="0"/>
          </a:p>
        </p:txBody>
      </p:sp>
      <p:sp>
        <p:nvSpPr>
          <p:cNvPr id="23" name="Text 18"/>
          <p:cNvSpPr txBox="1"/>
          <p:nvPr/>
        </p:nvSpPr>
        <p:spPr>
          <a:xfrm>
            <a:off x="3809913" y="3886200"/>
            <a:ext cx="1402036" cy="685800"/>
          </a:xfrm>
          <a:prstGeom prst="rect">
            <a:avLst/>
          </a:prstGeom>
          <a:noFill/>
          <a:ln/>
        </p:spPr>
        <p:txBody>
          <a:bodyPr wrap="square" lIns="0" tIns="0" rIns="0" bIns="0" rtlCol="0" anchor="t"/>
          <a:lstStyle/>
          <a:p>
            <a:pPr algn="ctr" indent="0" marL="0">
              <a:buNone/>
            </a:pPr>
            <a:r>
              <a:rPr lang="en-US" sz="1300" dirty="0">
                <a:solidFill>
                  <a:schemeClr val="tx1"/>
                </a:solidFill>
              </a:rPr>
              <a:t>Phase 2: collect + show</a:t>
            </a:r>
            <a:endParaRPr lang="en-US" sz="1300" dirty="0"/>
          </a:p>
        </p:txBody>
      </p:sp>
      <p:sp>
        <p:nvSpPr>
          <p:cNvPr id="24" name="Text 19"/>
          <p:cNvSpPr txBox="1"/>
          <p:nvPr/>
        </p:nvSpPr>
        <p:spPr>
          <a:xfrm>
            <a:off x="3764193" y="4572000"/>
            <a:ext cx="1493476" cy="274320"/>
          </a:xfrm>
          <a:prstGeom prst="rect">
            <a:avLst/>
          </a:prstGeom>
          <a:noFill/>
          <a:ln/>
        </p:spPr>
        <p:txBody>
          <a:bodyPr wrap="square" lIns="0" tIns="0" rIns="0" bIns="0" rtlCol="0" anchor="t"/>
          <a:lstStyle/>
          <a:p>
            <a:pPr algn="ctr" indent="0" marL="0">
              <a:buNone/>
            </a:pPr>
            <a:r>
              <a:rPr lang="en-US" sz="1200" dirty="0">
                <a:solidFill>
                  <a:schemeClr val="accent4"/>
                </a:solidFill>
              </a:rPr>
              <a:t>10 marks</a:t>
            </a:r>
            <a:endParaRPr lang="en-US" sz="1200" dirty="0"/>
          </a:p>
        </p:txBody>
      </p:sp>
      <p:sp>
        <p:nvSpPr>
          <p:cNvPr id="25" name="Text 20"/>
          <p:cNvSpPr txBox="1"/>
          <p:nvPr/>
        </p:nvSpPr>
        <p:spPr>
          <a:xfrm>
            <a:off x="5349109" y="1600200"/>
            <a:ext cx="1493476" cy="365760"/>
          </a:xfrm>
          <a:prstGeom prst="rect">
            <a:avLst/>
          </a:prstGeom>
          <a:noFill/>
          <a:ln/>
        </p:spPr>
        <p:txBody>
          <a:bodyPr wrap="square" lIns="0" tIns="0" rIns="0" bIns="0" rtlCol="0" anchor="t"/>
          <a:lstStyle/>
          <a:p>
            <a:pPr algn="ctr" indent="0" marL="0">
              <a:buNone/>
            </a:pPr>
            <a:r>
              <a:rPr lang="en-US" sz="1600" b="1" dirty="0">
                <a:solidFill>
                  <a:schemeClr val="tx2"/>
                </a:solidFill>
              </a:rPr>
              <a:t>Review IV</a:t>
            </a:r>
            <a:endParaRPr lang="en-US" sz="1600" dirty="0"/>
          </a:p>
        </p:txBody>
      </p:sp>
      <p:sp>
        <p:nvSpPr>
          <p:cNvPr id="26" name="Text 21"/>
          <p:cNvSpPr txBox="1"/>
          <p:nvPr/>
        </p:nvSpPr>
        <p:spPr>
          <a:xfrm>
            <a:off x="5349109" y="1965960"/>
            <a:ext cx="1493476" cy="320040"/>
          </a:xfrm>
          <a:prstGeom prst="rect">
            <a:avLst/>
          </a:prstGeom>
          <a:noFill/>
          <a:ln/>
        </p:spPr>
        <p:txBody>
          <a:bodyPr wrap="square" lIns="0" tIns="0" rIns="0" bIns="0" rtlCol="0" anchor="t"/>
          <a:lstStyle/>
          <a:p>
            <a:pPr algn="ctr" indent="0" marL="0">
              <a:buNone/>
            </a:pPr>
            <a:r>
              <a:rPr lang="en-US" sz="1200" dirty="0">
                <a:solidFill>
                  <a:schemeClr val="accent4"/>
                </a:solidFill>
              </a:rPr>
              <a:t>25–29 Jan 2027</a:t>
            </a:r>
            <a:endParaRPr lang="en-US" sz="1200" dirty="0"/>
          </a:p>
        </p:txBody>
      </p:sp>
      <p:sp>
        <p:nvSpPr>
          <p:cNvPr id="27" name="icon-circle-FaClock"/>
          <p:cNvSpPr/>
          <p:nvPr/>
        </p:nvSpPr>
        <p:spPr>
          <a:xfrm>
            <a:off x="5752948" y="2720340"/>
            <a:ext cx="685800" cy="685800"/>
          </a:xfrm>
          <a:prstGeom prst="ellipse">
            <a:avLst/>
          </a:prstGeom>
          <a:solidFill>
            <a:schemeClr val="accent4"/>
          </a:solidFill>
          <a:ln/>
        </p:spPr>
      </p:sp>
      <p:pic>
        <p:nvPicPr>
          <p:cNvPr id="28" name="icon-FaClock" descr="preencoded.png">    </p:cNvPr>
          <p:cNvPicPr>
            <a:picLocks noChangeAspect="1"/>
          </p:cNvPicPr>
          <p:nvPr/>
        </p:nvPicPr>
        <p:blipFill>
          <a:blip r:embed="rId4"/>
          <a:stretch>
            <a:fillRect/>
          </a:stretch>
        </p:blipFill>
        <p:spPr>
          <a:xfrm>
            <a:off x="5917540" y="2884932"/>
            <a:ext cx="356616" cy="356616"/>
          </a:xfrm>
          <a:prstGeom prst="rect">
            <a:avLst/>
          </a:prstGeom>
        </p:spPr>
      </p:pic>
      <p:sp>
        <p:nvSpPr>
          <p:cNvPr id="29" name="Text 23"/>
          <p:cNvSpPr txBox="1"/>
          <p:nvPr/>
        </p:nvSpPr>
        <p:spPr>
          <a:xfrm>
            <a:off x="5349109" y="3566160"/>
            <a:ext cx="1493476" cy="320040"/>
          </a:xfrm>
          <a:prstGeom prst="rect">
            <a:avLst/>
          </a:prstGeom>
          <a:noFill/>
          <a:ln/>
        </p:spPr>
        <p:txBody>
          <a:bodyPr wrap="square" lIns="0" tIns="0" rIns="0" bIns="0" rtlCol="0" anchor="t"/>
          <a:lstStyle/>
          <a:p>
            <a:pPr algn="ctr" indent="0" marL="0">
              <a:buNone/>
            </a:pPr>
            <a:r>
              <a:rPr lang="en-US" sz="1300" b="1" dirty="0">
                <a:solidFill>
                  <a:schemeClr val="accent4"/>
                </a:solidFill>
              </a:rPr>
              <a:t>Planned</a:t>
            </a:r>
            <a:endParaRPr lang="en-US" sz="1300" dirty="0"/>
          </a:p>
        </p:txBody>
      </p:sp>
      <p:sp>
        <p:nvSpPr>
          <p:cNvPr id="30" name="Text 24"/>
          <p:cNvSpPr txBox="1"/>
          <p:nvPr/>
        </p:nvSpPr>
        <p:spPr>
          <a:xfrm>
            <a:off x="5394829" y="3886200"/>
            <a:ext cx="1402036" cy="685800"/>
          </a:xfrm>
          <a:prstGeom prst="rect">
            <a:avLst/>
          </a:prstGeom>
          <a:noFill/>
          <a:ln/>
        </p:spPr>
        <p:txBody>
          <a:bodyPr wrap="square" lIns="0" tIns="0" rIns="0" bIns="0" rtlCol="0" anchor="t"/>
          <a:lstStyle/>
          <a:p>
            <a:pPr algn="ctr" indent="0" marL="0">
              <a:buNone/>
            </a:pPr>
            <a:r>
              <a:rPr lang="en-US" sz="1300" dirty="0">
                <a:solidFill>
                  <a:schemeClr val="tx1"/>
                </a:solidFill>
              </a:rPr>
              <a:t>Phase 3: core logic + first alert</a:t>
            </a:r>
            <a:endParaRPr lang="en-US" sz="1300" dirty="0"/>
          </a:p>
        </p:txBody>
      </p:sp>
      <p:sp>
        <p:nvSpPr>
          <p:cNvPr id="31" name="Text 25"/>
          <p:cNvSpPr txBox="1"/>
          <p:nvPr/>
        </p:nvSpPr>
        <p:spPr>
          <a:xfrm>
            <a:off x="5349109" y="4572000"/>
            <a:ext cx="1493476" cy="274320"/>
          </a:xfrm>
          <a:prstGeom prst="rect">
            <a:avLst/>
          </a:prstGeom>
          <a:noFill/>
          <a:ln/>
        </p:spPr>
        <p:txBody>
          <a:bodyPr wrap="square" lIns="0" tIns="0" rIns="0" bIns="0" rtlCol="0" anchor="t"/>
          <a:lstStyle/>
          <a:p>
            <a:pPr algn="ctr" indent="0" marL="0">
              <a:buNone/>
            </a:pPr>
            <a:r>
              <a:rPr lang="en-US" sz="1200" dirty="0">
                <a:solidFill>
                  <a:schemeClr val="accent4"/>
                </a:solidFill>
              </a:rPr>
              <a:t>15 marks</a:t>
            </a:r>
            <a:endParaRPr lang="en-US" sz="1200" dirty="0"/>
          </a:p>
        </p:txBody>
      </p:sp>
      <p:sp>
        <p:nvSpPr>
          <p:cNvPr id="32" name="Text 26"/>
          <p:cNvSpPr txBox="1"/>
          <p:nvPr/>
        </p:nvSpPr>
        <p:spPr>
          <a:xfrm>
            <a:off x="6934026" y="1600200"/>
            <a:ext cx="1493476" cy="365760"/>
          </a:xfrm>
          <a:prstGeom prst="rect">
            <a:avLst/>
          </a:prstGeom>
          <a:noFill/>
          <a:ln/>
        </p:spPr>
        <p:txBody>
          <a:bodyPr wrap="square" lIns="0" tIns="0" rIns="0" bIns="0" rtlCol="0" anchor="t"/>
          <a:lstStyle/>
          <a:p>
            <a:pPr algn="ctr" indent="0" marL="0">
              <a:buNone/>
            </a:pPr>
            <a:r>
              <a:rPr lang="en-US" sz="1600" b="1" dirty="0">
                <a:solidFill>
                  <a:schemeClr val="tx2"/>
                </a:solidFill>
              </a:rPr>
              <a:t>Review V</a:t>
            </a:r>
            <a:endParaRPr lang="en-US" sz="1600" dirty="0"/>
          </a:p>
        </p:txBody>
      </p:sp>
      <p:sp>
        <p:nvSpPr>
          <p:cNvPr id="33" name="Text 27"/>
          <p:cNvSpPr txBox="1"/>
          <p:nvPr/>
        </p:nvSpPr>
        <p:spPr>
          <a:xfrm>
            <a:off x="6934026" y="1965960"/>
            <a:ext cx="1493476" cy="320040"/>
          </a:xfrm>
          <a:prstGeom prst="rect">
            <a:avLst/>
          </a:prstGeom>
          <a:noFill/>
          <a:ln/>
        </p:spPr>
        <p:txBody>
          <a:bodyPr wrap="square" lIns="0" tIns="0" rIns="0" bIns="0" rtlCol="0" anchor="t"/>
          <a:lstStyle/>
          <a:p>
            <a:pPr algn="ctr" indent="0" marL="0">
              <a:buNone/>
            </a:pPr>
            <a:r>
              <a:rPr lang="en-US" sz="1200" dirty="0">
                <a:solidFill>
                  <a:schemeClr val="accent4"/>
                </a:solidFill>
              </a:rPr>
              <a:t>8–12 Mar 2027</a:t>
            </a:r>
            <a:endParaRPr lang="en-US" sz="1200" dirty="0"/>
          </a:p>
        </p:txBody>
      </p:sp>
      <p:sp>
        <p:nvSpPr>
          <p:cNvPr id="34" name="icon-circle-FaClock"/>
          <p:cNvSpPr/>
          <p:nvPr/>
        </p:nvSpPr>
        <p:spPr>
          <a:xfrm>
            <a:off x="7337864" y="2720340"/>
            <a:ext cx="685800" cy="685800"/>
          </a:xfrm>
          <a:prstGeom prst="ellipse">
            <a:avLst/>
          </a:prstGeom>
          <a:solidFill>
            <a:schemeClr val="accent4"/>
          </a:solidFill>
          <a:ln/>
        </p:spPr>
      </p:sp>
      <p:pic>
        <p:nvPicPr>
          <p:cNvPr id="35" name="icon-FaClock" descr="preencoded.png">    </p:cNvPr>
          <p:cNvPicPr>
            <a:picLocks noChangeAspect="1"/>
          </p:cNvPicPr>
          <p:nvPr/>
        </p:nvPicPr>
        <p:blipFill>
          <a:blip r:embed="rId5"/>
          <a:stretch>
            <a:fillRect/>
          </a:stretch>
        </p:blipFill>
        <p:spPr>
          <a:xfrm>
            <a:off x="7502456" y="2884932"/>
            <a:ext cx="356616" cy="356616"/>
          </a:xfrm>
          <a:prstGeom prst="rect">
            <a:avLst/>
          </a:prstGeom>
        </p:spPr>
      </p:pic>
      <p:sp>
        <p:nvSpPr>
          <p:cNvPr id="36" name="Text 29"/>
          <p:cNvSpPr txBox="1"/>
          <p:nvPr/>
        </p:nvSpPr>
        <p:spPr>
          <a:xfrm>
            <a:off x="6934026" y="3566160"/>
            <a:ext cx="1493476" cy="320040"/>
          </a:xfrm>
          <a:prstGeom prst="rect">
            <a:avLst/>
          </a:prstGeom>
          <a:noFill/>
          <a:ln/>
        </p:spPr>
        <p:txBody>
          <a:bodyPr wrap="square" lIns="0" tIns="0" rIns="0" bIns="0" rtlCol="0" anchor="t"/>
          <a:lstStyle/>
          <a:p>
            <a:pPr algn="ctr" indent="0" marL="0">
              <a:buNone/>
            </a:pPr>
            <a:r>
              <a:rPr lang="en-US" sz="1300" b="1" dirty="0">
                <a:solidFill>
                  <a:schemeClr val="accent4"/>
                </a:solidFill>
              </a:rPr>
              <a:t>Planned</a:t>
            </a:r>
            <a:endParaRPr lang="en-US" sz="1300" dirty="0"/>
          </a:p>
        </p:txBody>
      </p:sp>
      <p:sp>
        <p:nvSpPr>
          <p:cNvPr id="37" name="Text 30"/>
          <p:cNvSpPr txBox="1"/>
          <p:nvPr/>
        </p:nvSpPr>
        <p:spPr>
          <a:xfrm>
            <a:off x="6979746" y="3886200"/>
            <a:ext cx="1402036" cy="685800"/>
          </a:xfrm>
          <a:prstGeom prst="rect">
            <a:avLst/>
          </a:prstGeom>
          <a:noFill/>
          <a:ln/>
        </p:spPr>
        <p:txBody>
          <a:bodyPr wrap="square" lIns="0" tIns="0" rIns="0" bIns="0" rtlCol="0" anchor="t"/>
          <a:lstStyle/>
          <a:p>
            <a:pPr algn="ctr" indent="0" marL="0">
              <a:buNone/>
            </a:pPr>
            <a:r>
              <a:rPr lang="en-US" sz="1300" dirty="0">
                <a:solidFill>
                  <a:schemeClr val="tx1"/>
                </a:solidFill>
              </a:rPr>
              <a:t>Phase 4: caregiver side</a:t>
            </a:r>
            <a:endParaRPr lang="en-US" sz="1300" dirty="0"/>
          </a:p>
        </p:txBody>
      </p:sp>
      <p:sp>
        <p:nvSpPr>
          <p:cNvPr id="38" name="Text 31"/>
          <p:cNvSpPr txBox="1"/>
          <p:nvPr/>
        </p:nvSpPr>
        <p:spPr>
          <a:xfrm>
            <a:off x="6934026" y="4572000"/>
            <a:ext cx="1493476" cy="274320"/>
          </a:xfrm>
          <a:prstGeom prst="rect">
            <a:avLst/>
          </a:prstGeom>
          <a:noFill/>
          <a:ln/>
        </p:spPr>
        <p:txBody>
          <a:bodyPr wrap="square" lIns="0" tIns="0" rIns="0" bIns="0" rtlCol="0" anchor="t"/>
          <a:lstStyle/>
          <a:p>
            <a:pPr algn="ctr" indent="0" marL="0">
              <a:buNone/>
            </a:pPr>
            <a:r>
              <a:rPr lang="en-US" sz="1200" dirty="0">
                <a:solidFill>
                  <a:schemeClr val="accent4"/>
                </a:solidFill>
              </a:rPr>
              <a:t>25 marks</a:t>
            </a:r>
            <a:endParaRPr lang="en-US" sz="1200" dirty="0"/>
          </a:p>
        </p:txBody>
      </p:sp>
      <p:sp>
        <p:nvSpPr>
          <p:cNvPr id="39" name="Text 32"/>
          <p:cNvSpPr txBox="1"/>
          <p:nvPr/>
        </p:nvSpPr>
        <p:spPr>
          <a:xfrm>
            <a:off x="8518942" y="1600200"/>
            <a:ext cx="1493476" cy="365760"/>
          </a:xfrm>
          <a:prstGeom prst="rect">
            <a:avLst/>
          </a:prstGeom>
          <a:noFill/>
          <a:ln/>
        </p:spPr>
        <p:txBody>
          <a:bodyPr wrap="square" lIns="0" tIns="0" rIns="0" bIns="0" rtlCol="0" anchor="t"/>
          <a:lstStyle/>
          <a:p>
            <a:pPr algn="ctr" indent="0" marL="0">
              <a:buNone/>
            </a:pPr>
            <a:r>
              <a:rPr lang="en-US" sz="1600" b="1" dirty="0">
                <a:solidFill>
                  <a:schemeClr val="tx2"/>
                </a:solidFill>
              </a:rPr>
              <a:t>Review VI</a:t>
            </a:r>
            <a:endParaRPr lang="en-US" sz="1600" dirty="0"/>
          </a:p>
        </p:txBody>
      </p:sp>
      <p:sp>
        <p:nvSpPr>
          <p:cNvPr id="40" name="Text 33"/>
          <p:cNvSpPr txBox="1"/>
          <p:nvPr/>
        </p:nvSpPr>
        <p:spPr>
          <a:xfrm>
            <a:off x="8518942" y="1965960"/>
            <a:ext cx="1493476" cy="320040"/>
          </a:xfrm>
          <a:prstGeom prst="rect">
            <a:avLst/>
          </a:prstGeom>
          <a:noFill/>
          <a:ln/>
        </p:spPr>
        <p:txBody>
          <a:bodyPr wrap="square" lIns="0" tIns="0" rIns="0" bIns="0" rtlCol="0" anchor="t"/>
          <a:lstStyle/>
          <a:p>
            <a:pPr algn="ctr" indent="0" marL="0">
              <a:buNone/>
            </a:pPr>
            <a:r>
              <a:rPr lang="en-US" sz="1200" dirty="0">
                <a:solidFill>
                  <a:schemeClr val="accent4"/>
                </a:solidFill>
              </a:rPr>
              <a:t>29 Mar–2 Apr 2027</a:t>
            </a:r>
            <a:endParaRPr lang="en-US" sz="1200" dirty="0"/>
          </a:p>
        </p:txBody>
      </p:sp>
      <p:sp>
        <p:nvSpPr>
          <p:cNvPr id="41" name="icon-circle-FaClock"/>
          <p:cNvSpPr/>
          <p:nvPr/>
        </p:nvSpPr>
        <p:spPr>
          <a:xfrm>
            <a:off x="8922781" y="2720340"/>
            <a:ext cx="685800" cy="685800"/>
          </a:xfrm>
          <a:prstGeom prst="ellipse">
            <a:avLst/>
          </a:prstGeom>
          <a:solidFill>
            <a:schemeClr val="accent4"/>
          </a:solidFill>
          <a:ln/>
        </p:spPr>
      </p:sp>
      <p:pic>
        <p:nvPicPr>
          <p:cNvPr id="42" name="icon-FaClock" descr="preencoded.png">    </p:cNvPr>
          <p:cNvPicPr>
            <a:picLocks noChangeAspect="1"/>
          </p:cNvPicPr>
          <p:nvPr/>
        </p:nvPicPr>
        <p:blipFill>
          <a:blip r:embed="rId6"/>
          <a:stretch>
            <a:fillRect/>
          </a:stretch>
        </p:blipFill>
        <p:spPr>
          <a:xfrm>
            <a:off x="9087373" y="2884932"/>
            <a:ext cx="356616" cy="356616"/>
          </a:xfrm>
          <a:prstGeom prst="rect">
            <a:avLst/>
          </a:prstGeom>
        </p:spPr>
      </p:pic>
      <p:sp>
        <p:nvSpPr>
          <p:cNvPr id="43" name="Text 35"/>
          <p:cNvSpPr txBox="1"/>
          <p:nvPr/>
        </p:nvSpPr>
        <p:spPr>
          <a:xfrm>
            <a:off x="8518942" y="3566160"/>
            <a:ext cx="1493476" cy="320040"/>
          </a:xfrm>
          <a:prstGeom prst="rect">
            <a:avLst/>
          </a:prstGeom>
          <a:noFill/>
          <a:ln/>
        </p:spPr>
        <p:txBody>
          <a:bodyPr wrap="square" lIns="0" tIns="0" rIns="0" bIns="0" rtlCol="0" anchor="t"/>
          <a:lstStyle/>
          <a:p>
            <a:pPr algn="ctr" indent="0" marL="0">
              <a:buNone/>
            </a:pPr>
            <a:r>
              <a:rPr lang="en-US" sz="1300" b="1" dirty="0">
                <a:solidFill>
                  <a:schemeClr val="accent4"/>
                </a:solidFill>
              </a:rPr>
              <a:t>Planned</a:t>
            </a:r>
            <a:endParaRPr lang="en-US" sz="1300" dirty="0"/>
          </a:p>
        </p:txBody>
      </p:sp>
      <p:sp>
        <p:nvSpPr>
          <p:cNvPr id="44" name="Text 36"/>
          <p:cNvSpPr txBox="1"/>
          <p:nvPr/>
        </p:nvSpPr>
        <p:spPr>
          <a:xfrm>
            <a:off x="8564662" y="3886200"/>
            <a:ext cx="1402036" cy="685800"/>
          </a:xfrm>
          <a:prstGeom prst="rect">
            <a:avLst/>
          </a:prstGeom>
          <a:noFill/>
          <a:ln/>
        </p:spPr>
        <p:txBody>
          <a:bodyPr wrap="square" lIns="0" tIns="0" rIns="0" bIns="0" rtlCol="0" anchor="t"/>
          <a:lstStyle/>
          <a:p>
            <a:pPr algn="ctr" indent="0" marL="0">
              <a:buNone/>
            </a:pPr>
            <a:r>
              <a:rPr lang="en-US" sz="1300" dirty="0">
                <a:solidFill>
                  <a:schemeClr val="tx1"/>
                </a:solidFill>
              </a:rPr>
              <a:t>Open House, 100%</a:t>
            </a:r>
            <a:endParaRPr lang="en-US" sz="1300" dirty="0"/>
          </a:p>
        </p:txBody>
      </p:sp>
      <p:sp>
        <p:nvSpPr>
          <p:cNvPr id="45" name="Text 37"/>
          <p:cNvSpPr txBox="1"/>
          <p:nvPr/>
        </p:nvSpPr>
        <p:spPr>
          <a:xfrm>
            <a:off x="8518942" y="4572000"/>
            <a:ext cx="1493476" cy="274320"/>
          </a:xfrm>
          <a:prstGeom prst="rect">
            <a:avLst/>
          </a:prstGeom>
          <a:noFill/>
          <a:ln/>
        </p:spPr>
        <p:txBody>
          <a:bodyPr wrap="square" lIns="0" tIns="0" rIns="0" bIns="0" rtlCol="0" anchor="t"/>
          <a:lstStyle/>
          <a:p>
            <a:pPr algn="ctr" indent="0" marL="0">
              <a:buNone/>
            </a:pPr>
            <a:r>
              <a:rPr lang="en-US" sz="1200" dirty="0">
                <a:solidFill>
                  <a:schemeClr val="accent4"/>
                </a:solidFill>
              </a:rPr>
              <a:t>15 marks</a:t>
            </a:r>
            <a:endParaRPr lang="en-US" sz="1200" dirty="0"/>
          </a:p>
        </p:txBody>
      </p:sp>
      <p:sp>
        <p:nvSpPr>
          <p:cNvPr id="46" name="Text 38"/>
          <p:cNvSpPr txBox="1"/>
          <p:nvPr/>
        </p:nvSpPr>
        <p:spPr>
          <a:xfrm>
            <a:off x="10103859" y="1600200"/>
            <a:ext cx="1493476" cy="365760"/>
          </a:xfrm>
          <a:prstGeom prst="rect">
            <a:avLst/>
          </a:prstGeom>
          <a:noFill/>
          <a:ln/>
        </p:spPr>
        <p:txBody>
          <a:bodyPr wrap="square" lIns="0" tIns="0" rIns="0" bIns="0" rtlCol="0" anchor="t"/>
          <a:lstStyle/>
          <a:p>
            <a:pPr algn="ctr" indent="0" marL="0">
              <a:buNone/>
            </a:pPr>
            <a:r>
              <a:rPr lang="en-US" sz="1600" b="1" dirty="0">
                <a:solidFill>
                  <a:schemeClr val="tx2"/>
                </a:solidFill>
              </a:rPr>
              <a:t>Report</a:t>
            </a:r>
            <a:endParaRPr lang="en-US" sz="1600" dirty="0"/>
          </a:p>
        </p:txBody>
      </p:sp>
      <p:sp>
        <p:nvSpPr>
          <p:cNvPr id="47" name="Text 39"/>
          <p:cNvSpPr txBox="1"/>
          <p:nvPr/>
        </p:nvSpPr>
        <p:spPr>
          <a:xfrm>
            <a:off x="10103859" y="1965960"/>
            <a:ext cx="1493476" cy="320040"/>
          </a:xfrm>
          <a:prstGeom prst="rect">
            <a:avLst/>
          </a:prstGeom>
          <a:noFill/>
          <a:ln/>
        </p:spPr>
        <p:txBody>
          <a:bodyPr wrap="square" lIns="0" tIns="0" rIns="0" bIns="0" rtlCol="0" anchor="t"/>
          <a:lstStyle/>
          <a:p>
            <a:pPr algn="ctr" indent="0" marL="0">
              <a:buNone/>
            </a:pPr>
            <a:r>
              <a:rPr lang="en-US" sz="1200" dirty="0">
                <a:solidFill>
                  <a:schemeClr val="accent4"/>
                </a:solidFill>
              </a:rPr>
              <a:t>2 Apr 2027</a:t>
            </a:r>
            <a:endParaRPr lang="en-US" sz="1200" dirty="0"/>
          </a:p>
        </p:txBody>
      </p:sp>
      <p:sp>
        <p:nvSpPr>
          <p:cNvPr id="48" name="icon-circle-FaClock"/>
          <p:cNvSpPr/>
          <p:nvPr/>
        </p:nvSpPr>
        <p:spPr>
          <a:xfrm>
            <a:off x="10507697" y="2720340"/>
            <a:ext cx="685800" cy="685800"/>
          </a:xfrm>
          <a:prstGeom prst="ellipse">
            <a:avLst/>
          </a:prstGeom>
          <a:solidFill>
            <a:schemeClr val="accent4"/>
          </a:solidFill>
          <a:ln/>
        </p:spPr>
      </p:sp>
      <p:pic>
        <p:nvPicPr>
          <p:cNvPr id="49" name="icon-FaClock" descr="preencoded.png">    </p:cNvPr>
          <p:cNvPicPr>
            <a:picLocks noChangeAspect="1"/>
          </p:cNvPicPr>
          <p:nvPr/>
        </p:nvPicPr>
        <p:blipFill>
          <a:blip r:embed="rId7"/>
          <a:stretch>
            <a:fillRect/>
          </a:stretch>
        </p:blipFill>
        <p:spPr>
          <a:xfrm>
            <a:off x="10672289" y="2884932"/>
            <a:ext cx="356616" cy="356616"/>
          </a:xfrm>
          <a:prstGeom prst="rect">
            <a:avLst/>
          </a:prstGeom>
        </p:spPr>
      </p:pic>
      <p:sp>
        <p:nvSpPr>
          <p:cNvPr id="50" name="Text 41"/>
          <p:cNvSpPr txBox="1"/>
          <p:nvPr/>
        </p:nvSpPr>
        <p:spPr>
          <a:xfrm>
            <a:off x="10103859" y="3566160"/>
            <a:ext cx="1493476" cy="320040"/>
          </a:xfrm>
          <a:prstGeom prst="rect">
            <a:avLst/>
          </a:prstGeom>
          <a:noFill/>
          <a:ln/>
        </p:spPr>
        <p:txBody>
          <a:bodyPr wrap="square" lIns="0" tIns="0" rIns="0" bIns="0" rtlCol="0" anchor="t"/>
          <a:lstStyle/>
          <a:p>
            <a:pPr algn="ctr" indent="0" marL="0">
              <a:buNone/>
            </a:pPr>
            <a:r>
              <a:rPr lang="en-US" sz="1300" b="1" dirty="0">
                <a:solidFill>
                  <a:schemeClr val="accent4"/>
                </a:solidFill>
              </a:rPr>
              <a:t>Planned</a:t>
            </a:r>
            <a:endParaRPr lang="en-US" sz="1300" dirty="0"/>
          </a:p>
        </p:txBody>
      </p:sp>
      <p:sp>
        <p:nvSpPr>
          <p:cNvPr id="51" name="Text 42"/>
          <p:cNvSpPr txBox="1"/>
          <p:nvPr/>
        </p:nvSpPr>
        <p:spPr>
          <a:xfrm>
            <a:off x="10149579" y="3886200"/>
            <a:ext cx="1402036" cy="685800"/>
          </a:xfrm>
          <a:prstGeom prst="rect">
            <a:avLst/>
          </a:prstGeom>
          <a:noFill/>
          <a:ln/>
        </p:spPr>
        <p:txBody>
          <a:bodyPr wrap="square" lIns="0" tIns="0" rIns="0" bIns="0" rtlCol="0" anchor="t"/>
          <a:lstStyle/>
          <a:p>
            <a:pPr algn="ctr" indent="0" marL="0">
              <a:buNone/>
            </a:pPr>
            <a:r>
              <a:rPr lang="en-US" sz="1300" dirty="0">
                <a:solidFill>
                  <a:schemeClr val="tx1"/>
                </a:solidFill>
              </a:rPr>
              <a:t>Final report</a:t>
            </a:r>
            <a:endParaRPr lang="en-US" sz="1300" dirty="0"/>
          </a:p>
        </p:txBody>
      </p:sp>
      <p:sp>
        <p:nvSpPr>
          <p:cNvPr id="52" name="Text 43"/>
          <p:cNvSpPr txBox="1"/>
          <p:nvPr/>
        </p:nvSpPr>
        <p:spPr>
          <a:xfrm>
            <a:off x="10103859" y="4572000"/>
            <a:ext cx="1493476" cy="274320"/>
          </a:xfrm>
          <a:prstGeom prst="rect">
            <a:avLst/>
          </a:prstGeom>
          <a:noFill/>
          <a:ln/>
        </p:spPr>
        <p:txBody>
          <a:bodyPr wrap="square" lIns="0" tIns="0" rIns="0" bIns="0" rtlCol="0" anchor="t"/>
          <a:lstStyle/>
          <a:p>
            <a:pPr algn="ctr" indent="0" marL="0">
              <a:buNone/>
            </a:pPr>
            <a:r>
              <a:rPr lang="en-US" sz="1200" dirty="0">
                <a:solidFill>
                  <a:schemeClr val="accent4"/>
                </a:solidFill>
              </a:rPr>
              <a:t>10 marks</a:t>
            </a:r>
            <a:endParaRPr lang="en-US" sz="1200" dirty="0"/>
          </a:p>
        </p:txBody>
      </p:sp>
      <p:sp>
        <p:nvSpPr>
          <p:cNvPr id="53" name="where-we-are"/>
          <p:cNvSpPr/>
          <p:nvPr/>
        </p:nvSpPr>
        <p:spPr>
          <a:xfrm>
            <a:off x="548640" y="5120640"/>
            <a:ext cx="11094415" cy="960120"/>
          </a:xfrm>
          <a:prstGeom prst="roundRect">
            <a:avLst>
              <a:gd name="adj" fmla="val 9524"/>
            </a:avLst>
          </a:prstGeom>
          <a:solidFill>
            <a:schemeClr val="bg2"/>
          </a:solidFill>
          <a:ln/>
        </p:spPr>
      </p:sp>
      <p:sp>
        <p:nvSpPr>
          <p:cNvPr id="54" name="icon-circle-FaMobileAlt"/>
          <p:cNvSpPr/>
          <p:nvPr/>
        </p:nvSpPr>
        <p:spPr>
          <a:xfrm>
            <a:off x="822960" y="5257800"/>
            <a:ext cx="685800" cy="685800"/>
          </a:xfrm>
          <a:prstGeom prst="ellipse">
            <a:avLst/>
          </a:prstGeom>
          <a:solidFill>
            <a:schemeClr val="accent1"/>
          </a:solidFill>
          <a:ln/>
        </p:spPr>
      </p:sp>
      <p:pic>
        <p:nvPicPr>
          <p:cNvPr id="55" name="icon-FaMobileAlt" descr="preencoded.png">    </p:cNvPr>
          <p:cNvPicPr>
            <a:picLocks noChangeAspect="1"/>
          </p:cNvPicPr>
          <p:nvPr/>
        </p:nvPicPr>
        <p:blipFill>
          <a:blip r:embed="rId8"/>
          <a:stretch>
            <a:fillRect/>
          </a:stretch>
        </p:blipFill>
        <p:spPr>
          <a:xfrm>
            <a:off x="987552" y="5422392"/>
            <a:ext cx="356616" cy="356616"/>
          </a:xfrm>
          <a:prstGeom prst="rect">
            <a:avLst/>
          </a:prstGeom>
        </p:spPr>
      </p:pic>
      <p:sp>
        <p:nvSpPr>
          <p:cNvPr id="56" name="Text 46"/>
          <p:cNvSpPr txBox="1"/>
          <p:nvPr/>
        </p:nvSpPr>
        <p:spPr>
          <a:xfrm>
            <a:off x="1737360" y="5230368"/>
            <a:ext cx="9631375" cy="777240"/>
          </a:xfrm>
          <a:prstGeom prst="rect">
            <a:avLst/>
          </a:prstGeom>
          <a:noFill/>
          <a:ln/>
        </p:spPr>
        <p:txBody>
          <a:bodyPr wrap="square" lIns="0" tIns="0" rIns="0" bIns="0" rtlCol="0" anchor="ctr"/>
          <a:lstStyle/>
          <a:p>
            <a:pPr indent="0" marL="0">
              <a:buNone/>
            </a:pPr>
            <a:r>
              <a:rPr lang="en-US" sz="1500" b="1" dirty="0">
                <a:solidFill>
                  <a:schemeClr val="tx2"/>
                </a:solidFill>
              </a:rPr>
              <a:t>Where we are: about 30%, as planned. </a:t>
            </a:r>
            <a:pPr indent="0" marL="0">
              <a:buNone/>
            </a:pPr>
            <a:r>
              <a:rPr lang="en-US" sz="1500" dirty="0">
                <a:solidFill>
                  <a:schemeClr val="tx1"/>
                </a:solidFill>
              </a:rPr>
              <a:t>Phases 0, 1 and 2 are done. The demo phone has collected real data every day since 14 Sep 2026, and the Review III build (v0.2.0-phase2) has run on it since 9 Oct.</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Phase 1: proving both halves work</a:t>
            </a:r>
            <a:endParaRPr lang="en-US" sz="3600" dirty="0"/>
          </a:p>
        </p:txBody>
      </p:sp>
      <p:sp>
        <p:nvSpPr>
          <p:cNvPr id="3" name="chip-Done · demoed 23 Sep 2026"/>
          <p:cNvSpPr/>
          <p:nvPr/>
        </p:nvSpPr>
        <p:spPr>
          <a:xfrm>
            <a:off x="8778240" y="521208"/>
            <a:ext cx="2862072" cy="329184"/>
          </a:xfrm>
          <a:prstGeom prst="roundRect">
            <a:avLst>
              <a:gd name="adj" fmla="val 50000"/>
            </a:avLst>
          </a:prstGeom>
          <a:solidFill>
            <a:schemeClr val="accent3"/>
          </a:solidFill>
          <a:ln/>
        </p:spPr>
      </p:sp>
      <p:sp>
        <p:nvSpPr>
          <p:cNvPr id="4" name="Text 2"/>
          <p:cNvSpPr txBox="1"/>
          <p:nvPr/>
        </p:nvSpPr>
        <p:spPr>
          <a:xfrm>
            <a:off x="8778240" y="521208"/>
            <a:ext cx="2862072" cy="329184"/>
          </a:xfrm>
          <a:prstGeom prst="rect">
            <a:avLst/>
          </a:prstGeom>
          <a:noFill/>
          <a:ln/>
        </p:spPr>
        <p:txBody>
          <a:bodyPr wrap="square" lIns="0" tIns="0" rIns="0" bIns="0" rtlCol="0" anchor="ctr"/>
          <a:lstStyle/>
          <a:p>
            <a:pPr algn="ctr" indent="0" marL="0">
              <a:buNone/>
            </a:pPr>
            <a:r>
              <a:rPr lang="en-US" sz="1200" b="1" dirty="0">
                <a:solidFill>
                  <a:schemeClr val="bg1"/>
                </a:solidFill>
              </a:rPr>
              <a:t>Done · demoed 23 Sep 2026</a:t>
            </a:r>
            <a:endParaRPr lang="en-US" sz="1200" dirty="0"/>
          </a:p>
        </p:txBody>
      </p:sp>
      <p:sp>
        <p:nvSpPr>
          <p:cNvPr id="5" name="phase1-android"/>
          <p:cNvSpPr/>
          <p:nvPr/>
        </p:nvSpPr>
        <p:spPr>
          <a:xfrm>
            <a:off x="548640" y="1325880"/>
            <a:ext cx="6035040" cy="4800600"/>
          </a:xfrm>
          <a:prstGeom prst="roundRect">
            <a:avLst>
              <a:gd name="adj" fmla="val 1905"/>
            </a:avLst>
          </a:prstGeom>
          <a:solidFill>
            <a:schemeClr val="bg2"/>
          </a:solidFill>
          <a:ln/>
        </p:spPr>
      </p:sp>
      <p:sp>
        <p:nvSpPr>
          <p:cNvPr id="6" name="icon-circle-FaAndroid"/>
          <p:cNvSpPr/>
          <p:nvPr/>
        </p:nvSpPr>
        <p:spPr>
          <a:xfrm>
            <a:off x="822960" y="1508760"/>
            <a:ext cx="594360" cy="594360"/>
          </a:xfrm>
          <a:prstGeom prst="ellipse">
            <a:avLst/>
          </a:prstGeom>
          <a:solidFill>
            <a:schemeClr val="accent1"/>
          </a:solidFill>
          <a:ln/>
        </p:spPr>
      </p:sp>
      <p:pic>
        <p:nvPicPr>
          <p:cNvPr id="7" name="icon-FaAndroid" descr="preencoded.png">    </p:cNvPr>
          <p:cNvPicPr>
            <a:picLocks noChangeAspect="1"/>
          </p:cNvPicPr>
          <p:nvPr/>
        </p:nvPicPr>
        <p:blipFill>
          <a:blip r:embed="rId1"/>
          <a:stretch>
            <a:fillRect/>
          </a:stretch>
        </p:blipFill>
        <p:spPr>
          <a:xfrm>
            <a:off x="965606" y="1651406"/>
            <a:ext cx="309067" cy="309067"/>
          </a:xfrm>
          <a:prstGeom prst="rect">
            <a:avLst/>
          </a:prstGeom>
        </p:spPr>
      </p:pic>
      <p:sp>
        <p:nvSpPr>
          <p:cNvPr id="8" name="Text 5"/>
          <p:cNvSpPr txBox="1"/>
          <p:nvPr/>
        </p:nvSpPr>
        <p:spPr>
          <a:xfrm>
            <a:off x="1554480" y="1600200"/>
            <a:ext cx="4572000" cy="411480"/>
          </a:xfrm>
          <a:prstGeom prst="rect">
            <a:avLst/>
          </a:prstGeom>
          <a:noFill/>
          <a:ln/>
        </p:spPr>
        <p:txBody>
          <a:bodyPr wrap="square" lIns="0" tIns="0" rIns="0" bIns="0" rtlCol="0" anchor="t"/>
          <a:lstStyle/>
          <a:p>
            <a:pPr indent="0" marL="0">
              <a:buNone/>
            </a:pPr>
            <a:r>
              <a:rPr lang="en-US" sz="1900" b="1" dirty="0">
                <a:solidFill>
                  <a:schemeClr val="tx2"/>
                </a:solidFill>
              </a:rPr>
              <a:t>On the elder's phone</a:t>
            </a:r>
            <a:endParaRPr lang="en-US" sz="1900" dirty="0"/>
          </a:p>
        </p:txBody>
      </p:sp>
      <p:sp>
        <p:nvSpPr>
          <p:cNvPr id="9" name="Text 6"/>
          <p:cNvSpPr txBox="1"/>
          <p:nvPr/>
        </p:nvSpPr>
        <p:spPr>
          <a:xfrm>
            <a:off x="868680" y="2194560"/>
            <a:ext cx="5486400" cy="384048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Consent screen before anything is collected</a:t>
            </a:r>
            <a:endParaRPr lang="en-US" sz="1500" dirty="0"/>
          </a:p>
          <a:p>
            <a:pPr marL="203200" indent="-203200">
              <a:spcAft>
                <a:spcPts val="500"/>
              </a:spcAft>
              <a:buSzPct val="100000"/>
              <a:buChar char="•"/>
            </a:pPr>
            <a:r>
              <a:rPr lang="en-US" sz="1500" dirty="0">
                <a:solidFill>
                  <a:schemeClr val="tx1"/>
                </a:solidFill>
              </a:rPr>
              <a:t>Usage-access permission with a plain-language reason</a:t>
            </a:r>
            <a:endParaRPr lang="en-US" sz="1500" dirty="0"/>
          </a:p>
          <a:p>
            <a:pPr marL="203200" indent="-203200">
              <a:spcAft>
                <a:spcPts val="500"/>
              </a:spcAft>
              <a:buSzPct val="100000"/>
              <a:buChar char="•"/>
            </a:pPr>
            <a:r>
              <a:rPr lang="en-US" sz="1500" dirty="0">
                <a:solidFill>
                  <a:schemeClr val="tx1"/>
                </a:solidFill>
              </a:rPr>
              <a:t>Battery-optimisation exemption keeps collection alive</a:t>
            </a:r>
            <a:endParaRPr lang="en-US" sz="1500" dirty="0"/>
          </a:p>
          <a:p>
            <a:pPr marL="203200" indent="-203200">
              <a:spcAft>
                <a:spcPts val="500"/>
              </a:spcAft>
              <a:buSzPct val="100000"/>
              <a:buChar char="•"/>
            </a:pPr>
            <a:r>
              <a:rPr lang="en-US" sz="1500" dirty="0">
                <a:solidFill>
                  <a:schemeClr val="tx1"/>
                </a:solidFill>
              </a:rPr>
              <a:t>Unlock and screen on/off capture in a foreground service</a:t>
            </a:r>
            <a:endParaRPr lang="en-US" sz="1500" dirty="0"/>
          </a:p>
          <a:p>
            <a:pPr marL="203200" indent="-203200">
              <a:spcAft>
                <a:spcPts val="500"/>
              </a:spcAft>
              <a:buSzPct val="100000"/>
              <a:buChar char="•"/>
            </a:pPr>
            <a:r>
              <a:rPr lang="en-US" sz="1500" dirty="0">
                <a:solidFill>
                  <a:schemeClr val="tx1"/>
                </a:solidFill>
              </a:rPr>
              <a:t>Restarts after reboot, only if consent was given</a:t>
            </a:r>
            <a:endParaRPr lang="en-US" sz="1500" dirty="0"/>
          </a:p>
          <a:p>
            <a:pPr marL="203200" indent="-203200">
              <a:spcAft>
                <a:spcPts val="500"/>
              </a:spcAft>
              <a:buSzPct val="100000"/>
              <a:buChar char="•"/>
            </a:pPr>
            <a:r>
              <a:rPr lang="en-US" sz="1500" dirty="0">
                <a:solidFill>
                  <a:schemeClr val="tx1"/>
                </a:solidFill>
              </a:rPr>
              <a:t>On-phone database: nothing is uploaded</a:t>
            </a:r>
            <a:endParaRPr lang="en-US" sz="1500" dirty="0"/>
          </a:p>
          <a:p>
            <a:pPr marL="203200" indent="-203200">
              <a:spcAft>
                <a:spcPts val="500"/>
              </a:spcAft>
              <a:buSzPct val="100000"/>
              <a:buChar char="•"/>
            </a:pPr>
            <a:r>
              <a:rPr lang="en-US" sz="1500" dirty="0">
                <a:solidFill>
                  <a:schemeClr val="tx1"/>
                </a:solidFill>
              </a:rPr>
              <a:t>Live event list on a debug screen</a:t>
            </a:r>
            <a:endParaRPr lang="en-US" sz="1500" dirty="0"/>
          </a:p>
          <a:p>
            <a:pPr marL="203200" indent="-203200">
              <a:spcAft>
                <a:spcPts val="500"/>
              </a:spcAft>
              <a:buSzPct val="100000"/>
              <a:buChar char="•"/>
            </a:pPr>
            <a:r>
              <a:rPr lang="en-US" sz="1500" dirty="0">
                <a:solidFill>
                  <a:schemeClr val="tx1"/>
                </a:solidFill>
              </a:rPr>
              <a:t>Stop monitoring: revokes consent and stops collection</a:t>
            </a:r>
            <a:endParaRPr lang="en-US" sz="1500" dirty="0"/>
          </a:p>
          <a:p>
            <a:pPr marL="203200" indent="-203200">
              <a:spcAft>
                <a:spcPts val="500"/>
              </a:spcAft>
              <a:buSzPct val="100000"/>
              <a:buChar char="•"/>
            </a:pPr>
            <a:r>
              <a:rPr lang="en-US" sz="1500" dirty="0">
                <a:solidFill>
                  <a:schemeClr val="tx1"/>
                </a:solidFill>
              </a:rPr>
              <a:t>Backend reachability check over HTTPS</a:t>
            </a:r>
            <a:endParaRPr lang="en-US" sz="1500" dirty="0"/>
          </a:p>
          <a:p>
            <a:pPr marL="203200" indent="-203200">
              <a:spcAft>
                <a:spcPts val="500"/>
              </a:spcAft>
              <a:buSzPct val="100000"/>
              <a:buChar char="•"/>
            </a:pPr>
            <a:r>
              <a:rPr lang="en-US" sz="1500" dirty="0">
                <a:solidFill>
                  <a:schemeClr val="tx1"/>
                </a:solidFill>
              </a:rPr>
              <a:t>Large-text theme for elderly users</a:t>
            </a:r>
            <a:endParaRPr lang="en-US" sz="1500" dirty="0"/>
          </a:p>
        </p:txBody>
      </p:sp>
      <p:sp>
        <p:nvSpPr>
          <p:cNvPr id="10" name="phase1-backend"/>
          <p:cNvSpPr/>
          <p:nvPr/>
        </p:nvSpPr>
        <p:spPr>
          <a:xfrm>
            <a:off x="6858000" y="1325880"/>
            <a:ext cx="4785055" cy="3429000"/>
          </a:xfrm>
          <a:prstGeom prst="roundRect">
            <a:avLst>
              <a:gd name="adj" fmla="val 2667"/>
            </a:avLst>
          </a:prstGeom>
          <a:solidFill>
            <a:schemeClr val="bg2"/>
          </a:solidFill>
          <a:ln/>
        </p:spPr>
      </p:sp>
      <p:sp>
        <p:nvSpPr>
          <p:cNvPr id="11" name="icon-circle-FaServer"/>
          <p:cNvSpPr/>
          <p:nvPr/>
        </p:nvSpPr>
        <p:spPr>
          <a:xfrm>
            <a:off x="7132320" y="1508760"/>
            <a:ext cx="594360" cy="594360"/>
          </a:xfrm>
          <a:prstGeom prst="ellipse">
            <a:avLst/>
          </a:prstGeom>
          <a:solidFill>
            <a:schemeClr val="accent5"/>
          </a:solidFill>
          <a:ln/>
        </p:spPr>
      </p:sp>
      <p:pic>
        <p:nvPicPr>
          <p:cNvPr id="12" name="icon-FaServer" descr="preencoded.png">    </p:cNvPr>
          <p:cNvPicPr>
            <a:picLocks noChangeAspect="1"/>
          </p:cNvPicPr>
          <p:nvPr/>
        </p:nvPicPr>
        <p:blipFill>
          <a:blip r:embed="rId2"/>
          <a:stretch>
            <a:fillRect/>
          </a:stretch>
        </p:blipFill>
        <p:spPr>
          <a:xfrm>
            <a:off x="7274966" y="1651406"/>
            <a:ext cx="309067" cy="309067"/>
          </a:xfrm>
          <a:prstGeom prst="rect">
            <a:avLst/>
          </a:prstGeom>
        </p:spPr>
      </p:pic>
      <p:sp>
        <p:nvSpPr>
          <p:cNvPr id="13" name="Text 9"/>
          <p:cNvSpPr txBox="1"/>
          <p:nvPr/>
        </p:nvSpPr>
        <p:spPr>
          <a:xfrm>
            <a:off x="7863840" y="1600200"/>
            <a:ext cx="3474720" cy="411480"/>
          </a:xfrm>
          <a:prstGeom prst="rect">
            <a:avLst/>
          </a:prstGeom>
          <a:noFill/>
          <a:ln/>
        </p:spPr>
        <p:txBody>
          <a:bodyPr wrap="square" lIns="0" tIns="0" rIns="0" bIns="0" rtlCol="0" anchor="t"/>
          <a:lstStyle/>
          <a:p>
            <a:pPr indent="0" marL="0">
              <a:buNone/>
            </a:pPr>
            <a:r>
              <a:rPr lang="en-US" sz="1900" b="1" dirty="0">
                <a:solidFill>
                  <a:schemeClr val="tx2"/>
                </a:solidFill>
              </a:rPr>
              <a:t>On the server</a:t>
            </a:r>
            <a:endParaRPr lang="en-US" sz="1900" dirty="0"/>
          </a:p>
        </p:txBody>
      </p:sp>
      <p:sp>
        <p:nvSpPr>
          <p:cNvPr id="14" name="Text 10"/>
          <p:cNvSpPr txBox="1"/>
          <p:nvPr/>
        </p:nvSpPr>
        <p:spPr>
          <a:xfrm>
            <a:off x="7178040" y="2194560"/>
            <a:ext cx="4236415" cy="246888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Hardened server: key-only SSH, firewall, fail2ban</a:t>
            </a:r>
            <a:endParaRPr lang="en-US" sz="1500" dirty="0"/>
          </a:p>
          <a:p>
            <a:pPr marL="203200" indent="-203200">
              <a:spcAft>
                <a:spcPts val="500"/>
              </a:spcAft>
              <a:buSzPct val="100000"/>
              <a:buChar char="•"/>
            </a:pPr>
            <a:r>
              <a:rPr lang="en-US" sz="1500" dirty="0">
                <a:solidFill>
                  <a:schemeClr val="tx1"/>
                </a:solidFill>
              </a:rPr>
              <a:t>HTTPS with automatic certificates (Caddy)</a:t>
            </a:r>
            <a:endParaRPr lang="en-US" sz="1500" dirty="0"/>
          </a:p>
          <a:p>
            <a:pPr marL="203200" indent="-203200">
              <a:spcAft>
                <a:spcPts val="500"/>
              </a:spcAft>
              <a:buSzPct val="100000"/>
              <a:buChar char="•"/>
            </a:pPr>
            <a:r>
              <a:rPr lang="en-US" sz="1500" dirty="0">
                <a:solidFill>
                  <a:schemeClr val="tx1"/>
                </a:solidFill>
              </a:rPr>
              <a:t>FastAPI service that restarts itself</a:t>
            </a:r>
            <a:endParaRPr lang="en-US" sz="1500" dirty="0"/>
          </a:p>
          <a:p>
            <a:pPr marL="203200" indent="-203200">
              <a:spcAft>
                <a:spcPts val="500"/>
              </a:spcAft>
              <a:buSzPct val="100000"/>
              <a:buChar char="•"/>
            </a:pPr>
            <a:r>
              <a:rPr lang="en-US" sz="1500" dirty="0">
                <a:solidFill>
                  <a:schemeClr val="tx1"/>
                </a:solidFill>
              </a:rPr>
              <a:t>PostgreSQL reachable only from the server</a:t>
            </a:r>
            <a:endParaRPr lang="en-US" sz="1500" dirty="0"/>
          </a:p>
          <a:p>
            <a:pPr marL="203200" indent="-203200">
              <a:spcAft>
                <a:spcPts val="500"/>
              </a:spcAft>
              <a:buSzPct val="100000"/>
              <a:buChar char="•"/>
            </a:pPr>
            <a:r>
              <a:rPr lang="en-US" sz="1500" dirty="0">
                <a:solidFill>
                  <a:schemeClr val="tx1"/>
                </a:solidFill>
              </a:rPr>
              <a:t>Live /health and /health/db</a:t>
            </a:r>
            <a:endParaRPr lang="en-US" sz="1500" dirty="0"/>
          </a:p>
          <a:p>
            <a:pPr marL="203200" indent="-203200">
              <a:spcAft>
                <a:spcPts val="500"/>
              </a:spcAft>
              <a:buSzPct val="100000"/>
              <a:buChar char="•"/>
            </a:pPr>
            <a:r>
              <a:rPr lang="en-US" sz="1500" dirty="0">
                <a:solidFill>
                  <a:schemeClr val="tx1"/>
                </a:solidFill>
              </a:rPr>
              <a:t>Quality gate with at least 90% coverage</a:t>
            </a:r>
            <a:endParaRPr lang="en-US" sz="1500" dirty="0"/>
          </a:p>
        </p:txBody>
      </p:sp>
      <p:sp>
        <p:nvSpPr>
          <p:cNvPr id="15" name="phase1-docs"/>
          <p:cNvSpPr/>
          <p:nvPr/>
        </p:nvSpPr>
        <p:spPr>
          <a:xfrm>
            <a:off x="6858000" y="4983480"/>
            <a:ext cx="4785055" cy="1143000"/>
          </a:xfrm>
          <a:prstGeom prst="roundRect">
            <a:avLst>
              <a:gd name="adj" fmla="val 8000"/>
            </a:avLst>
          </a:prstGeom>
          <a:solidFill>
            <a:schemeClr val="bg2"/>
          </a:solidFill>
          <a:ln/>
        </p:spPr>
      </p:sp>
      <p:sp>
        <p:nvSpPr>
          <p:cNvPr id="16" name="icon-circle-FaBook"/>
          <p:cNvSpPr/>
          <p:nvPr/>
        </p:nvSpPr>
        <p:spPr>
          <a:xfrm>
            <a:off x="7132320" y="5257800"/>
            <a:ext cx="594360" cy="594360"/>
          </a:xfrm>
          <a:prstGeom prst="ellipse">
            <a:avLst/>
          </a:prstGeom>
          <a:solidFill>
            <a:schemeClr val="accent6"/>
          </a:solidFill>
          <a:ln/>
        </p:spPr>
      </p:sp>
      <p:pic>
        <p:nvPicPr>
          <p:cNvPr id="17" name="icon-FaBook" descr="preencoded.png">    </p:cNvPr>
          <p:cNvPicPr>
            <a:picLocks noChangeAspect="1"/>
          </p:cNvPicPr>
          <p:nvPr/>
        </p:nvPicPr>
        <p:blipFill>
          <a:blip r:embed="rId3"/>
          <a:stretch>
            <a:fillRect/>
          </a:stretch>
        </p:blipFill>
        <p:spPr>
          <a:xfrm>
            <a:off x="7274966" y="5400446"/>
            <a:ext cx="309067" cy="309067"/>
          </a:xfrm>
          <a:prstGeom prst="rect">
            <a:avLst/>
          </a:prstGeom>
        </p:spPr>
      </p:pic>
      <p:sp>
        <p:nvSpPr>
          <p:cNvPr id="18" name="Text 13"/>
          <p:cNvSpPr txBox="1"/>
          <p:nvPr/>
        </p:nvSpPr>
        <p:spPr>
          <a:xfrm>
            <a:off x="7863840" y="5120640"/>
            <a:ext cx="3596335" cy="914400"/>
          </a:xfrm>
          <a:prstGeom prst="rect">
            <a:avLst/>
          </a:prstGeom>
          <a:noFill/>
          <a:ln/>
        </p:spPr>
        <p:txBody>
          <a:bodyPr wrap="square" lIns="0" tIns="0" rIns="0" bIns="0" rtlCol="0" anchor="ctr"/>
          <a:lstStyle/>
          <a:p>
            <a:pPr indent="0" marL="0">
              <a:buNone/>
            </a:pPr>
            <a:r>
              <a:rPr lang="en-US" sz="1500" b="1" dirty="0">
                <a:solidFill>
                  <a:schemeClr val="tx2"/>
                </a:solidFill>
              </a:rPr>
              <a:t>Documentation</a:t>
            </a:r>
            <a:endParaRPr lang="en-US" sz="1500" dirty="0"/>
          </a:p>
          <a:p>
            <a:pPr indent="0" marL="0">
              <a:buNone/>
            </a:pPr>
            <a:r>
              <a:rPr lang="en-US" sz="1500" dirty="0">
                <a:solidFill>
                  <a:schemeClr val="tx1"/>
                </a:solidFill>
              </a:rPr>
              <a:t>Specs, design, plan, runbooks and a traceability matrix</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Phase 2: every signal, shown</a:t>
            </a:r>
            <a:endParaRPr lang="en-US" sz="3600" dirty="0"/>
          </a:p>
        </p:txBody>
      </p:sp>
      <p:sp>
        <p:nvSpPr>
          <p:cNvPr id="3" name="chip-8 of 8 must-haves"/>
          <p:cNvSpPr/>
          <p:nvPr/>
        </p:nvSpPr>
        <p:spPr>
          <a:xfrm>
            <a:off x="9144000" y="521208"/>
            <a:ext cx="2496312" cy="329184"/>
          </a:xfrm>
          <a:prstGeom prst="roundRect">
            <a:avLst>
              <a:gd name="adj" fmla="val 50000"/>
            </a:avLst>
          </a:prstGeom>
          <a:solidFill>
            <a:schemeClr val="accent2"/>
          </a:solidFill>
          <a:ln/>
        </p:spPr>
      </p:sp>
      <p:sp>
        <p:nvSpPr>
          <p:cNvPr id="4" name="Text 2"/>
          <p:cNvSpPr txBox="1"/>
          <p:nvPr/>
        </p:nvSpPr>
        <p:spPr>
          <a:xfrm>
            <a:off x="9144000" y="521208"/>
            <a:ext cx="2496312" cy="329184"/>
          </a:xfrm>
          <a:prstGeom prst="rect">
            <a:avLst/>
          </a:prstGeom>
          <a:noFill/>
          <a:ln/>
        </p:spPr>
        <p:txBody>
          <a:bodyPr wrap="square" lIns="0" tIns="0" rIns="0" bIns="0" rtlCol="0" anchor="ctr"/>
          <a:lstStyle/>
          <a:p>
            <a:pPr algn="ctr" indent="0" marL="0">
              <a:buNone/>
            </a:pPr>
            <a:r>
              <a:rPr lang="en-US" sz="1200" b="1" dirty="0">
                <a:solidFill>
                  <a:schemeClr val="bg1"/>
                </a:solidFill>
              </a:rPr>
              <a:t>8 of 8 must-haves</a:t>
            </a:r>
            <a:endParaRPr lang="en-US" sz="1200" dirty="0"/>
          </a:p>
        </p:txBody>
      </p:sp>
      <p:sp>
        <p:nvSpPr>
          <p:cNvPr id="5" name="phase2-1"/>
          <p:cNvSpPr/>
          <p:nvPr/>
        </p:nvSpPr>
        <p:spPr>
          <a:xfrm>
            <a:off x="548640" y="1325880"/>
            <a:ext cx="3515258" cy="2057400"/>
          </a:xfrm>
          <a:prstGeom prst="roundRect">
            <a:avLst>
              <a:gd name="adj" fmla="val 4444"/>
            </a:avLst>
          </a:prstGeom>
          <a:solidFill>
            <a:schemeClr val="bg2"/>
          </a:solidFill>
          <a:ln/>
        </p:spPr>
      </p:sp>
      <p:sp>
        <p:nvSpPr>
          <p:cNvPr id="6" name="icon-circle-FaChartBar"/>
          <p:cNvSpPr/>
          <p:nvPr/>
        </p:nvSpPr>
        <p:spPr>
          <a:xfrm>
            <a:off x="822960" y="1600200"/>
            <a:ext cx="685800" cy="685800"/>
          </a:xfrm>
          <a:prstGeom prst="ellipse">
            <a:avLst/>
          </a:prstGeom>
          <a:solidFill>
            <a:schemeClr val="accent1"/>
          </a:solidFill>
          <a:ln/>
        </p:spPr>
      </p:sp>
      <p:pic>
        <p:nvPicPr>
          <p:cNvPr id="7" name="icon-FaChartBar" descr="preencoded.png">    </p:cNvPr>
          <p:cNvPicPr>
            <a:picLocks noChangeAspect="1"/>
          </p:cNvPicPr>
          <p:nvPr/>
        </p:nvPicPr>
        <p:blipFill>
          <a:blip r:embed="rId1"/>
          <a:stretch>
            <a:fillRect/>
          </a:stretch>
        </p:blipFill>
        <p:spPr>
          <a:xfrm>
            <a:off x="987552" y="1764792"/>
            <a:ext cx="356616" cy="356616"/>
          </a:xfrm>
          <a:prstGeom prst="rect">
            <a:avLst/>
          </a:prstGeom>
        </p:spPr>
      </p:pic>
      <p:sp>
        <p:nvSpPr>
          <p:cNvPr id="8" name="Text 5"/>
          <p:cNvSpPr txBox="1"/>
          <p:nvPr/>
        </p:nvSpPr>
        <p:spPr>
          <a:xfrm>
            <a:off x="1691640" y="1600200"/>
            <a:ext cx="2143658" cy="685800"/>
          </a:xfrm>
          <a:prstGeom prst="rect">
            <a:avLst/>
          </a:prstGeom>
          <a:noFill/>
          <a:ln/>
        </p:spPr>
        <p:txBody>
          <a:bodyPr wrap="square" lIns="0" tIns="0" rIns="0" bIns="0" rtlCol="0" anchor="ctr"/>
          <a:lstStyle/>
          <a:p>
            <a:pPr indent="0" marL="0">
              <a:buNone/>
            </a:pPr>
            <a:r>
              <a:rPr lang="en-US" sz="1900" b="1" dirty="0">
                <a:solidFill>
                  <a:schemeClr val="tx2"/>
                </a:solidFill>
              </a:rPr>
              <a:t>App-usage pattern</a:t>
            </a:r>
            <a:endParaRPr lang="en-US" sz="1900" dirty="0"/>
          </a:p>
        </p:txBody>
      </p:sp>
      <p:sp>
        <p:nvSpPr>
          <p:cNvPr id="9" name="Text 6"/>
          <p:cNvSpPr txBox="1"/>
          <p:nvPr/>
        </p:nvSpPr>
        <p:spPr>
          <a:xfrm>
            <a:off x="822960" y="2468880"/>
            <a:ext cx="2966618" cy="822960"/>
          </a:xfrm>
          <a:prstGeom prst="rect">
            <a:avLst/>
          </a:prstGeom>
          <a:noFill/>
          <a:ln/>
        </p:spPr>
        <p:txBody>
          <a:bodyPr wrap="square" lIns="0" tIns="0" rIns="0" bIns="0" rtlCol="0" anchor="t"/>
          <a:lstStyle/>
          <a:p>
            <a:pPr indent="0" marL="0">
              <a:buNone/>
            </a:pPr>
            <a:r>
              <a:rPr lang="en-US" sz="1500" dirty="0">
                <a:solidFill>
                  <a:schemeClr val="tx1"/>
                </a:solidFill>
              </a:rPr>
              <a:t>Which apps were used and when, read every 15 minutes.</a:t>
            </a:r>
            <a:endParaRPr lang="en-US" sz="1500" dirty="0"/>
          </a:p>
        </p:txBody>
      </p:sp>
      <p:sp>
        <p:nvSpPr>
          <p:cNvPr id="10" name="phase2-2"/>
          <p:cNvSpPr/>
          <p:nvPr/>
        </p:nvSpPr>
        <p:spPr>
          <a:xfrm>
            <a:off x="4338218" y="1325880"/>
            <a:ext cx="3515258" cy="2057400"/>
          </a:xfrm>
          <a:prstGeom prst="roundRect">
            <a:avLst>
              <a:gd name="adj" fmla="val 4444"/>
            </a:avLst>
          </a:prstGeom>
          <a:solidFill>
            <a:schemeClr val="bg2"/>
          </a:solidFill>
          <a:ln/>
        </p:spPr>
      </p:sp>
      <p:sp>
        <p:nvSpPr>
          <p:cNvPr id="11" name="icon-circle-FaWalking"/>
          <p:cNvSpPr/>
          <p:nvPr/>
        </p:nvSpPr>
        <p:spPr>
          <a:xfrm>
            <a:off x="4612538" y="1600200"/>
            <a:ext cx="685800" cy="685800"/>
          </a:xfrm>
          <a:prstGeom prst="ellipse">
            <a:avLst/>
          </a:prstGeom>
          <a:solidFill>
            <a:schemeClr val="accent1"/>
          </a:solidFill>
          <a:ln/>
        </p:spPr>
      </p:sp>
      <p:pic>
        <p:nvPicPr>
          <p:cNvPr id="12" name="icon-FaWalking" descr="preencoded.png">    </p:cNvPr>
          <p:cNvPicPr>
            <a:picLocks noChangeAspect="1"/>
          </p:cNvPicPr>
          <p:nvPr/>
        </p:nvPicPr>
        <p:blipFill>
          <a:blip r:embed="rId2"/>
          <a:stretch>
            <a:fillRect/>
          </a:stretch>
        </p:blipFill>
        <p:spPr>
          <a:xfrm>
            <a:off x="4777130" y="1764792"/>
            <a:ext cx="356616" cy="356616"/>
          </a:xfrm>
          <a:prstGeom prst="rect">
            <a:avLst/>
          </a:prstGeom>
        </p:spPr>
      </p:pic>
      <p:sp>
        <p:nvSpPr>
          <p:cNvPr id="13" name="Text 9"/>
          <p:cNvSpPr txBox="1"/>
          <p:nvPr/>
        </p:nvSpPr>
        <p:spPr>
          <a:xfrm>
            <a:off x="5481218" y="1600200"/>
            <a:ext cx="2143658" cy="685800"/>
          </a:xfrm>
          <a:prstGeom prst="rect">
            <a:avLst/>
          </a:prstGeom>
          <a:noFill/>
          <a:ln/>
        </p:spPr>
        <p:txBody>
          <a:bodyPr wrap="square" lIns="0" tIns="0" rIns="0" bIns="0" rtlCol="0" anchor="ctr"/>
          <a:lstStyle/>
          <a:p>
            <a:pPr indent="0" marL="0">
              <a:buNone/>
            </a:pPr>
            <a:r>
              <a:rPr lang="en-US" sz="1900" b="1" dirty="0">
                <a:solidFill>
                  <a:schemeClr val="tx2"/>
                </a:solidFill>
              </a:rPr>
              <a:t>Last moved</a:t>
            </a:r>
            <a:endParaRPr lang="en-US" sz="1900" dirty="0"/>
          </a:p>
        </p:txBody>
      </p:sp>
      <p:sp>
        <p:nvSpPr>
          <p:cNvPr id="14" name="Text 10"/>
          <p:cNvSpPr txBox="1"/>
          <p:nvPr/>
        </p:nvSpPr>
        <p:spPr>
          <a:xfrm>
            <a:off x="4612538" y="2468880"/>
            <a:ext cx="2966618" cy="822960"/>
          </a:xfrm>
          <a:prstGeom prst="rect">
            <a:avLst/>
          </a:prstGeom>
          <a:noFill/>
          <a:ln/>
        </p:spPr>
        <p:txBody>
          <a:bodyPr wrap="square" lIns="0" tIns="0" rIns="0" bIns="0" rtlCol="0" anchor="t"/>
          <a:lstStyle/>
          <a:p>
            <a:pPr indent="0" marL="0">
              <a:buNone/>
            </a:pPr>
            <a:r>
              <a:rPr lang="en-US" sz="1500" dirty="0">
                <a:solidFill>
                  <a:schemeClr val="tx1"/>
                </a:solidFill>
              </a:rPr>
              <a:t>Low-power motion sensor. Stores only the time; no step counting.</a:t>
            </a:r>
            <a:endParaRPr lang="en-US" sz="1500" dirty="0"/>
          </a:p>
        </p:txBody>
      </p:sp>
      <p:sp>
        <p:nvSpPr>
          <p:cNvPr id="15" name="phase2-3"/>
          <p:cNvSpPr/>
          <p:nvPr/>
        </p:nvSpPr>
        <p:spPr>
          <a:xfrm>
            <a:off x="8127797" y="1325880"/>
            <a:ext cx="3515258" cy="2057400"/>
          </a:xfrm>
          <a:prstGeom prst="roundRect">
            <a:avLst>
              <a:gd name="adj" fmla="val 4444"/>
            </a:avLst>
          </a:prstGeom>
          <a:solidFill>
            <a:schemeClr val="bg2"/>
          </a:solidFill>
          <a:ln/>
        </p:spPr>
      </p:sp>
      <p:sp>
        <p:nvSpPr>
          <p:cNvPr id="16" name="icon-circle-FaRunning"/>
          <p:cNvSpPr/>
          <p:nvPr/>
        </p:nvSpPr>
        <p:spPr>
          <a:xfrm>
            <a:off x="8402117" y="1600200"/>
            <a:ext cx="685800" cy="685800"/>
          </a:xfrm>
          <a:prstGeom prst="ellipse">
            <a:avLst/>
          </a:prstGeom>
          <a:solidFill>
            <a:schemeClr val="accent1"/>
          </a:solidFill>
          <a:ln/>
        </p:spPr>
      </p:sp>
      <p:pic>
        <p:nvPicPr>
          <p:cNvPr id="17" name="icon-FaRunning" descr="preencoded.png">    </p:cNvPr>
          <p:cNvPicPr>
            <a:picLocks noChangeAspect="1"/>
          </p:cNvPicPr>
          <p:nvPr/>
        </p:nvPicPr>
        <p:blipFill>
          <a:blip r:embed="rId3"/>
          <a:stretch>
            <a:fillRect/>
          </a:stretch>
        </p:blipFill>
        <p:spPr>
          <a:xfrm>
            <a:off x="8566709" y="1764792"/>
            <a:ext cx="356616" cy="356616"/>
          </a:xfrm>
          <a:prstGeom prst="rect">
            <a:avLst/>
          </a:prstGeom>
        </p:spPr>
      </p:pic>
      <p:sp>
        <p:nvSpPr>
          <p:cNvPr id="18" name="Text 13"/>
          <p:cNvSpPr txBox="1"/>
          <p:nvPr/>
        </p:nvSpPr>
        <p:spPr>
          <a:xfrm>
            <a:off x="9270797" y="1600200"/>
            <a:ext cx="2143658" cy="685800"/>
          </a:xfrm>
          <a:prstGeom prst="rect">
            <a:avLst/>
          </a:prstGeom>
          <a:noFill/>
          <a:ln/>
        </p:spPr>
        <p:txBody>
          <a:bodyPr wrap="square" lIns="0" tIns="0" rIns="0" bIns="0" rtlCol="0" anchor="ctr"/>
          <a:lstStyle/>
          <a:p>
            <a:pPr indent="0" marL="0">
              <a:buNone/>
            </a:pPr>
            <a:r>
              <a:rPr lang="en-US" sz="1900" b="1" dirty="0">
                <a:solidFill>
                  <a:schemeClr val="tx2"/>
                </a:solidFill>
              </a:rPr>
              <a:t>Activity</a:t>
            </a:r>
            <a:endParaRPr lang="en-US" sz="1900" dirty="0"/>
          </a:p>
        </p:txBody>
      </p:sp>
      <p:sp>
        <p:nvSpPr>
          <p:cNvPr id="19" name="Text 14"/>
          <p:cNvSpPr txBox="1"/>
          <p:nvPr/>
        </p:nvSpPr>
        <p:spPr>
          <a:xfrm>
            <a:off x="8402117" y="2468880"/>
            <a:ext cx="2966618" cy="822960"/>
          </a:xfrm>
          <a:prstGeom prst="rect">
            <a:avLst/>
          </a:prstGeom>
          <a:noFill/>
          <a:ln/>
        </p:spPr>
        <p:txBody>
          <a:bodyPr wrap="square" lIns="0" tIns="0" rIns="0" bIns="0" rtlCol="0" anchor="t"/>
          <a:lstStyle/>
          <a:p>
            <a:pPr indent="0" marL="0">
              <a:buNone/>
            </a:pPr>
            <a:r>
              <a:rPr lang="en-US" sz="1500" dirty="0">
                <a:solidFill>
                  <a:schemeClr val="tx1"/>
                </a:solidFill>
              </a:rPr>
              <a:t>Still, walking or in a vehicle, with a plain-language permission screen.</a:t>
            </a:r>
            <a:endParaRPr lang="en-US" sz="1500" dirty="0"/>
          </a:p>
        </p:txBody>
      </p:sp>
      <p:sp>
        <p:nvSpPr>
          <p:cNvPr id="20" name="phase2-4"/>
          <p:cNvSpPr/>
          <p:nvPr/>
        </p:nvSpPr>
        <p:spPr>
          <a:xfrm>
            <a:off x="548640" y="3657600"/>
            <a:ext cx="3515258" cy="2057400"/>
          </a:xfrm>
          <a:prstGeom prst="roundRect">
            <a:avLst>
              <a:gd name="adj" fmla="val 4444"/>
            </a:avLst>
          </a:prstGeom>
          <a:solidFill>
            <a:schemeClr val="bg2"/>
          </a:solidFill>
          <a:ln/>
        </p:spPr>
      </p:sp>
      <p:sp>
        <p:nvSpPr>
          <p:cNvPr id="21" name="icon-circle-FaStream"/>
          <p:cNvSpPr/>
          <p:nvPr/>
        </p:nvSpPr>
        <p:spPr>
          <a:xfrm>
            <a:off x="822960" y="3931920"/>
            <a:ext cx="685800" cy="685800"/>
          </a:xfrm>
          <a:prstGeom prst="ellipse">
            <a:avLst/>
          </a:prstGeom>
          <a:solidFill>
            <a:schemeClr val="accent1"/>
          </a:solidFill>
          <a:ln/>
        </p:spPr>
      </p:sp>
      <p:pic>
        <p:nvPicPr>
          <p:cNvPr id="22" name="icon-FaStream" descr="preencoded.png">    </p:cNvPr>
          <p:cNvPicPr>
            <a:picLocks noChangeAspect="1"/>
          </p:cNvPicPr>
          <p:nvPr/>
        </p:nvPicPr>
        <p:blipFill>
          <a:blip r:embed="rId4"/>
          <a:stretch>
            <a:fillRect/>
          </a:stretch>
        </p:blipFill>
        <p:spPr>
          <a:xfrm>
            <a:off x="987552" y="4096512"/>
            <a:ext cx="356616" cy="356616"/>
          </a:xfrm>
          <a:prstGeom prst="rect">
            <a:avLst/>
          </a:prstGeom>
        </p:spPr>
      </p:pic>
      <p:sp>
        <p:nvSpPr>
          <p:cNvPr id="23" name="Text 17"/>
          <p:cNvSpPr txBox="1"/>
          <p:nvPr/>
        </p:nvSpPr>
        <p:spPr>
          <a:xfrm>
            <a:off x="1691640" y="3931920"/>
            <a:ext cx="2143658" cy="685800"/>
          </a:xfrm>
          <a:prstGeom prst="rect">
            <a:avLst/>
          </a:prstGeom>
          <a:noFill/>
          <a:ln/>
        </p:spPr>
        <p:txBody>
          <a:bodyPr wrap="square" lIns="0" tIns="0" rIns="0" bIns="0" rtlCol="0" anchor="ctr"/>
          <a:lstStyle/>
          <a:p>
            <a:pPr indent="0" marL="0">
              <a:buNone/>
            </a:pPr>
            <a:r>
              <a:rPr lang="en-US" sz="1900" b="1" dirty="0">
                <a:solidFill>
                  <a:schemeClr val="tx2"/>
                </a:solidFill>
              </a:rPr>
              <a:t>“My day” timeline</a:t>
            </a:r>
            <a:endParaRPr lang="en-US" sz="1900" dirty="0"/>
          </a:p>
        </p:txBody>
      </p:sp>
      <p:sp>
        <p:nvSpPr>
          <p:cNvPr id="24" name="Text 18"/>
          <p:cNvSpPr txBox="1"/>
          <p:nvPr/>
        </p:nvSpPr>
        <p:spPr>
          <a:xfrm>
            <a:off x="822960" y="4800600"/>
            <a:ext cx="2966618" cy="822960"/>
          </a:xfrm>
          <a:prstGeom prst="rect">
            <a:avLst/>
          </a:prstGeom>
          <a:noFill/>
          <a:ln/>
        </p:spPr>
        <p:txBody>
          <a:bodyPr wrap="square" lIns="0" tIns="0" rIns="0" bIns="0" rtlCol="0" anchor="t"/>
          <a:lstStyle/>
          <a:p>
            <a:pPr indent="0" marL="0">
              <a:buNone/>
            </a:pPr>
            <a:r>
              <a:rPr lang="en-US" sz="1500" dirty="0">
                <a:solidFill>
                  <a:schemeClr val="tx1"/>
                </a:solidFill>
              </a:rPr>
              <a:t>All signals on one 24-hour view, with a day picker for earlier days.</a:t>
            </a:r>
            <a:endParaRPr lang="en-US" sz="1500" dirty="0"/>
          </a:p>
        </p:txBody>
      </p:sp>
      <p:sp>
        <p:nvSpPr>
          <p:cNvPr id="25" name="phase2-5"/>
          <p:cNvSpPr/>
          <p:nvPr/>
        </p:nvSpPr>
        <p:spPr>
          <a:xfrm>
            <a:off x="4338218" y="3657600"/>
            <a:ext cx="3515258" cy="2057400"/>
          </a:xfrm>
          <a:prstGeom prst="roundRect">
            <a:avLst>
              <a:gd name="adj" fmla="val 4444"/>
            </a:avLst>
          </a:prstGeom>
          <a:solidFill>
            <a:schemeClr val="bg2"/>
          </a:solidFill>
          <a:ln/>
        </p:spPr>
      </p:sp>
      <p:sp>
        <p:nvSpPr>
          <p:cNvPr id="26" name="icon-circle-FaCalendarDay"/>
          <p:cNvSpPr/>
          <p:nvPr/>
        </p:nvSpPr>
        <p:spPr>
          <a:xfrm>
            <a:off x="4612538" y="3931920"/>
            <a:ext cx="685800" cy="685800"/>
          </a:xfrm>
          <a:prstGeom prst="ellipse">
            <a:avLst/>
          </a:prstGeom>
          <a:solidFill>
            <a:schemeClr val="accent1"/>
          </a:solidFill>
          <a:ln/>
        </p:spPr>
      </p:sp>
      <p:pic>
        <p:nvPicPr>
          <p:cNvPr id="27" name="icon-FaCalendarDay" descr="preencoded.png">    </p:cNvPr>
          <p:cNvPicPr>
            <a:picLocks noChangeAspect="1"/>
          </p:cNvPicPr>
          <p:nvPr/>
        </p:nvPicPr>
        <p:blipFill>
          <a:blip r:embed="rId5"/>
          <a:stretch>
            <a:fillRect/>
          </a:stretch>
        </p:blipFill>
        <p:spPr>
          <a:xfrm>
            <a:off x="4777130" y="4096512"/>
            <a:ext cx="356616" cy="356616"/>
          </a:xfrm>
          <a:prstGeom prst="rect">
            <a:avLst/>
          </a:prstGeom>
        </p:spPr>
      </p:pic>
      <p:sp>
        <p:nvSpPr>
          <p:cNvPr id="28" name="Text 21"/>
          <p:cNvSpPr txBox="1"/>
          <p:nvPr/>
        </p:nvSpPr>
        <p:spPr>
          <a:xfrm>
            <a:off x="5481218" y="3931920"/>
            <a:ext cx="2143658" cy="685800"/>
          </a:xfrm>
          <a:prstGeom prst="rect">
            <a:avLst/>
          </a:prstGeom>
          <a:noFill/>
          <a:ln/>
        </p:spPr>
        <p:txBody>
          <a:bodyPr wrap="square" lIns="0" tIns="0" rIns="0" bIns="0" rtlCol="0" anchor="ctr"/>
          <a:lstStyle/>
          <a:p>
            <a:pPr indent="0" marL="0">
              <a:buNone/>
            </a:pPr>
            <a:r>
              <a:rPr lang="en-US" sz="1900" b="1" dirty="0">
                <a:solidFill>
                  <a:schemeClr val="tx2"/>
                </a:solidFill>
              </a:rPr>
              <a:t>Daily summary</a:t>
            </a:r>
            <a:endParaRPr lang="en-US" sz="1900" dirty="0"/>
          </a:p>
        </p:txBody>
      </p:sp>
      <p:sp>
        <p:nvSpPr>
          <p:cNvPr id="29" name="Text 22"/>
          <p:cNvSpPr txBox="1"/>
          <p:nvPr/>
        </p:nvSpPr>
        <p:spPr>
          <a:xfrm>
            <a:off x="4612538" y="4800600"/>
            <a:ext cx="2966618" cy="822960"/>
          </a:xfrm>
          <a:prstGeom prst="rect">
            <a:avLst/>
          </a:prstGeom>
          <a:noFill/>
          <a:ln/>
        </p:spPr>
        <p:txBody>
          <a:bodyPr wrap="square" lIns="0" tIns="0" rIns="0" bIns="0" rtlCol="0" anchor="t"/>
          <a:lstStyle/>
          <a:p>
            <a:pPr indent="0" marL="0">
              <a:buNone/>
            </a:pPr>
            <a:r>
              <a:rPr lang="en-US" sz="1500" dirty="0">
                <a:solidFill>
                  <a:schemeClr val="tx1"/>
                </a:solidFill>
              </a:rPr>
              <a:t>First unlock, unlocks, screen time, top apps, last moved, time per activity.</a:t>
            </a:r>
            <a:endParaRPr lang="en-US" sz="1500" dirty="0"/>
          </a:p>
        </p:txBody>
      </p:sp>
      <p:sp>
        <p:nvSpPr>
          <p:cNvPr id="30" name="phase2-6"/>
          <p:cNvSpPr/>
          <p:nvPr/>
        </p:nvSpPr>
        <p:spPr>
          <a:xfrm>
            <a:off x="8127797" y="3657600"/>
            <a:ext cx="3515258" cy="2057400"/>
          </a:xfrm>
          <a:prstGeom prst="roundRect">
            <a:avLst>
              <a:gd name="adj" fmla="val 4444"/>
            </a:avLst>
          </a:prstGeom>
          <a:solidFill>
            <a:schemeClr val="bg2"/>
          </a:solidFill>
          <a:ln/>
        </p:spPr>
      </p:sp>
      <p:sp>
        <p:nvSpPr>
          <p:cNvPr id="31" name="icon-circle-FaUserCheck"/>
          <p:cNvSpPr/>
          <p:nvPr/>
        </p:nvSpPr>
        <p:spPr>
          <a:xfrm>
            <a:off x="8402117" y="3931920"/>
            <a:ext cx="685800" cy="685800"/>
          </a:xfrm>
          <a:prstGeom prst="ellipse">
            <a:avLst/>
          </a:prstGeom>
          <a:solidFill>
            <a:schemeClr val="accent1"/>
          </a:solidFill>
          <a:ln/>
        </p:spPr>
      </p:sp>
      <p:pic>
        <p:nvPicPr>
          <p:cNvPr id="32" name="icon-FaUserCheck" descr="preencoded.png">    </p:cNvPr>
          <p:cNvPicPr>
            <a:picLocks noChangeAspect="1"/>
          </p:cNvPicPr>
          <p:nvPr/>
        </p:nvPicPr>
        <p:blipFill>
          <a:blip r:embed="rId6"/>
          <a:stretch>
            <a:fillRect/>
          </a:stretch>
        </p:blipFill>
        <p:spPr>
          <a:xfrm>
            <a:off x="8566709" y="4096512"/>
            <a:ext cx="356616" cy="356616"/>
          </a:xfrm>
          <a:prstGeom prst="rect">
            <a:avLst/>
          </a:prstGeom>
        </p:spPr>
      </p:pic>
      <p:sp>
        <p:nvSpPr>
          <p:cNvPr id="33" name="Text 25"/>
          <p:cNvSpPr txBox="1"/>
          <p:nvPr/>
        </p:nvSpPr>
        <p:spPr>
          <a:xfrm>
            <a:off x="9270797" y="3931920"/>
            <a:ext cx="2143658" cy="685800"/>
          </a:xfrm>
          <a:prstGeom prst="rect">
            <a:avLst/>
          </a:prstGeom>
          <a:noFill/>
          <a:ln/>
        </p:spPr>
        <p:txBody>
          <a:bodyPr wrap="square" lIns="0" tIns="0" rIns="0" bIns="0" rtlCol="0" anchor="ctr"/>
          <a:lstStyle/>
          <a:p>
            <a:pPr indent="0" marL="0">
              <a:buNone/>
            </a:pPr>
            <a:r>
              <a:rPr lang="en-US" sz="1900" b="1" dirty="0">
                <a:solidFill>
                  <a:schemeClr val="tx2"/>
                </a:solidFill>
              </a:rPr>
              <a:t>Versioned consent</a:t>
            </a:r>
            <a:endParaRPr lang="en-US" sz="1900" dirty="0"/>
          </a:p>
        </p:txBody>
      </p:sp>
      <p:sp>
        <p:nvSpPr>
          <p:cNvPr id="34" name="Text 26"/>
          <p:cNvSpPr txBox="1"/>
          <p:nvPr/>
        </p:nvSpPr>
        <p:spPr>
          <a:xfrm>
            <a:off x="8402117" y="4800600"/>
            <a:ext cx="2966618" cy="822960"/>
          </a:xfrm>
          <a:prstGeom prst="rect">
            <a:avLst/>
          </a:prstGeom>
          <a:noFill/>
          <a:ln/>
        </p:spPr>
        <p:txBody>
          <a:bodyPr wrap="square" lIns="0" tIns="0" rIns="0" bIns="0" rtlCol="0" anchor="t"/>
          <a:lstStyle/>
          <a:p>
            <a:pPr indent="0" marL="0">
              <a:buNone/>
            </a:pPr>
            <a:r>
              <a:rPr lang="en-US" sz="1500" dirty="0">
                <a:solidFill>
                  <a:schemeClr val="tx1"/>
                </a:solidFill>
              </a:rPr>
              <a:t>Lists every signal and asks again when the list changes.</a:t>
            </a:r>
            <a:endParaRPr lang="en-US" sz="1500" dirty="0"/>
          </a:p>
        </p:txBody>
      </p:sp>
      <p:sp>
        <p:nvSpPr>
          <p:cNvPr id="35" name="Text 27"/>
          <p:cNvSpPr txBox="1"/>
          <p:nvPr/>
        </p:nvSpPr>
        <p:spPr>
          <a:xfrm>
            <a:off x="548640" y="5788152"/>
            <a:ext cx="11094415" cy="457200"/>
          </a:xfrm>
          <a:prstGeom prst="rect">
            <a:avLst/>
          </a:prstGeom>
          <a:noFill/>
          <a:ln/>
        </p:spPr>
        <p:txBody>
          <a:bodyPr wrap="square" lIns="0" tIns="0" rIns="0" bIns="0" rtlCol="0" anchor="t"/>
          <a:lstStyle/>
          <a:p>
            <a:pPr indent="0" marL="0">
              <a:buNone/>
            </a:pPr>
            <a:r>
              <a:rPr lang="en-US" sz="1400" b="1" dirty="0">
                <a:solidFill>
                  <a:schemeClr val="tx2"/>
                </a:solidFill>
              </a:rPr>
              <a:t>Also done: </a:t>
            </a:r>
            <a:pPr indent="0" marL="0">
              <a:buNone/>
            </a:pPr>
            <a:r>
              <a:rPr lang="en-US" sz="1400" dirty="0">
                <a:solidFill>
                  <a:schemeClr val="tx1"/>
                </a:solidFill>
              </a:rPr>
              <a:t>tests for every new collector (115 logic + 59 device tests) and the feature map. App v0.2.0-phase2, tag review-3, on the demo phone since 9 Oct.</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Requirements and design, refined</a:t>
            </a:r>
            <a:endParaRPr lang="en-US" sz="3600" dirty="0"/>
          </a:p>
        </p:txBody>
      </p:sp>
      <p:sp>
        <p:nvSpPr>
          <p:cNvPr id="3" name="Text 1"/>
          <p:cNvSpPr txBox="1"/>
          <p:nvPr/>
        </p:nvSpPr>
        <p:spPr>
          <a:xfrm>
            <a:off x="548640" y="1280160"/>
            <a:ext cx="5669280" cy="365760"/>
          </a:xfrm>
          <a:prstGeom prst="rect">
            <a:avLst/>
          </a:prstGeom>
          <a:noFill/>
          <a:ln/>
        </p:spPr>
        <p:txBody>
          <a:bodyPr wrap="square" lIns="0" tIns="0" rIns="0" bIns="0" rtlCol="0" anchor="t"/>
          <a:lstStyle/>
          <a:p>
            <a:pPr indent="0" marL="0">
              <a:buNone/>
            </a:pPr>
            <a:r>
              <a:rPr lang="en-US" sz="1900" b="1" dirty="0">
                <a:solidFill>
                  <a:schemeClr val="tx2"/>
                </a:solidFill>
              </a:rPr>
              <a:t>Requirements added or refined</a:t>
            </a:r>
            <a:endParaRPr lang="en-US" sz="1900" dirty="0"/>
          </a:p>
        </p:txBody>
      </p:sp>
      <p:sp>
        <p:nvSpPr>
          <p:cNvPr id="4" name="req-FR-2.7"/>
          <p:cNvSpPr/>
          <p:nvPr/>
        </p:nvSpPr>
        <p:spPr>
          <a:xfrm>
            <a:off x="548640" y="1783080"/>
            <a:ext cx="5669280" cy="822960"/>
          </a:xfrm>
          <a:prstGeom prst="roundRect">
            <a:avLst>
              <a:gd name="adj" fmla="val 11111"/>
            </a:avLst>
          </a:prstGeom>
          <a:solidFill>
            <a:schemeClr val="bg2"/>
          </a:solidFill>
          <a:ln/>
        </p:spPr>
      </p:sp>
      <p:sp>
        <p:nvSpPr>
          <p:cNvPr id="5" name="Text 3"/>
          <p:cNvSpPr txBox="1"/>
          <p:nvPr/>
        </p:nvSpPr>
        <p:spPr>
          <a:xfrm>
            <a:off x="777240" y="1874520"/>
            <a:ext cx="1097280" cy="320040"/>
          </a:xfrm>
          <a:prstGeom prst="rect">
            <a:avLst/>
          </a:prstGeom>
          <a:noFill/>
          <a:ln/>
        </p:spPr>
        <p:txBody>
          <a:bodyPr wrap="square" lIns="0" tIns="0" rIns="0" bIns="0" rtlCol="0" anchor="t"/>
          <a:lstStyle/>
          <a:p>
            <a:pPr indent="0" marL="0">
              <a:buNone/>
            </a:pPr>
            <a:r>
              <a:rPr lang="en-US" sz="1600" b="1" dirty="0">
                <a:solidFill>
                  <a:schemeClr val="tx2"/>
                </a:solidFill>
              </a:rPr>
              <a:t>FR-2.7</a:t>
            </a:r>
            <a:endParaRPr lang="en-US" sz="1600" dirty="0"/>
          </a:p>
        </p:txBody>
      </p:sp>
      <p:sp>
        <p:nvSpPr>
          <p:cNvPr id="6" name="chip-New"/>
          <p:cNvSpPr/>
          <p:nvPr/>
        </p:nvSpPr>
        <p:spPr>
          <a:xfrm>
            <a:off x="731520" y="2212848"/>
            <a:ext cx="914400" cy="329184"/>
          </a:xfrm>
          <a:prstGeom prst="roundRect">
            <a:avLst>
              <a:gd name="adj" fmla="val 50000"/>
            </a:avLst>
          </a:prstGeom>
          <a:solidFill>
            <a:schemeClr val="accent2"/>
          </a:solidFill>
          <a:ln/>
        </p:spPr>
      </p:sp>
      <p:sp>
        <p:nvSpPr>
          <p:cNvPr id="7" name="Text 5"/>
          <p:cNvSpPr txBox="1"/>
          <p:nvPr/>
        </p:nvSpPr>
        <p:spPr>
          <a:xfrm>
            <a:off x="731520" y="2212848"/>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New</a:t>
            </a:r>
            <a:endParaRPr lang="en-US" sz="1200" dirty="0"/>
          </a:p>
        </p:txBody>
      </p:sp>
      <p:sp>
        <p:nvSpPr>
          <p:cNvPr id="8" name="Text 6"/>
          <p:cNvSpPr txBox="1"/>
          <p:nvPr/>
        </p:nvSpPr>
        <p:spPr>
          <a:xfrm>
            <a:off x="1920240" y="1856232"/>
            <a:ext cx="4160520" cy="694944"/>
          </a:xfrm>
          <a:prstGeom prst="rect">
            <a:avLst/>
          </a:prstGeom>
          <a:noFill/>
          <a:ln/>
        </p:spPr>
        <p:txBody>
          <a:bodyPr wrap="square" lIns="0" tIns="0" rIns="0" bIns="0" rtlCol="0" anchor="ctr"/>
          <a:lstStyle/>
          <a:p>
            <a:pPr indent="0" marL="0">
              <a:buNone/>
            </a:pPr>
            <a:r>
              <a:rPr lang="en-US" sz="1400" dirty="0">
                <a:solidFill>
                  <a:schemeClr val="tx1"/>
                </a:solidFill>
              </a:rPr>
              <a:t>Last moved: only the time is stored. No step counting, not fall detection.</a:t>
            </a:r>
            <a:endParaRPr lang="en-US" sz="1400" dirty="0"/>
          </a:p>
        </p:txBody>
      </p:sp>
      <p:sp>
        <p:nvSpPr>
          <p:cNvPr id="9" name="req-FR-2.8"/>
          <p:cNvSpPr/>
          <p:nvPr/>
        </p:nvSpPr>
        <p:spPr>
          <a:xfrm>
            <a:off x="548640" y="2743200"/>
            <a:ext cx="5669280" cy="822960"/>
          </a:xfrm>
          <a:prstGeom prst="roundRect">
            <a:avLst>
              <a:gd name="adj" fmla="val 11111"/>
            </a:avLst>
          </a:prstGeom>
          <a:solidFill>
            <a:schemeClr val="bg2"/>
          </a:solidFill>
          <a:ln/>
        </p:spPr>
      </p:sp>
      <p:sp>
        <p:nvSpPr>
          <p:cNvPr id="10" name="Text 8"/>
          <p:cNvSpPr txBox="1"/>
          <p:nvPr/>
        </p:nvSpPr>
        <p:spPr>
          <a:xfrm>
            <a:off x="777240" y="2834640"/>
            <a:ext cx="1097280" cy="320040"/>
          </a:xfrm>
          <a:prstGeom prst="rect">
            <a:avLst/>
          </a:prstGeom>
          <a:noFill/>
          <a:ln/>
        </p:spPr>
        <p:txBody>
          <a:bodyPr wrap="square" lIns="0" tIns="0" rIns="0" bIns="0" rtlCol="0" anchor="t"/>
          <a:lstStyle/>
          <a:p>
            <a:pPr indent="0" marL="0">
              <a:buNone/>
            </a:pPr>
            <a:r>
              <a:rPr lang="en-US" sz="1600" b="1" dirty="0">
                <a:solidFill>
                  <a:schemeClr val="tx2"/>
                </a:solidFill>
              </a:rPr>
              <a:t>FR-2.8</a:t>
            </a:r>
            <a:endParaRPr lang="en-US" sz="1600" dirty="0"/>
          </a:p>
        </p:txBody>
      </p:sp>
      <p:sp>
        <p:nvSpPr>
          <p:cNvPr id="11" name="chip-New"/>
          <p:cNvSpPr/>
          <p:nvPr/>
        </p:nvSpPr>
        <p:spPr>
          <a:xfrm>
            <a:off x="731520" y="3172968"/>
            <a:ext cx="914400" cy="329184"/>
          </a:xfrm>
          <a:prstGeom prst="roundRect">
            <a:avLst>
              <a:gd name="adj" fmla="val 50000"/>
            </a:avLst>
          </a:prstGeom>
          <a:solidFill>
            <a:schemeClr val="accent2"/>
          </a:solidFill>
          <a:ln/>
        </p:spPr>
      </p:sp>
      <p:sp>
        <p:nvSpPr>
          <p:cNvPr id="12" name="Text 10"/>
          <p:cNvSpPr txBox="1"/>
          <p:nvPr/>
        </p:nvSpPr>
        <p:spPr>
          <a:xfrm>
            <a:off x="731520" y="3172968"/>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New</a:t>
            </a:r>
            <a:endParaRPr lang="en-US" sz="1200" dirty="0"/>
          </a:p>
        </p:txBody>
      </p:sp>
      <p:sp>
        <p:nvSpPr>
          <p:cNvPr id="13" name="Text 11"/>
          <p:cNvSpPr txBox="1"/>
          <p:nvPr/>
        </p:nvSpPr>
        <p:spPr>
          <a:xfrm>
            <a:off x="1920240" y="2816352"/>
            <a:ext cx="4160520" cy="694944"/>
          </a:xfrm>
          <a:prstGeom prst="rect">
            <a:avLst/>
          </a:prstGeom>
          <a:noFill/>
          <a:ln/>
        </p:spPr>
        <p:txBody>
          <a:bodyPr wrap="square" lIns="0" tIns="0" rIns="0" bIns="0" rtlCol="0" anchor="ctr"/>
          <a:lstStyle/>
          <a:p>
            <a:pPr indent="0" marL="0">
              <a:buNone/>
            </a:pPr>
            <a:r>
              <a:rPr lang="en-US" sz="1400" dirty="0">
                <a:solidFill>
                  <a:schemeClr val="tx1"/>
                </a:solidFill>
              </a:rPr>
              <a:t>Charging and call activity, counts and times only. Planned for Phase 3.</a:t>
            </a:r>
            <a:endParaRPr lang="en-US" sz="1400" dirty="0"/>
          </a:p>
        </p:txBody>
      </p:sp>
      <p:sp>
        <p:nvSpPr>
          <p:cNvPr id="14" name="req-FR-2.5"/>
          <p:cNvSpPr/>
          <p:nvPr/>
        </p:nvSpPr>
        <p:spPr>
          <a:xfrm>
            <a:off x="548640" y="3703320"/>
            <a:ext cx="5669280" cy="822960"/>
          </a:xfrm>
          <a:prstGeom prst="roundRect">
            <a:avLst>
              <a:gd name="adj" fmla="val 11111"/>
            </a:avLst>
          </a:prstGeom>
          <a:solidFill>
            <a:schemeClr val="bg2"/>
          </a:solidFill>
          <a:ln/>
        </p:spPr>
      </p:sp>
      <p:sp>
        <p:nvSpPr>
          <p:cNvPr id="15" name="Text 13"/>
          <p:cNvSpPr txBox="1"/>
          <p:nvPr/>
        </p:nvSpPr>
        <p:spPr>
          <a:xfrm>
            <a:off x="777240" y="3794760"/>
            <a:ext cx="1097280" cy="320040"/>
          </a:xfrm>
          <a:prstGeom prst="rect">
            <a:avLst/>
          </a:prstGeom>
          <a:noFill/>
          <a:ln/>
        </p:spPr>
        <p:txBody>
          <a:bodyPr wrap="square" lIns="0" tIns="0" rIns="0" bIns="0" rtlCol="0" anchor="t"/>
          <a:lstStyle/>
          <a:p>
            <a:pPr indent="0" marL="0">
              <a:buNone/>
            </a:pPr>
            <a:r>
              <a:rPr lang="en-US" sz="1600" b="1" dirty="0">
                <a:solidFill>
                  <a:schemeClr val="tx2"/>
                </a:solidFill>
              </a:rPr>
              <a:t>FR-2.5</a:t>
            </a:r>
            <a:endParaRPr lang="en-US" sz="1600" dirty="0"/>
          </a:p>
        </p:txBody>
      </p:sp>
      <p:sp>
        <p:nvSpPr>
          <p:cNvPr id="16" name="chip-Refined"/>
          <p:cNvSpPr/>
          <p:nvPr/>
        </p:nvSpPr>
        <p:spPr>
          <a:xfrm>
            <a:off x="731520" y="4133088"/>
            <a:ext cx="914400" cy="329184"/>
          </a:xfrm>
          <a:prstGeom prst="roundRect">
            <a:avLst>
              <a:gd name="adj" fmla="val 50000"/>
            </a:avLst>
          </a:prstGeom>
          <a:solidFill>
            <a:schemeClr val="accent1"/>
          </a:solidFill>
          <a:ln/>
        </p:spPr>
      </p:sp>
      <p:sp>
        <p:nvSpPr>
          <p:cNvPr id="17" name="Text 15"/>
          <p:cNvSpPr txBox="1"/>
          <p:nvPr/>
        </p:nvSpPr>
        <p:spPr>
          <a:xfrm>
            <a:off x="731520" y="4133088"/>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Refined</a:t>
            </a:r>
            <a:endParaRPr lang="en-US" sz="1200" dirty="0"/>
          </a:p>
        </p:txBody>
      </p:sp>
      <p:sp>
        <p:nvSpPr>
          <p:cNvPr id="18" name="Text 16"/>
          <p:cNvSpPr txBox="1"/>
          <p:nvPr/>
        </p:nvSpPr>
        <p:spPr>
          <a:xfrm>
            <a:off x="1920240" y="3776472"/>
            <a:ext cx="4160520" cy="694944"/>
          </a:xfrm>
          <a:prstGeom prst="rect">
            <a:avLst/>
          </a:prstGeom>
          <a:noFill/>
          <a:ln/>
        </p:spPr>
        <p:txBody>
          <a:bodyPr wrap="square" lIns="0" tIns="0" rIns="0" bIns="0" rtlCol="0" anchor="ctr"/>
          <a:lstStyle/>
          <a:p>
            <a:pPr indent="0" marL="0">
              <a:buNone/>
            </a:pPr>
            <a:r>
              <a:rPr lang="en-US" sz="1400" dirty="0">
                <a:solidFill>
                  <a:schemeClr val="tx1"/>
                </a:solidFill>
              </a:rPr>
              <a:t>The elder sees what is collected: summary and timeline come first.</a:t>
            </a:r>
            <a:endParaRPr lang="en-US" sz="1400" dirty="0"/>
          </a:p>
        </p:txBody>
      </p:sp>
      <p:sp>
        <p:nvSpPr>
          <p:cNvPr id="19" name="req-FR-7.1"/>
          <p:cNvSpPr/>
          <p:nvPr/>
        </p:nvSpPr>
        <p:spPr>
          <a:xfrm>
            <a:off x="548640" y="4663440"/>
            <a:ext cx="5669280" cy="822960"/>
          </a:xfrm>
          <a:prstGeom prst="roundRect">
            <a:avLst>
              <a:gd name="adj" fmla="val 11111"/>
            </a:avLst>
          </a:prstGeom>
          <a:solidFill>
            <a:schemeClr val="bg2"/>
          </a:solidFill>
          <a:ln/>
        </p:spPr>
      </p:sp>
      <p:sp>
        <p:nvSpPr>
          <p:cNvPr id="20" name="Text 18"/>
          <p:cNvSpPr txBox="1"/>
          <p:nvPr/>
        </p:nvSpPr>
        <p:spPr>
          <a:xfrm>
            <a:off x="777240" y="4754880"/>
            <a:ext cx="1097280" cy="320040"/>
          </a:xfrm>
          <a:prstGeom prst="rect">
            <a:avLst/>
          </a:prstGeom>
          <a:noFill/>
          <a:ln/>
        </p:spPr>
        <p:txBody>
          <a:bodyPr wrap="square" lIns="0" tIns="0" rIns="0" bIns="0" rtlCol="0" anchor="t"/>
          <a:lstStyle/>
          <a:p>
            <a:pPr indent="0" marL="0">
              <a:buNone/>
            </a:pPr>
            <a:r>
              <a:rPr lang="en-US" sz="1600" b="1" dirty="0">
                <a:solidFill>
                  <a:schemeClr val="tx2"/>
                </a:solidFill>
              </a:rPr>
              <a:t>FR-7.1</a:t>
            </a:r>
            <a:endParaRPr lang="en-US" sz="1600" dirty="0"/>
          </a:p>
        </p:txBody>
      </p:sp>
      <p:sp>
        <p:nvSpPr>
          <p:cNvPr id="21" name="chip-Refined"/>
          <p:cNvSpPr/>
          <p:nvPr/>
        </p:nvSpPr>
        <p:spPr>
          <a:xfrm>
            <a:off x="731520" y="5093208"/>
            <a:ext cx="914400" cy="329184"/>
          </a:xfrm>
          <a:prstGeom prst="roundRect">
            <a:avLst>
              <a:gd name="adj" fmla="val 50000"/>
            </a:avLst>
          </a:prstGeom>
          <a:solidFill>
            <a:schemeClr val="accent1"/>
          </a:solidFill>
          <a:ln/>
        </p:spPr>
      </p:sp>
      <p:sp>
        <p:nvSpPr>
          <p:cNvPr id="22" name="Text 20"/>
          <p:cNvSpPr txBox="1"/>
          <p:nvPr/>
        </p:nvSpPr>
        <p:spPr>
          <a:xfrm>
            <a:off x="731520" y="5093208"/>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Refined</a:t>
            </a:r>
            <a:endParaRPr lang="en-US" sz="1200" dirty="0"/>
          </a:p>
        </p:txBody>
      </p:sp>
      <p:sp>
        <p:nvSpPr>
          <p:cNvPr id="23" name="Text 21"/>
          <p:cNvSpPr txBox="1"/>
          <p:nvPr/>
        </p:nvSpPr>
        <p:spPr>
          <a:xfrm>
            <a:off x="1920240" y="4736592"/>
            <a:ext cx="4160520" cy="694944"/>
          </a:xfrm>
          <a:prstGeom prst="rect">
            <a:avLst/>
          </a:prstGeom>
          <a:noFill/>
          <a:ln/>
        </p:spPr>
        <p:txBody>
          <a:bodyPr wrap="square" lIns="0" tIns="0" rIns="0" bIns="0" rtlCol="0" anchor="ctr"/>
          <a:lstStyle/>
          <a:p>
            <a:pPr indent="0" marL="0">
              <a:buNone/>
            </a:pPr>
            <a:r>
              <a:rPr lang="en-US" sz="1400" dirty="0">
                <a:solidFill>
                  <a:schemeClr val="tx1"/>
                </a:solidFill>
              </a:rPr>
              <a:t>Consent has a version; the elder is asked again when signals change.</a:t>
            </a:r>
            <a:endParaRPr lang="en-US" sz="1400" dirty="0"/>
          </a:p>
        </p:txBody>
      </p:sp>
      <p:sp>
        <p:nvSpPr>
          <p:cNvPr id="24" name="Text 22"/>
          <p:cNvSpPr txBox="1"/>
          <p:nvPr/>
        </p:nvSpPr>
        <p:spPr>
          <a:xfrm>
            <a:off x="548640" y="5669280"/>
            <a:ext cx="5669280" cy="502920"/>
          </a:xfrm>
          <a:prstGeom prst="rect">
            <a:avLst/>
          </a:prstGeom>
          <a:noFill/>
          <a:ln/>
        </p:spPr>
        <p:txBody>
          <a:bodyPr wrap="square" lIns="0" tIns="0" rIns="0" bIns="0" rtlCol="0" anchor="t"/>
          <a:lstStyle/>
          <a:p>
            <a:pPr indent="0" marL="0">
              <a:buNone/>
            </a:pPr>
            <a:r>
              <a:rPr lang="en-US" sz="1300" i="1" dirty="0">
                <a:solidFill>
                  <a:schemeClr val="accent4"/>
                </a:solidFill>
              </a:rPr>
              <a:t>Every requirement is tracked to its phase, commit and status in a traceability matrix.</a:t>
            </a:r>
            <a:endParaRPr lang="en-US" sz="1300" dirty="0"/>
          </a:p>
        </p:txBody>
      </p:sp>
      <p:sp>
        <p:nvSpPr>
          <p:cNvPr id="25" name="Text 23"/>
          <p:cNvSpPr txBox="1"/>
          <p:nvPr/>
        </p:nvSpPr>
        <p:spPr>
          <a:xfrm>
            <a:off x="6675120" y="1280160"/>
            <a:ext cx="4967935" cy="365760"/>
          </a:xfrm>
          <a:prstGeom prst="rect">
            <a:avLst/>
          </a:prstGeom>
          <a:noFill/>
          <a:ln/>
        </p:spPr>
        <p:txBody>
          <a:bodyPr wrap="square" lIns="0" tIns="0" rIns="0" bIns="0" rtlCol="0" anchor="t"/>
          <a:lstStyle/>
          <a:p>
            <a:pPr indent="0" marL="0">
              <a:buNone/>
            </a:pPr>
            <a:r>
              <a:rPr lang="en-US" sz="1900" b="1" dirty="0">
                <a:solidFill>
                  <a:schemeClr val="tx2"/>
                </a:solidFill>
              </a:rPr>
              <a:t>On-phone database: 1 table to 4</a:t>
            </a:r>
            <a:endParaRPr lang="en-US" sz="1900" dirty="0"/>
          </a:p>
        </p:txBody>
      </p:sp>
      <p:sp>
        <p:nvSpPr>
          <p:cNvPr id="26" name="table-v1"/>
          <p:cNvSpPr/>
          <p:nvPr/>
        </p:nvSpPr>
        <p:spPr>
          <a:xfrm>
            <a:off x="6675120" y="1783080"/>
            <a:ext cx="4967935" cy="731520"/>
          </a:xfrm>
          <a:prstGeom prst="roundRect">
            <a:avLst>
              <a:gd name="adj" fmla="val 12500"/>
            </a:avLst>
          </a:prstGeom>
          <a:solidFill>
            <a:schemeClr val="bg2"/>
          </a:solidFill>
          <a:ln/>
        </p:spPr>
      </p:sp>
      <p:sp>
        <p:nvSpPr>
          <p:cNvPr id="27" name="version-v1"/>
          <p:cNvSpPr/>
          <p:nvPr/>
        </p:nvSpPr>
        <p:spPr>
          <a:xfrm>
            <a:off x="6812280" y="1874520"/>
            <a:ext cx="548640" cy="548640"/>
          </a:xfrm>
          <a:prstGeom prst="ellipse">
            <a:avLst/>
          </a:prstGeom>
          <a:solidFill>
            <a:schemeClr val="accent5"/>
          </a:solidFill>
          <a:ln/>
        </p:spPr>
      </p:sp>
      <p:sp>
        <p:nvSpPr>
          <p:cNvPr id="28" name="Text 26"/>
          <p:cNvSpPr txBox="1"/>
          <p:nvPr/>
        </p:nvSpPr>
        <p:spPr>
          <a:xfrm>
            <a:off x="6812280" y="18745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v1</a:t>
            </a:r>
            <a:endParaRPr lang="en-US" sz="1400" dirty="0"/>
          </a:p>
        </p:txBody>
      </p:sp>
      <p:sp>
        <p:nvSpPr>
          <p:cNvPr id="29" name="Text 27"/>
          <p:cNvSpPr txBox="1"/>
          <p:nvPr/>
        </p:nvSpPr>
        <p:spPr>
          <a:xfrm>
            <a:off x="7543800" y="1837944"/>
            <a:ext cx="3962095" cy="640080"/>
          </a:xfrm>
          <a:prstGeom prst="rect">
            <a:avLst/>
          </a:prstGeom>
          <a:noFill/>
          <a:ln/>
        </p:spPr>
        <p:txBody>
          <a:bodyPr wrap="square" lIns="0" tIns="0" rIns="0" bIns="0" rtlCol="0" anchor="ctr"/>
          <a:lstStyle/>
          <a:p>
            <a:pPr indent="0" marL="0">
              <a:buNone/>
            </a:pPr>
            <a:r>
              <a:rPr lang="en-US" sz="1400" b="1" dirty="0">
                <a:solidFill>
                  <a:schemeClr val="tx2"/>
                </a:solidFill>
              </a:rPr>
              <a:t>unlock_events</a:t>
            </a:r>
            <a:endParaRPr lang="en-US" sz="1400" dirty="0"/>
          </a:p>
          <a:p>
            <a:pPr indent="0" marL="0">
              <a:buNone/>
            </a:pPr>
            <a:r>
              <a:rPr lang="en-US" sz="1300" dirty="0">
                <a:solidFill>
                  <a:schemeClr val="tx1"/>
                </a:solidFill>
              </a:rPr>
              <a:t>Unlock, screen on and off times (Phase 1)</a:t>
            </a:r>
            <a:endParaRPr lang="en-US" sz="1400" dirty="0"/>
          </a:p>
        </p:txBody>
      </p:sp>
      <p:sp>
        <p:nvSpPr>
          <p:cNvPr id="30" name="table-v2"/>
          <p:cNvSpPr/>
          <p:nvPr/>
        </p:nvSpPr>
        <p:spPr>
          <a:xfrm>
            <a:off x="6675120" y="2651760"/>
            <a:ext cx="4967935" cy="731520"/>
          </a:xfrm>
          <a:prstGeom prst="roundRect">
            <a:avLst>
              <a:gd name="adj" fmla="val 12500"/>
            </a:avLst>
          </a:prstGeom>
          <a:solidFill>
            <a:schemeClr val="bg2"/>
          </a:solidFill>
          <a:ln/>
        </p:spPr>
      </p:sp>
      <p:sp>
        <p:nvSpPr>
          <p:cNvPr id="31" name="version-v2"/>
          <p:cNvSpPr/>
          <p:nvPr/>
        </p:nvSpPr>
        <p:spPr>
          <a:xfrm>
            <a:off x="6812280" y="2743200"/>
            <a:ext cx="548640" cy="548640"/>
          </a:xfrm>
          <a:prstGeom prst="ellipse">
            <a:avLst/>
          </a:prstGeom>
          <a:solidFill>
            <a:schemeClr val="accent5"/>
          </a:solidFill>
          <a:ln/>
        </p:spPr>
      </p:sp>
      <p:sp>
        <p:nvSpPr>
          <p:cNvPr id="32" name="Text 30"/>
          <p:cNvSpPr txBox="1"/>
          <p:nvPr/>
        </p:nvSpPr>
        <p:spPr>
          <a:xfrm>
            <a:off x="6812280" y="274320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v2</a:t>
            </a:r>
            <a:endParaRPr lang="en-US" sz="1400" dirty="0"/>
          </a:p>
        </p:txBody>
      </p:sp>
      <p:sp>
        <p:nvSpPr>
          <p:cNvPr id="33" name="Text 31"/>
          <p:cNvSpPr txBox="1"/>
          <p:nvPr/>
        </p:nvSpPr>
        <p:spPr>
          <a:xfrm>
            <a:off x="7543800" y="2706624"/>
            <a:ext cx="3962095" cy="640080"/>
          </a:xfrm>
          <a:prstGeom prst="rect">
            <a:avLst/>
          </a:prstGeom>
          <a:noFill/>
          <a:ln/>
        </p:spPr>
        <p:txBody>
          <a:bodyPr wrap="square" lIns="0" tIns="0" rIns="0" bIns="0" rtlCol="0" anchor="ctr"/>
          <a:lstStyle/>
          <a:p>
            <a:pPr indent="0" marL="0">
              <a:buNone/>
            </a:pPr>
            <a:r>
              <a:rPr lang="en-US" sz="1400" b="1" dirty="0">
                <a:solidFill>
                  <a:schemeClr val="tx2"/>
                </a:solidFill>
              </a:rPr>
              <a:t>app_usage_intervals</a:t>
            </a:r>
            <a:endParaRPr lang="en-US" sz="1400" dirty="0"/>
          </a:p>
          <a:p>
            <a:pPr indent="0" marL="0">
              <a:buNone/>
            </a:pPr>
            <a:r>
              <a:rPr lang="en-US" sz="1300" dirty="0">
                <a:solidFill>
                  <a:schemeClr val="tx1"/>
                </a:solidFill>
              </a:rPr>
              <a:t>App, start, end</a:t>
            </a:r>
            <a:endParaRPr lang="en-US" sz="1400" dirty="0"/>
          </a:p>
        </p:txBody>
      </p:sp>
      <p:sp>
        <p:nvSpPr>
          <p:cNvPr id="34" name="table-v3"/>
          <p:cNvSpPr/>
          <p:nvPr/>
        </p:nvSpPr>
        <p:spPr>
          <a:xfrm>
            <a:off x="6675120" y="3520440"/>
            <a:ext cx="4967935" cy="731520"/>
          </a:xfrm>
          <a:prstGeom prst="roundRect">
            <a:avLst>
              <a:gd name="adj" fmla="val 12500"/>
            </a:avLst>
          </a:prstGeom>
          <a:solidFill>
            <a:schemeClr val="bg2"/>
          </a:solidFill>
          <a:ln/>
        </p:spPr>
      </p:sp>
      <p:sp>
        <p:nvSpPr>
          <p:cNvPr id="35" name="version-v3"/>
          <p:cNvSpPr/>
          <p:nvPr/>
        </p:nvSpPr>
        <p:spPr>
          <a:xfrm>
            <a:off x="6812280" y="3611880"/>
            <a:ext cx="548640" cy="548640"/>
          </a:xfrm>
          <a:prstGeom prst="ellipse">
            <a:avLst/>
          </a:prstGeom>
          <a:solidFill>
            <a:schemeClr val="accent5"/>
          </a:solidFill>
          <a:ln/>
        </p:spPr>
      </p:sp>
      <p:sp>
        <p:nvSpPr>
          <p:cNvPr id="36" name="Text 34"/>
          <p:cNvSpPr txBox="1"/>
          <p:nvPr/>
        </p:nvSpPr>
        <p:spPr>
          <a:xfrm>
            <a:off x="6812280" y="36118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v3</a:t>
            </a:r>
            <a:endParaRPr lang="en-US" sz="1400" dirty="0"/>
          </a:p>
        </p:txBody>
      </p:sp>
      <p:sp>
        <p:nvSpPr>
          <p:cNvPr id="37" name="Text 35"/>
          <p:cNvSpPr txBox="1"/>
          <p:nvPr/>
        </p:nvSpPr>
        <p:spPr>
          <a:xfrm>
            <a:off x="7543800" y="3575304"/>
            <a:ext cx="3962095" cy="640080"/>
          </a:xfrm>
          <a:prstGeom prst="rect">
            <a:avLst/>
          </a:prstGeom>
          <a:noFill/>
          <a:ln/>
        </p:spPr>
        <p:txBody>
          <a:bodyPr wrap="square" lIns="0" tIns="0" rIns="0" bIns="0" rtlCol="0" anchor="ctr"/>
          <a:lstStyle/>
          <a:p>
            <a:pPr indent="0" marL="0">
              <a:buNone/>
            </a:pPr>
            <a:r>
              <a:rPr lang="en-US" sz="1400" b="1" dirty="0">
                <a:solidFill>
                  <a:schemeClr val="tx2"/>
                </a:solidFill>
              </a:rPr>
              <a:t>movement_events</a:t>
            </a:r>
            <a:endParaRPr lang="en-US" sz="1400" dirty="0"/>
          </a:p>
          <a:p>
            <a:pPr indent="0" marL="0">
              <a:buNone/>
            </a:pPr>
            <a:r>
              <a:rPr lang="en-US" sz="1300" dirty="0">
                <a:solidFill>
                  <a:schemeClr val="tx1"/>
                </a:solidFill>
              </a:rPr>
              <a:t>Time only</a:t>
            </a:r>
            <a:endParaRPr lang="en-US" sz="1400" dirty="0"/>
          </a:p>
        </p:txBody>
      </p:sp>
      <p:sp>
        <p:nvSpPr>
          <p:cNvPr id="38" name="table-v4"/>
          <p:cNvSpPr/>
          <p:nvPr/>
        </p:nvSpPr>
        <p:spPr>
          <a:xfrm>
            <a:off x="6675120" y="4389120"/>
            <a:ext cx="4967935" cy="731520"/>
          </a:xfrm>
          <a:prstGeom prst="roundRect">
            <a:avLst>
              <a:gd name="adj" fmla="val 12500"/>
            </a:avLst>
          </a:prstGeom>
          <a:solidFill>
            <a:schemeClr val="bg2"/>
          </a:solidFill>
          <a:ln/>
        </p:spPr>
      </p:sp>
      <p:sp>
        <p:nvSpPr>
          <p:cNvPr id="39" name="version-v4"/>
          <p:cNvSpPr/>
          <p:nvPr/>
        </p:nvSpPr>
        <p:spPr>
          <a:xfrm>
            <a:off x="6812280" y="4480560"/>
            <a:ext cx="548640" cy="548640"/>
          </a:xfrm>
          <a:prstGeom prst="ellipse">
            <a:avLst/>
          </a:prstGeom>
          <a:solidFill>
            <a:schemeClr val="accent5"/>
          </a:solidFill>
          <a:ln/>
        </p:spPr>
      </p:sp>
      <p:sp>
        <p:nvSpPr>
          <p:cNvPr id="40" name="Text 38"/>
          <p:cNvSpPr txBox="1"/>
          <p:nvPr/>
        </p:nvSpPr>
        <p:spPr>
          <a:xfrm>
            <a:off x="6812280" y="448056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v4</a:t>
            </a:r>
            <a:endParaRPr lang="en-US" sz="1400" dirty="0"/>
          </a:p>
        </p:txBody>
      </p:sp>
      <p:sp>
        <p:nvSpPr>
          <p:cNvPr id="41" name="Text 39"/>
          <p:cNvSpPr txBox="1"/>
          <p:nvPr/>
        </p:nvSpPr>
        <p:spPr>
          <a:xfrm>
            <a:off x="7543800" y="4443984"/>
            <a:ext cx="3962095" cy="640080"/>
          </a:xfrm>
          <a:prstGeom prst="rect">
            <a:avLst/>
          </a:prstGeom>
          <a:noFill/>
          <a:ln/>
        </p:spPr>
        <p:txBody>
          <a:bodyPr wrap="square" lIns="0" tIns="0" rIns="0" bIns="0" rtlCol="0" anchor="ctr"/>
          <a:lstStyle/>
          <a:p>
            <a:pPr indent="0" marL="0">
              <a:buNone/>
            </a:pPr>
            <a:r>
              <a:rPr lang="en-US" sz="1400" b="1" dirty="0">
                <a:solidFill>
                  <a:schemeClr val="tx2"/>
                </a:solidFill>
              </a:rPr>
              <a:t>activity_transitions</a:t>
            </a:r>
            <a:endParaRPr lang="en-US" sz="1400" dirty="0"/>
          </a:p>
          <a:p>
            <a:pPr indent="0" marL="0">
              <a:buNone/>
            </a:pPr>
            <a:r>
              <a:rPr lang="en-US" sz="1300" dirty="0">
                <a:solidFill>
                  <a:schemeClr val="tx1"/>
                </a:solidFill>
              </a:rPr>
              <a:t>Still / walking / vehicle, start and end</a:t>
            </a:r>
            <a:endParaRPr lang="en-US" sz="1400" dirty="0"/>
          </a:p>
        </p:txBody>
      </p:sp>
      <p:sp>
        <p:nvSpPr>
          <p:cNvPr id="42" name="design-notes"/>
          <p:cNvSpPr/>
          <p:nvPr/>
        </p:nvSpPr>
        <p:spPr>
          <a:xfrm>
            <a:off x="6675120" y="5303520"/>
            <a:ext cx="4967935" cy="868680"/>
          </a:xfrm>
          <a:prstGeom prst="roundRect">
            <a:avLst>
              <a:gd name="adj" fmla="val 10526"/>
            </a:avLst>
          </a:prstGeom>
          <a:solidFill>
            <a:schemeClr val="tx2"/>
          </a:solidFill>
          <a:ln/>
        </p:spPr>
      </p:sp>
      <p:sp>
        <p:nvSpPr>
          <p:cNvPr id="43" name="Text 41"/>
          <p:cNvSpPr txBox="1"/>
          <p:nvPr/>
        </p:nvSpPr>
        <p:spPr>
          <a:xfrm>
            <a:off x="6903720" y="5349240"/>
            <a:ext cx="4510735" cy="777240"/>
          </a:xfrm>
          <a:prstGeom prst="rect">
            <a:avLst/>
          </a:prstGeom>
          <a:noFill/>
          <a:ln/>
        </p:spPr>
        <p:txBody>
          <a:bodyPr wrap="square" lIns="0" tIns="0" rIns="0" bIns="0" rtlCol="0" anchor="ctr"/>
          <a:lstStyle/>
          <a:p>
            <a:pPr indent="0" marL="0">
              <a:buNone/>
            </a:pPr>
            <a:r>
              <a:rPr lang="en-US" sz="1300" dirty="0">
                <a:solidFill>
                  <a:schemeClr val="bg1"/>
                </a:solidFill>
              </a:rPr>
              <a:t>Each upgrade is a real migration that kept the demo phone's data. Summary and timeline only read these tables. The server still has no table for raw activity.</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Components we chose, and why</a:t>
            </a:r>
            <a:endParaRPr lang="en-US" sz="3600" dirty="0"/>
          </a:p>
        </p:txBody>
      </p:sp>
      <p:sp>
        <p:nvSpPr>
          <p:cNvPr id="3" name="components-Android app"/>
          <p:cNvSpPr/>
          <p:nvPr/>
        </p:nvSpPr>
        <p:spPr>
          <a:xfrm>
            <a:off x="548640" y="1280160"/>
            <a:ext cx="5410048" cy="4526280"/>
          </a:xfrm>
          <a:prstGeom prst="roundRect">
            <a:avLst>
              <a:gd name="adj" fmla="val 2020"/>
            </a:avLst>
          </a:prstGeom>
          <a:solidFill>
            <a:schemeClr val="bg2"/>
          </a:solidFill>
          <a:ln/>
        </p:spPr>
      </p:sp>
      <p:sp>
        <p:nvSpPr>
          <p:cNvPr id="4" name="icon-circle-FaAndroid"/>
          <p:cNvSpPr/>
          <p:nvPr/>
        </p:nvSpPr>
        <p:spPr>
          <a:xfrm>
            <a:off x="822960" y="1417320"/>
            <a:ext cx="548640" cy="548640"/>
          </a:xfrm>
          <a:prstGeom prst="ellipse">
            <a:avLst/>
          </a:prstGeom>
          <a:solidFill>
            <a:schemeClr val="accent1"/>
          </a:solidFill>
          <a:ln/>
        </p:spPr>
      </p:sp>
      <p:pic>
        <p:nvPicPr>
          <p:cNvPr id="5" name="icon-FaAndroid" descr="preencoded.png">    </p:cNvPr>
          <p:cNvPicPr>
            <a:picLocks noChangeAspect="1"/>
          </p:cNvPicPr>
          <p:nvPr/>
        </p:nvPicPr>
        <p:blipFill>
          <a:blip r:embed="rId1"/>
          <a:stretch>
            <a:fillRect/>
          </a:stretch>
        </p:blipFill>
        <p:spPr>
          <a:xfrm>
            <a:off x="954634" y="1548994"/>
            <a:ext cx="285293" cy="285293"/>
          </a:xfrm>
          <a:prstGeom prst="rect">
            <a:avLst/>
          </a:prstGeom>
        </p:spPr>
      </p:pic>
      <p:sp>
        <p:nvSpPr>
          <p:cNvPr id="6" name="Text 3"/>
          <p:cNvSpPr txBox="1"/>
          <p:nvPr/>
        </p:nvSpPr>
        <p:spPr>
          <a:xfrm>
            <a:off x="1508760" y="1463040"/>
            <a:ext cx="4221328" cy="457200"/>
          </a:xfrm>
          <a:prstGeom prst="rect">
            <a:avLst/>
          </a:prstGeom>
          <a:noFill/>
          <a:ln/>
        </p:spPr>
        <p:txBody>
          <a:bodyPr wrap="square" lIns="0" tIns="0" rIns="0" bIns="0" rtlCol="0" anchor="ctr"/>
          <a:lstStyle/>
          <a:p>
            <a:pPr indent="0" marL="0">
              <a:buNone/>
            </a:pPr>
            <a:r>
              <a:rPr lang="en-US" sz="1900" b="1" dirty="0">
                <a:solidFill>
                  <a:schemeClr val="tx2"/>
                </a:solidFill>
              </a:rPr>
              <a:t>Android app</a:t>
            </a:r>
            <a:endParaRPr lang="en-US" sz="1900" dirty="0"/>
          </a:p>
        </p:txBody>
      </p:sp>
      <p:sp>
        <p:nvSpPr>
          <p:cNvPr id="7" name="icon-circle-FaLayerGroup"/>
          <p:cNvSpPr/>
          <p:nvPr/>
        </p:nvSpPr>
        <p:spPr>
          <a:xfrm>
            <a:off x="868680" y="2194560"/>
            <a:ext cx="457200" cy="457200"/>
          </a:xfrm>
          <a:prstGeom prst="ellipse">
            <a:avLst/>
          </a:prstGeom>
          <a:solidFill>
            <a:schemeClr val="accent1"/>
          </a:solidFill>
          <a:ln/>
        </p:spPr>
      </p:sp>
      <p:pic>
        <p:nvPicPr>
          <p:cNvPr id="8" name="icon-FaLayerGroup" descr="preencoded.png">    </p:cNvPr>
          <p:cNvPicPr>
            <a:picLocks noChangeAspect="1"/>
          </p:cNvPicPr>
          <p:nvPr/>
        </p:nvPicPr>
        <p:blipFill>
          <a:blip r:embed="rId2"/>
          <a:stretch>
            <a:fillRect/>
          </a:stretch>
        </p:blipFill>
        <p:spPr>
          <a:xfrm>
            <a:off x="978408" y="2304288"/>
            <a:ext cx="237744" cy="237744"/>
          </a:xfrm>
          <a:prstGeom prst="rect">
            <a:avLst/>
          </a:prstGeom>
        </p:spPr>
      </p:pic>
      <p:sp>
        <p:nvSpPr>
          <p:cNvPr id="9" name="Text 5"/>
          <p:cNvSpPr txBox="1"/>
          <p:nvPr/>
        </p:nvSpPr>
        <p:spPr>
          <a:xfrm>
            <a:off x="1508760" y="2148840"/>
            <a:ext cx="4221328" cy="658368"/>
          </a:xfrm>
          <a:prstGeom prst="rect">
            <a:avLst/>
          </a:prstGeom>
          <a:noFill/>
          <a:ln/>
        </p:spPr>
        <p:txBody>
          <a:bodyPr wrap="square" lIns="0" tIns="0" rIns="0" bIns="0" rtlCol="0" anchor="t"/>
          <a:lstStyle/>
          <a:p>
            <a:pPr indent="0" marL="0">
              <a:buNone/>
            </a:pPr>
            <a:r>
              <a:rPr lang="en-US" sz="1400" b="1" dirty="0">
                <a:solidFill>
                  <a:schemeClr val="tx2"/>
                </a:solidFill>
              </a:rPr>
              <a:t>Kotlin + Jetpack Compose</a:t>
            </a:r>
            <a:endParaRPr lang="en-US" sz="1400" dirty="0"/>
          </a:p>
          <a:p>
            <a:pPr indent="0" marL="0">
              <a:buNone/>
            </a:pPr>
            <a:r>
              <a:rPr lang="en-US" sz="1400" dirty="0">
                <a:solidFill>
                  <a:schemeClr val="tx1"/>
                </a:solidFill>
              </a:rPr>
              <a:t>Modern Android standard; large-text Material 3 theme.</a:t>
            </a:r>
            <a:endParaRPr lang="en-US" sz="1400" dirty="0"/>
          </a:p>
        </p:txBody>
      </p:sp>
      <p:sp>
        <p:nvSpPr>
          <p:cNvPr id="10" name="icon-circle-FaDatabase"/>
          <p:cNvSpPr/>
          <p:nvPr/>
        </p:nvSpPr>
        <p:spPr>
          <a:xfrm>
            <a:off x="868680" y="2907792"/>
            <a:ext cx="457200" cy="457200"/>
          </a:xfrm>
          <a:prstGeom prst="ellipse">
            <a:avLst/>
          </a:prstGeom>
          <a:solidFill>
            <a:schemeClr val="accent1"/>
          </a:solidFill>
          <a:ln/>
        </p:spPr>
      </p:sp>
      <p:pic>
        <p:nvPicPr>
          <p:cNvPr id="11" name="icon-FaDatabase" descr="preencoded.png">    </p:cNvPr>
          <p:cNvPicPr>
            <a:picLocks noChangeAspect="1"/>
          </p:cNvPicPr>
          <p:nvPr/>
        </p:nvPicPr>
        <p:blipFill>
          <a:blip r:embed="rId3"/>
          <a:stretch>
            <a:fillRect/>
          </a:stretch>
        </p:blipFill>
        <p:spPr>
          <a:xfrm>
            <a:off x="978408" y="3017520"/>
            <a:ext cx="237744" cy="237744"/>
          </a:xfrm>
          <a:prstGeom prst="rect">
            <a:avLst/>
          </a:prstGeom>
        </p:spPr>
      </p:pic>
      <p:sp>
        <p:nvSpPr>
          <p:cNvPr id="12" name="Text 7"/>
          <p:cNvSpPr txBox="1"/>
          <p:nvPr/>
        </p:nvSpPr>
        <p:spPr>
          <a:xfrm>
            <a:off x="1508760" y="2862072"/>
            <a:ext cx="4221328" cy="658368"/>
          </a:xfrm>
          <a:prstGeom prst="rect">
            <a:avLst/>
          </a:prstGeom>
          <a:noFill/>
          <a:ln/>
        </p:spPr>
        <p:txBody>
          <a:bodyPr wrap="square" lIns="0" tIns="0" rIns="0" bIns="0" rtlCol="0" anchor="t"/>
          <a:lstStyle/>
          <a:p>
            <a:pPr indent="0" marL="0">
              <a:buNone/>
            </a:pPr>
            <a:r>
              <a:rPr lang="en-US" sz="1400" b="1" dirty="0">
                <a:solidFill>
                  <a:schemeClr val="tx2"/>
                </a:solidFill>
              </a:rPr>
              <a:t>Room (on-phone SQLite)</a:t>
            </a:r>
            <a:endParaRPr lang="en-US" sz="1400" dirty="0"/>
          </a:p>
          <a:p>
            <a:pPr indent="0" marL="0">
              <a:buNone/>
            </a:pPr>
            <a:r>
              <a:rPr lang="en-US" sz="1400" dirty="0">
                <a:solidFill>
                  <a:schemeClr val="tx1"/>
                </a:solidFill>
              </a:rPr>
              <a:t>Raw data stays on the phone; migrations keep history.</a:t>
            </a:r>
            <a:endParaRPr lang="en-US" sz="1400" dirty="0"/>
          </a:p>
        </p:txBody>
      </p:sp>
      <p:sp>
        <p:nvSpPr>
          <p:cNvPr id="13" name="icon-circle-FaClock"/>
          <p:cNvSpPr/>
          <p:nvPr/>
        </p:nvSpPr>
        <p:spPr>
          <a:xfrm>
            <a:off x="868680" y="3621024"/>
            <a:ext cx="457200" cy="457200"/>
          </a:xfrm>
          <a:prstGeom prst="ellipse">
            <a:avLst/>
          </a:prstGeom>
          <a:solidFill>
            <a:schemeClr val="accent1"/>
          </a:solidFill>
          <a:ln/>
        </p:spPr>
      </p:sp>
      <p:pic>
        <p:nvPicPr>
          <p:cNvPr id="14" name="icon-FaClock" descr="preencoded.png">    </p:cNvPr>
          <p:cNvPicPr>
            <a:picLocks noChangeAspect="1"/>
          </p:cNvPicPr>
          <p:nvPr/>
        </p:nvPicPr>
        <p:blipFill>
          <a:blip r:embed="rId4"/>
          <a:stretch>
            <a:fillRect/>
          </a:stretch>
        </p:blipFill>
        <p:spPr>
          <a:xfrm>
            <a:off x="978408" y="3730752"/>
            <a:ext cx="237744" cy="237744"/>
          </a:xfrm>
          <a:prstGeom prst="rect">
            <a:avLst/>
          </a:prstGeom>
        </p:spPr>
      </p:pic>
      <p:sp>
        <p:nvSpPr>
          <p:cNvPr id="15" name="Text 9"/>
          <p:cNvSpPr txBox="1"/>
          <p:nvPr/>
        </p:nvSpPr>
        <p:spPr>
          <a:xfrm>
            <a:off x="1508760" y="3575304"/>
            <a:ext cx="4221328" cy="658368"/>
          </a:xfrm>
          <a:prstGeom prst="rect">
            <a:avLst/>
          </a:prstGeom>
          <a:noFill/>
          <a:ln/>
        </p:spPr>
        <p:txBody>
          <a:bodyPr wrap="square" lIns="0" tIns="0" rIns="0" bIns="0" rtlCol="0" anchor="t"/>
          <a:lstStyle/>
          <a:p>
            <a:pPr indent="0" marL="0">
              <a:buNone/>
            </a:pPr>
            <a:r>
              <a:rPr lang="en-US" sz="1400" b="1" dirty="0">
                <a:solidFill>
                  <a:schemeClr val="tx2"/>
                </a:solidFill>
              </a:rPr>
              <a:t>WorkManager</a:t>
            </a:r>
            <a:endParaRPr lang="en-US" sz="1400" dirty="0"/>
          </a:p>
          <a:p>
            <a:pPr indent="0" marL="0">
              <a:buNone/>
            </a:pPr>
            <a:r>
              <a:rPr lang="en-US" sz="1400" dirty="0">
                <a:solidFill>
                  <a:schemeClr val="tx1"/>
                </a:solidFill>
              </a:rPr>
              <a:t>Reliable 15-minute usage reads that survive restarts.</a:t>
            </a:r>
            <a:endParaRPr lang="en-US" sz="1400" dirty="0"/>
          </a:p>
        </p:txBody>
      </p:sp>
      <p:sp>
        <p:nvSpPr>
          <p:cNvPr id="16" name="icon-circle-FaWalking"/>
          <p:cNvSpPr/>
          <p:nvPr/>
        </p:nvSpPr>
        <p:spPr>
          <a:xfrm>
            <a:off x="868680" y="4334256"/>
            <a:ext cx="457200" cy="457200"/>
          </a:xfrm>
          <a:prstGeom prst="ellipse">
            <a:avLst/>
          </a:prstGeom>
          <a:solidFill>
            <a:schemeClr val="accent1"/>
          </a:solidFill>
          <a:ln/>
        </p:spPr>
      </p:sp>
      <p:pic>
        <p:nvPicPr>
          <p:cNvPr id="17" name="icon-FaWalking" descr="preencoded.png">    </p:cNvPr>
          <p:cNvPicPr>
            <a:picLocks noChangeAspect="1"/>
          </p:cNvPicPr>
          <p:nvPr/>
        </p:nvPicPr>
        <p:blipFill>
          <a:blip r:embed="rId5"/>
          <a:stretch>
            <a:fillRect/>
          </a:stretch>
        </p:blipFill>
        <p:spPr>
          <a:xfrm>
            <a:off x="978408" y="4443984"/>
            <a:ext cx="237744" cy="237744"/>
          </a:xfrm>
          <a:prstGeom prst="rect">
            <a:avLst/>
          </a:prstGeom>
        </p:spPr>
      </p:pic>
      <p:sp>
        <p:nvSpPr>
          <p:cNvPr id="18" name="Text 11"/>
          <p:cNvSpPr txBox="1"/>
          <p:nvPr/>
        </p:nvSpPr>
        <p:spPr>
          <a:xfrm>
            <a:off x="1508760" y="4288536"/>
            <a:ext cx="4221328" cy="658368"/>
          </a:xfrm>
          <a:prstGeom prst="rect">
            <a:avLst/>
          </a:prstGeom>
          <a:noFill/>
          <a:ln/>
        </p:spPr>
        <p:txBody>
          <a:bodyPr wrap="square" lIns="0" tIns="0" rIns="0" bIns="0" rtlCol="0" anchor="t"/>
          <a:lstStyle/>
          <a:p>
            <a:pPr indent="0" marL="0">
              <a:buNone/>
            </a:pPr>
            <a:r>
              <a:rPr lang="en-US" sz="1400" b="1" dirty="0">
                <a:solidFill>
                  <a:schemeClr val="tx2"/>
                </a:solidFill>
              </a:rPr>
              <a:t>Significant-motion sensor</a:t>
            </a:r>
            <a:endParaRPr lang="en-US" sz="1400" dirty="0"/>
          </a:p>
          <a:p>
            <a:pPr indent="0" marL="0">
              <a:buNone/>
            </a:pPr>
            <a:r>
              <a:rPr lang="en-US" sz="1400" dirty="0">
                <a:solidFill>
                  <a:schemeClr val="tx1"/>
                </a:solidFill>
              </a:rPr>
              <a:t>One-shot hardware trigger: almost no battery, no step counting.</a:t>
            </a:r>
            <a:endParaRPr lang="en-US" sz="1400" dirty="0"/>
          </a:p>
        </p:txBody>
      </p:sp>
      <p:sp>
        <p:nvSpPr>
          <p:cNvPr id="19" name="icon-circle-FaRunning"/>
          <p:cNvSpPr/>
          <p:nvPr/>
        </p:nvSpPr>
        <p:spPr>
          <a:xfrm>
            <a:off x="868680" y="5047488"/>
            <a:ext cx="457200" cy="457200"/>
          </a:xfrm>
          <a:prstGeom prst="ellipse">
            <a:avLst/>
          </a:prstGeom>
          <a:solidFill>
            <a:schemeClr val="accent1"/>
          </a:solidFill>
          <a:ln/>
        </p:spPr>
      </p:sp>
      <p:pic>
        <p:nvPicPr>
          <p:cNvPr id="20" name="icon-FaRunning" descr="preencoded.png">    </p:cNvPr>
          <p:cNvPicPr>
            <a:picLocks noChangeAspect="1"/>
          </p:cNvPicPr>
          <p:nvPr/>
        </p:nvPicPr>
        <p:blipFill>
          <a:blip r:embed="rId6"/>
          <a:stretch>
            <a:fillRect/>
          </a:stretch>
        </p:blipFill>
        <p:spPr>
          <a:xfrm>
            <a:off x="978408" y="5157216"/>
            <a:ext cx="237744" cy="237744"/>
          </a:xfrm>
          <a:prstGeom prst="rect">
            <a:avLst/>
          </a:prstGeom>
        </p:spPr>
      </p:pic>
      <p:sp>
        <p:nvSpPr>
          <p:cNvPr id="21" name="Text 13"/>
          <p:cNvSpPr txBox="1"/>
          <p:nvPr/>
        </p:nvSpPr>
        <p:spPr>
          <a:xfrm>
            <a:off x="1508760" y="5001768"/>
            <a:ext cx="4221328" cy="658368"/>
          </a:xfrm>
          <a:prstGeom prst="rect">
            <a:avLst/>
          </a:prstGeom>
          <a:noFill/>
          <a:ln/>
        </p:spPr>
        <p:txBody>
          <a:bodyPr wrap="square" lIns="0" tIns="0" rIns="0" bIns="0" rtlCol="0" anchor="t"/>
          <a:lstStyle/>
          <a:p>
            <a:pPr indent="0" marL="0">
              <a:buNone/>
            </a:pPr>
            <a:r>
              <a:rPr lang="en-US" sz="1400" b="1" dirty="0">
                <a:solidFill>
                  <a:schemeClr val="tx2"/>
                </a:solidFill>
              </a:rPr>
              <a:t>Activity Recognition API</a:t>
            </a:r>
            <a:endParaRPr lang="en-US" sz="1400" dirty="0"/>
          </a:p>
          <a:p>
            <a:pPr indent="0" marL="0">
              <a:buNone/>
            </a:pPr>
            <a:r>
              <a:rPr lang="en-US" sz="1400" dirty="0">
                <a:solidFill>
                  <a:schemeClr val="tx1"/>
                </a:solidFill>
              </a:rPr>
              <a:t>Still, walking or vehicle, without GPS or location permission.</a:t>
            </a:r>
            <a:endParaRPr lang="en-US" sz="1400" dirty="0"/>
          </a:p>
        </p:txBody>
      </p:sp>
      <p:sp>
        <p:nvSpPr>
          <p:cNvPr id="22" name="components-Backend server"/>
          <p:cNvSpPr/>
          <p:nvPr/>
        </p:nvSpPr>
        <p:spPr>
          <a:xfrm>
            <a:off x="6233008" y="1280160"/>
            <a:ext cx="5410048" cy="4526280"/>
          </a:xfrm>
          <a:prstGeom prst="roundRect">
            <a:avLst>
              <a:gd name="adj" fmla="val 2020"/>
            </a:avLst>
          </a:prstGeom>
          <a:solidFill>
            <a:schemeClr val="bg2"/>
          </a:solidFill>
          <a:ln/>
        </p:spPr>
      </p:sp>
      <p:sp>
        <p:nvSpPr>
          <p:cNvPr id="23" name="icon-circle-FaServer"/>
          <p:cNvSpPr/>
          <p:nvPr/>
        </p:nvSpPr>
        <p:spPr>
          <a:xfrm>
            <a:off x="6507328" y="1417320"/>
            <a:ext cx="548640" cy="548640"/>
          </a:xfrm>
          <a:prstGeom prst="ellipse">
            <a:avLst/>
          </a:prstGeom>
          <a:solidFill>
            <a:schemeClr val="accent5"/>
          </a:solidFill>
          <a:ln/>
        </p:spPr>
      </p:sp>
      <p:pic>
        <p:nvPicPr>
          <p:cNvPr id="24" name="icon-FaServer" descr="preencoded.png">    </p:cNvPr>
          <p:cNvPicPr>
            <a:picLocks noChangeAspect="1"/>
          </p:cNvPicPr>
          <p:nvPr/>
        </p:nvPicPr>
        <p:blipFill>
          <a:blip r:embed="rId7"/>
          <a:stretch>
            <a:fillRect/>
          </a:stretch>
        </p:blipFill>
        <p:spPr>
          <a:xfrm>
            <a:off x="6639001" y="1548994"/>
            <a:ext cx="285293" cy="285293"/>
          </a:xfrm>
          <a:prstGeom prst="rect">
            <a:avLst/>
          </a:prstGeom>
        </p:spPr>
      </p:pic>
      <p:sp>
        <p:nvSpPr>
          <p:cNvPr id="25" name="Text 16"/>
          <p:cNvSpPr txBox="1"/>
          <p:nvPr/>
        </p:nvSpPr>
        <p:spPr>
          <a:xfrm>
            <a:off x="7193128" y="1463040"/>
            <a:ext cx="4221328" cy="457200"/>
          </a:xfrm>
          <a:prstGeom prst="rect">
            <a:avLst/>
          </a:prstGeom>
          <a:noFill/>
          <a:ln/>
        </p:spPr>
        <p:txBody>
          <a:bodyPr wrap="square" lIns="0" tIns="0" rIns="0" bIns="0" rtlCol="0" anchor="ctr"/>
          <a:lstStyle/>
          <a:p>
            <a:pPr indent="0" marL="0">
              <a:buNone/>
            </a:pPr>
            <a:r>
              <a:rPr lang="en-US" sz="1900" b="1" dirty="0">
                <a:solidFill>
                  <a:schemeClr val="tx2"/>
                </a:solidFill>
              </a:rPr>
              <a:t>Backend server</a:t>
            </a:r>
            <a:endParaRPr lang="en-US" sz="1900" dirty="0"/>
          </a:p>
        </p:txBody>
      </p:sp>
      <p:sp>
        <p:nvSpPr>
          <p:cNvPr id="26" name="icon-circle-FaCloud"/>
          <p:cNvSpPr/>
          <p:nvPr/>
        </p:nvSpPr>
        <p:spPr>
          <a:xfrm>
            <a:off x="6553048" y="2194560"/>
            <a:ext cx="457200" cy="457200"/>
          </a:xfrm>
          <a:prstGeom prst="ellipse">
            <a:avLst/>
          </a:prstGeom>
          <a:solidFill>
            <a:schemeClr val="accent5"/>
          </a:solidFill>
          <a:ln/>
        </p:spPr>
      </p:sp>
      <p:pic>
        <p:nvPicPr>
          <p:cNvPr id="27" name="icon-FaCloud" descr="preencoded.png">    </p:cNvPr>
          <p:cNvPicPr>
            <a:picLocks noChangeAspect="1"/>
          </p:cNvPicPr>
          <p:nvPr/>
        </p:nvPicPr>
        <p:blipFill>
          <a:blip r:embed="rId8"/>
          <a:stretch>
            <a:fillRect/>
          </a:stretch>
        </p:blipFill>
        <p:spPr>
          <a:xfrm>
            <a:off x="6662776" y="2304288"/>
            <a:ext cx="237744" cy="237744"/>
          </a:xfrm>
          <a:prstGeom prst="rect">
            <a:avLst/>
          </a:prstGeom>
        </p:spPr>
      </p:pic>
      <p:sp>
        <p:nvSpPr>
          <p:cNvPr id="28" name="Text 18"/>
          <p:cNvSpPr txBox="1"/>
          <p:nvPr/>
        </p:nvSpPr>
        <p:spPr>
          <a:xfrm>
            <a:off x="7193128" y="2148840"/>
            <a:ext cx="4221328" cy="658368"/>
          </a:xfrm>
          <a:prstGeom prst="rect">
            <a:avLst/>
          </a:prstGeom>
          <a:noFill/>
          <a:ln/>
        </p:spPr>
        <p:txBody>
          <a:bodyPr wrap="square" lIns="0" tIns="0" rIns="0" bIns="0" rtlCol="0" anchor="t"/>
          <a:lstStyle/>
          <a:p>
            <a:pPr indent="0" marL="0">
              <a:buNone/>
            </a:pPr>
            <a:r>
              <a:rPr lang="en-US" sz="1400" b="1" dirty="0">
                <a:solidFill>
                  <a:schemeClr val="tx2"/>
                </a:solidFill>
              </a:rPr>
              <a:t>Self-hosted Hetzner VM</a:t>
            </a:r>
            <a:endParaRPr lang="en-US" sz="1400" dirty="0"/>
          </a:p>
          <a:p>
            <a:pPr indent="0" marL="0">
              <a:buNone/>
            </a:pPr>
            <a:r>
              <a:rPr lang="en-US" sz="1400" dirty="0">
                <a:solidFill>
                  <a:schemeClr val="tx1"/>
                </a:solidFill>
              </a:rPr>
              <a:t>We learn the whole stack, not a black-box service.</a:t>
            </a:r>
            <a:endParaRPr lang="en-US" sz="1400" dirty="0"/>
          </a:p>
        </p:txBody>
      </p:sp>
      <p:sp>
        <p:nvSpPr>
          <p:cNvPr id="29" name="icon-circle-FaPython"/>
          <p:cNvSpPr/>
          <p:nvPr/>
        </p:nvSpPr>
        <p:spPr>
          <a:xfrm>
            <a:off x="6553048" y="2907792"/>
            <a:ext cx="457200" cy="457200"/>
          </a:xfrm>
          <a:prstGeom prst="ellipse">
            <a:avLst/>
          </a:prstGeom>
          <a:solidFill>
            <a:schemeClr val="accent5"/>
          </a:solidFill>
          <a:ln/>
        </p:spPr>
      </p:sp>
      <p:pic>
        <p:nvPicPr>
          <p:cNvPr id="30" name="icon-FaPython" descr="preencoded.png">    </p:cNvPr>
          <p:cNvPicPr>
            <a:picLocks noChangeAspect="1"/>
          </p:cNvPicPr>
          <p:nvPr/>
        </p:nvPicPr>
        <p:blipFill>
          <a:blip r:embed="rId9"/>
          <a:stretch>
            <a:fillRect/>
          </a:stretch>
        </p:blipFill>
        <p:spPr>
          <a:xfrm>
            <a:off x="6662776" y="3017520"/>
            <a:ext cx="237744" cy="237744"/>
          </a:xfrm>
          <a:prstGeom prst="rect">
            <a:avLst/>
          </a:prstGeom>
        </p:spPr>
      </p:pic>
      <p:sp>
        <p:nvSpPr>
          <p:cNvPr id="31" name="Text 20"/>
          <p:cNvSpPr txBox="1"/>
          <p:nvPr/>
        </p:nvSpPr>
        <p:spPr>
          <a:xfrm>
            <a:off x="7193128" y="2862072"/>
            <a:ext cx="4221328" cy="658368"/>
          </a:xfrm>
          <a:prstGeom prst="rect">
            <a:avLst/>
          </a:prstGeom>
          <a:noFill/>
          <a:ln/>
        </p:spPr>
        <p:txBody>
          <a:bodyPr wrap="square" lIns="0" tIns="0" rIns="0" bIns="0" rtlCol="0" anchor="t"/>
          <a:lstStyle/>
          <a:p>
            <a:pPr indent="0" marL="0">
              <a:buNone/>
            </a:pPr>
            <a:r>
              <a:rPr lang="en-US" sz="1400" b="1" dirty="0">
                <a:solidFill>
                  <a:schemeClr val="tx2"/>
                </a:solidFill>
              </a:rPr>
              <a:t>FastAPI + PostgreSQL</a:t>
            </a:r>
            <a:endParaRPr lang="en-US" sz="1400" dirty="0"/>
          </a:p>
          <a:p>
            <a:pPr indent="0" marL="0">
              <a:buNone/>
            </a:pPr>
            <a:r>
              <a:rPr lang="en-US" sz="1400" dirty="0">
                <a:solidFill>
                  <a:schemeClr val="tx1"/>
                </a:solidFill>
              </a:rPr>
              <a:t>Async, automatic API docs, validation, relational data.</a:t>
            </a:r>
            <a:endParaRPr lang="en-US" sz="1400" dirty="0"/>
          </a:p>
        </p:txBody>
      </p:sp>
      <p:sp>
        <p:nvSpPr>
          <p:cNvPr id="32" name="icon-circle-FaLock"/>
          <p:cNvSpPr/>
          <p:nvPr/>
        </p:nvSpPr>
        <p:spPr>
          <a:xfrm>
            <a:off x="6553048" y="3621024"/>
            <a:ext cx="457200" cy="457200"/>
          </a:xfrm>
          <a:prstGeom prst="ellipse">
            <a:avLst/>
          </a:prstGeom>
          <a:solidFill>
            <a:schemeClr val="accent5"/>
          </a:solidFill>
          <a:ln/>
        </p:spPr>
      </p:sp>
      <p:pic>
        <p:nvPicPr>
          <p:cNvPr id="33" name="icon-FaLock" descr="preencoded.png">    </p:cNvPr>
          <p:cNvPicPr>
            <a:picLocks noChangeAspect="1"/>
          </p:cNvPicPr>
          <p:nvPr/>
        </p:nvPicPr>
        <p:blipFill>
          <a:blip r:embed="rId10"/>
          <a:stretch>
            <a:fillRect/>
          </a:stretch>
        </p:blipFill>
        <p:spPr>
          <a:xfrm>
            <a:off x="6662776" y="3730752"/>
            <a:ext cx="237744" cy="237744"/>
          </a:xfrm>
          <a:prstGeom prst="rect">
            <a:avLst/>
          </a:prstGeom>
        </p:spPr>
      </p:pic>
      <p:sp>
        <p:nvSpPr>
          <p:cNvPr id="34" name="Text 22"/>
          <p:cNvSpPr txBox="1"/>
          <p:nvPr/>
        </p:nvSpPr>
        <p:spPr>
          <a:xfrm>
            <a:off x="7193128" y="3575304"/>
            <a:ext cx="4221328" cy="658368"/>
          </a:xfrm>
          <a:prstGeom prst="rect">
            <a:avLst/>
          </a:prstGeom>
          <a:noFill/>
          <a:ln/>
        </p:spPr>
        <p:txBody>
          <a:bodyPr wrap="square" lIns="0" tIns="0" rIns="0" bIns="0" rtlCol="0" anchor="t"/>
          <a:lstStyle/>
          <a:p>
            <a:pPr indent="0" marL="0">
              <a:buNone/>
            </a:pPr>
            <a:r>
              <a:rPr lang="en-US" sz="1400" b="1" dirty="0">
                <a:solidFill>
                  <a:schemeClr val="tx2"/>
                </a:solidFill>
              </a:rPr>
              <a:t>Caddy</a:t>
            </a:r>
            <a:endParaRPr lang="en-US" sz="1400" dirty="0"/>
          </a:p>
          <a:p>
            <a:pPr indent="0" marL="0">
              <a:buNone/>
            </a:pPr>
            <a:r>
              <a:rPr lang="en-US" sz="1400" dirty="0">
                <a:solidFill>
                  <a:schemeClr val="tx1"/>
                </a:solidFill>
              </a:rPr>
              <a:t>Automatic HTTPS certificates from Let's Encrypt.</a:t>
            </a:r>
            <a:endParaRPr lang="en-US" sz="1400" dirty="0"/>
          </a:p>
        </p:txBody>
      </p:sp>
      <p:sp>
        <p:nvSpPr>
          <p:cNvPr id="35" name="icon-circle-FaCogs"/>
          <p:cNvSpPr/>
          <p:nvPr/>
        </p:nvSpPr>
        <p:spPr>
          <a:xfrm>
            <a:off x="6553048" y="4334256"/>
            <a:ext cx="457200" cy="457200"/>
          </a:xfrm>
          <a:prstGeom prst="ellipse">
            <a:avLst/>
          </a:prstGeom>
          <a:solidFill>
            <a:schemeClr val="accent5"/>
          </a:solidFill>
          <a:ln/>
        </p:spPr>
      </p:sp>
      <p:pic>
        <p:nvPicPr>
          <p:cNvPr id="36" name="icon-FaCogs" descr="preencoded.png">    </p:cNvPr>
          <p:cNvPicPr>
            <a:picLocks noChangeAspect="1"/>
          </p:cNvPicPr>
          <p:nvPr/>
        </p:nvPicPr>
        <p:blipFill>
          <a:blip r:embed="rId11"/>
          <a:stretch>
            <a:fillRect/>
          </a:stretch>
        </p:blipFill>
        <p:spPr>
          <a:xfrm>
            <a:off x="6662776" y="4443984"/>
            <a:ext cx="237744" cy="237744"/>
          </a:xfrm>
          <a:prstGeom prst="rect">
            <a:avLst/>
          </a:prstGeom>
        </p:spPr>
      </p:pic>
      <p:sp>
        <p:nvSpPr>
          <p:cNvPr id="37" name="Text 24"/>
          <p:cNvSpPr txBox="1"/>
          <p:nvPr/>
        </p:nvSpPr>
        <p:spPr>
          <a:xfrm>
            <a:off x="7193128" y="4288536"/>
            <a:ext cx="4221328" cy="658368"/>
          </a:xfrm>
          <a:prstGeom prst="rect">
            <a:avLst/>
          </a:prstGeom>
          <a:noFill/>
          <a:ln/>
        </p:spPr>
        <p:txBody>
          <a:bodyPr wrap="square" lIns="0" tIns="0" rIns="0" bIns="0" rtlCol="0" anchor="t"/>
          <a:lstStyle/>
          <a:p>
            <a:pPr indent="0" marL="0">
              <a:buNone/>
            </a:pPr>
            <a:r>
              <a:rPr lang="en-US" sz="1400" b="1" dirty="0">
                <a:solidFill>
                  <a:schemeClr val="tx2"/>
                </a:solidFill>
              </a:rPr>
              <a:t>systemd services</a:t>
            </a:r>
            <a:endParaRPr lang="en-US" sz="1400" dirty="0"/>
          </a:p>
          <a:p>
            <a:pPr indent="0" marL="0">
              <a:buNone/>
            </a:pPr>
            <a:r>
              <a:rPr lang="en-US" sz="1400" dirty="0">
                <a:solidFill>
                  <a:schemeClr val="tx1"/>
                </a:solidFill>
              </a:rPr>
              <a:t>Simpler than Docker to run and debug on one server.</a:t>
            </a:r>
            <a:endParaRPr lang="en-US" sz="1400" dirty="0"/>
          </a:p>
        </p:txBody>
      </p:sp>
      <p:sp>
        <p:nvSpPr>
          <p:cNvPr id="38" name="icon-circle-FaBell"/>
          <p:cNvSpPr/>
          <p:nvPr/>
        </p:nvSpPr>
        <p:spPr>
          <a:xfrm>
            <a:off x="6553048" y="5047488"/>
            <a:ext cx="457200" cy="457200"/>
          </a:xfrm>
          <a:prstGeom prst="ellipse">
            <a:avLst/>
          </a:prstGeom>
          <a:solidFill>
            <a:schemeClr val="accent5"/>
          </a:solidFill>
          <a:ln/>
        </p:spPr>
      </p:sp>
      <p:pic>
        <p:nvPicPr>
          <p:cNvPr id="39" name="icon-FaBell" descr="preencoded.png">    </p:cNvPr>
          <p:cNvPicPr>
            <a:picLocks noChangeAspect="1"/>
          </p:cNvPicPr>
          <p:nvPr/>
        </p:nvPicPr>
        <p:blipFill>
          <a:blip r:embed="rId12"/>
          <a:stretch>
            <a:fillRect/>
          </a:stretch>
        </p:blipFill>
        <p:spPr>
          <a:xfrm>
            <a:off x="6662776" y="5157216"/>
            <a:ext cx="237744" cy="237744"/>
          </a:xfrm>
          <a:prstGeom prst="rect">
            <a:avLst/>
          </a:prstGeom>
        </p:spPr>
      </p:pic>
      <p:sp>
        <p:nvSpPr>
          <p:cNvPr id="40" name="Text 26"/>
          <p:cNvSpPr txBox="1"/>
          <p:nvPr/>
        </p:nvSpPr>
        <p:spPr>
          <a:xfrm>
            <a:off x="7193128" y="5001768"/>
            <a:ext cx="4221328" cy="658368"/>
          </a:xfrm>
          <a:prstGeom prst="rect">
            <a:avLst/>
          </a:prstGeom>
          <a:noFill/>
          <a:ln/>
        </p:spPr>
        <p:txBody>
          <a:bodyPr wrap="square" lIns="0" tIns="0" rIns="0" bIns="0" rtlCol="0" anchor="t"/>
          <a:lstStyle/>
          <a:p>
            <a:pPr indent="0" marL="0">
              <a:buNone/>
            </a:pPr>
            <a:r>
              <a:rPr lang="en-US" sz="1400" b="1" dirty="0">
                <a:solidFill>
                  <a:schemeClr val="tx2"/>
                </a:solidFill>
              </a:rPr>
              <a:t>FCM + APScheduler (Phase 3)</a:t>
            </a:r>
            <a:endParaRPr lang="en-US" sz="1400" dirty="0"/>
          </a:p>
          <a:p>
            <a:pPr indent="0" marL="0">
              <a:buNone/>
            </a:pPr>
            <a:r>
              <a:rPr lang="en-US" sz="1400" dirty="0">
                <a:solidFill>
                  <a:schemeClr val="tx1"/>
                </a:solidFill>
              </a:rPr>
              <a:t>Push relay only; timer for the dead-man's switch.</a:t>
            </a:r>
            <a:endParaRPr lang="en-US" sz="1400" dirty="0"/>
          </a:p>
        </p:txBody>
      </p:sp>
      <p:sp>
        <p:nvSpPr>
          <p:cNvPr id="41" name="Text 27"/>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400" i="1" dirty="0">
                <a:solidFill>
                  <a:schemeClr val="accent4"/>
                </a:solidFill>
              </a:rPr>
              <a:t>Each lasting choice is written down as an Architecture Decision Record with the alternatives considered (6 so far).</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Early testing at every step</a:t>
            </a:r>
            <a:endParaRPr lang="en-US" sz="3600" dirty="0"/>
          </a:p>
        </p:txBody>
      </p:sp>
      <p:sp>
        <p:nvSpPr>
          <p:cNvPr id="3" name="test-stat-1"/>
          <p:cNvSpPr/>
          <p:nvPr/>
        </p:nvSpPr>
        <p:spPr>
          <a:xfrm>
            <a:off x="548640" y="1325880"/>
            <a:ext cx="2567864" cy="1691640"/>
          </a:xfrm>
          <a:prstGeom prst="roundRect">
            <a:avLst>
              <a:gd name="adj" fmla="val 5405"/>
            </a:avLst>
          </a:prstGeom>
          <a:solidFill>
            <a:schemeClr val="bg2"/>
          </a:solidFill>
          <a:ln/>
        </p:spPr>
      </p:sp>
      <p:sp>
        <p:nvSpPr>
          <p:cNvPr id="4" name="Text 2"/>
          <p:cNvSpPr txBox="1"/>
          <p:nvPr/>
        </p:nvSpPr>
        <p:spPr>
          <a:xfrm>
            <a:off x="777240" y="1417320"/>
            <a:ext cx="2110664" cy="77724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115</a:t>
            </a:r>
            <a:endParaRPr lang="en-US" sz="4000" dirty="0"/>
          </a:p>
        </p:txBody>
      </p:sp>
      <p:sp>
        <p:nvSpPr>
          <p:cNvPr id="5" name="Text 3"/>
          <p:cNvSpPr txBox="1"/>
          <p:nvPr/>
        </p:nvSpPr>
        <p:spPr>
          <a:xfrm>
            <a:off x="777240" y="2240280"/>
            <a:ext cx="2110664" cy="685800"/>
          </a:xfrm>
          <a:prstGeom prst="rect">
            <a:avLst/>
          </a:prstGeom>
          <a:noFill/>
          <a:ln/>
        </p:spPr>
        <p:txBody>
          <a:bodyPr wrap="square" lIns="0" tIns="0" rIns="0" bIns="0" rtlCol="0" anchor="t"/>
          <a:lstStyle/>
          <a:p>
            <a:pPr indent="0" marL="0">
              <a:buNone/>
            </a:pPr>
            <a:r>
              <a:rPr lang="en-US" sz="1400" dirty="0">
                <a:solidFill>
                  <a:schemeClr val="tx2"/>
                </a:solidFill>
              </a:rPr>
              <a:t>logic tests on the computer, all passing</a:t>
            </a:r>
            <a:endParaRPr lang="en-US" sz="1400" dirty="0"/>
          </a:p>
        </p:txBody>
      </p:sp>
      <p:sp>
        <p:nvSpPr>
          <p:cNvPr id="6" name="test-stat-2"/>
          <p:cNvSpPr/>
          <p:nvPr/>
        </p:nvSpPr>
        <p:spPr>
          <a:xfrm>
            <a:off x="3390824" y="1325880"/>
            <a:ext cx="2567864" cy="1691640"/>
          </a:xfrm>
          <a:prstGeom prst="roundRect">
            <a:avLst>
              <a:gd name="adj" fmla="val 5405"/>
            </a:avLst>
          </a:prstGeom>
          <a:solidFill>
            <a:schemeClr val="bg2"/>
          </a:solidFill>
          <a:ln/>
        </p:spPr>
      </p:sp>
      <p:sp>
        <p:nvSpPr>
          <p:cNvPr id="7" name="Text 5"/>
          <p:cNvSpPr txBox="1"/>
          <p:nvPr/>
        </p:nvSpPr>
        <p:spPr>
          <a:xfrm>
            <a:off x="3619424" y="1417320"/>
            <a:ext cx="2110664" cy="77724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59</a:t>
            </a:r>
            <a:endParaRPr lang="en-US" sz="4000" dirty="0"/>
          </a:p>
        </p:txBody>
      </p:sp>
      <p:sp>
        <p:nvSpPr>
          <p:cNvPr id="8" name="Text 6"/>
          <p:cNvSpPr txBox="1"/>
          <p:nvPr/>
        </p:nvSpPr>
        <p:spPr>
          <a:xfrm>
            <a:off x="3619424" y="2240280"/>
            <a:ext cx="2110664" cy="685800"/>
          </a:xfrm>
          <a:prstGeom prst="rect">
            <a:avLst/>
          </a:prstGeom>
          <a:noFill/>
          <a:ln/>
        </p:spPr>
        <p:txBody>
          <a:bodyPr wrap="square" lIns="0" tIns="0" rIns="0" bIns="0" rtlCol="0" anchor="t"/>
          <a:lstStyle/>
          <a:p>
            <a:pPr indent="0" marL="0">
              <a:buNone/>
            </a:pPr>
            <a:r>
              <a:rPr lang="en-US" sz="1400" dirty="0">
                <a:solidFill>
                  <a:schemeClr val="tx2"/>
                </a:solidFill>
              </a:rPr>
              <a:t>database and screen tests on an emulator, all passing</a:t>
            </a:r>
            <a:endParaRPr lang="en-US" sz="1400" dirty="0"/>
          </a:p>
        </p:txBody>
      </p:sp>
      <p:sp>
        <p:nvSpPr>
          <p:cNvPr id="9" name="test-stat-3"/>
          <p:cNvSpPr/>
          <p:nvPr/>
        </p:nvSpPr>
        <p:spPr>
          <a:xfrm>
            <a:off x="6233008" y="1325880"/>
            <a:ext cx="2567864" cy="1691640"/>
          </a:xfrm>
          <a:prstGeom prst="roundRect">
            <a:avLst>
              <a:gd name="adj" fmla="val 5405"/>
            </a:avLst>
          </a:prstGeom>
          <a:solidFill>
            <a:schemeClr val="bg2"/>
          </a:solidFill>
          <a:ln/>
        </p:spPr>
      </p:sp>
      <p:sp>
        <p:nvSpPr>
          <p:cNvPr id="10" name="Text 8"/>
          <p:cNvSpPr txBox="1"/>
          <p:nvPr/>
        </p:nvSpPr>
        <p:spPr>
          <a:xfrm>
            <a:off x="6461608" y="1417320"/>
            <a:ext cx="2110664" cy="77724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v1→v4</a:t>
            </a:r>
            <a:endParaRPr lang="en-US" sz="4000" dirty="0"/>
          </a:p>
        </p:txBody>
      </p:sp>
      <p:sp>
        <p:nvSpPr>
          <p:cNvPr id="11" name="Text 9"/>
          <p:cNvSpPr txBox="1"/>
          <p:nvPr/>
        </p:nvSpPr>
        <p:spPr>
          <a:xfrm>
            <a:off x="6461608" y="2240280"/>
            <a:ext cx="2110664" cy="685800"/>
          </a:xfrm>
          <a:prstGeom prst="rect">
            <a:avLst/>
          </a:prstGeom>
          <a:noFill/>
          <a:ln/>
        </p:spPr>
        <p:txBody>
          <a:bodyPr wrap="square" lIns="0" tIns="0" rIns="0" bIns="0" rtlCol="0" anchor="t"/>
          <a:lstStyle/>
          <a:p>
            <a:pPr indent="0" marL="0">
              <a:buNone/>
            </a:pPr>
            <a:r>
              <a:rPr lang="en-US" sz="1400" dirty="0">
                <a:solidFill>
                  <a:schemeClr val="tx2"/>
                </a:solidFill>
              </a:rPr>
              <a:t>database upgrades kept all earlier data</a:t>
            </a:r>
            <a:endParaRPr lang="en-US" sz="1400" dirty="0"/>
          </a:p>
        </p:txBody>
      </p:sp>
      <p:sp>
        <p:nvSpPr>
          <p:cNvPr id="12" name="test-stat-4"/>
          <p:cNvSpPr/>
          <p:nvPr/>
        </p:nvSpPr>
        <p:spPr>
          <a:xfrm>
            <a:off x="9075191" y="1325880"/>
            <a:ext cx="2567864" cy="1691640"/>
          </a:xfrm>
          <a:prstGeom prst="roundRect">
            <a:avLst>
              <a:gd name="adj" fmla="val 5405"/>
            </a:avLst>
          </a:prstGeom>
          <a:solidFill>
            <a:schemeClr val="bg2"/>
          </a:solidFill>
          <a:ln/>
        </p:spPr>
      </p:sp>
      <p:sp>
        <p:nvSpPr>
          <p:cNvPr id="13" name="Text 11"/>
          <p:cNvSpPr txBox="1"/>
          <p:nvPr/>
        </p:nvSpPr>
        <p:spPr>
          <a:xfrm>
            <a:off x="9303791" y="1417320"/>
            <a:ext cx="2110664" cy="77724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22 = 22</a:t>
            </a:r>
            <a:endParaRPr lang="en-US" sz="4000" dirty="0"/>
          </a:p>
        </p:txBody>
      </p:sp>
      <p:sp>
        <p:nvSpPr>
          <p:cNvPr id="14" name="Text 12"/>
          <p:cNvSpPr txBox="1"/>
          <p:nvPr/>
        </p:nvSpPr>
        <p:spPr>
          <a:xfrm>
            <a:off x="9303791" y="2240280"/>
            <a:ext cx="2110664" cy="685800"/>
          </a:xfrm>
          <a:prstGeom prst="rect">
            <a:avLst/>
          </a:prstGeom>
          <a:noFill/>
          <a:ln/>
        </p:spPr>
        <p:txBody>
          <a:bodyPr wrap="square" lIns="0" tIns="0" rIns="0" bIns="0" rtlCol="0" anchor="t"/>
          <a:lstStyle/>
          <a:p>
            <a:pPr indent="0" marL="0">
              <a:buNone/>
            </a:pPr>
            <a:r>
              <a:rPr lang="en-US" sz="1400" dirty="0">
                <a:solidFill>
                  <a:schemeClr val="tx2"/>
                </a:solidFill>
              </a:rPr>
              <a:t>unlocks on screen matched a separate database count</a:t>
            </a:r>
            <a:endParaRPr lang="en-US" sz="1400" dirty="0"/>
          </a:p>
        </p:txBody>
      </p:sp>
      <p:sp>
        <p:nvSpPr>
          <p:cNvPr id="15" name="Text 13"/>
          <p:cNvSpPr txBox="1"/>
          <p:nvPr/>
        </p:nvSpPr>
        <p:spPr>
          <a:xfrm>
            <a:off x="548640" y="3246120"/>
            <a:ext cx="11094415" cy="365760"/>
          </a:xfrm>
          <a:prstGeom prst="rect">
            <a:avLst/>
          </a:prstGeom>
          <a:noFill/>
          <a:ln/>
        </p:spPr>
        <p:txBody>
          <a:bodyPr wrap="square" lIns="0" tIns="0" rIns="0" bIns="0" rtlCol="0" anchor="t"/>
          <a:lstStyle/>
          <a:p>
            <a:pPr indent="0" marL="0">
              <a:buNone/>
            </a:pPr>
            <a:r>
              <a:rPr lang="en-US" sz="1700" b="1" dirty="0">
                <a:solidFill>
                  <a:schemeClr val="tx2"/>
                </a:solidFill>
              </a:rPr>
              <a:t>How every step was accepted</a:t>
            </a:r>
            <a:endParaRPr lang="en-US" sz="1700" dirty="0"/>
          </a:p>
        </p:txBody>
      </p:sp>
      <p:sp>
        <p:nvSpPr>
          <p:cNvPr id="16" name="icon-circle-FaCode"/>
          <p:cNvSpPr/>
          <p:nvPr/>
        </p:nvSpPr>
        <p:spPr>
          <a:xfrm>
            <a:off x="1338042" y="3703320"/>
            <a:ext cx="640080" cy="640080"/>
          </a:xfrm>
          <a:prstGeom prst="ellipse">
            <a:avLst/>
          </a:prstGeom>
          <a:solidFill>
            <a:schemeClr val="accent1"/>
          </a:solidFill>
          <a:ln/>
        </p:spPr>
      </p:sp>
      <p:pic>
        <p:nvPicPr>
          <p:cNvPr id="17" name="icon-FaCode" descr="preencoded.png">    </p:cNvPr>
          <p:cNvPicPr>
            <a:picLocks noChangeAspect="1"/>
          </p:cNvPicPr>
          <p:nvPr/>
        </p:nvPicPr>
        <p:blipFill>
          <a:blip r:embed="rId1"/>
          <a:stretch>
            <a:fillRect/>
          </a:stretch>
        </p:blipFill>
        <p:spPr>
          <a:xfrm>
            <a:off x="1491661" y="3856939"/>
            <a:ext cx="332842" cy="332842"/>
          </a:xfrm>
          <a:prstGeom prst="rect">
            <a:avLst/>
          </a:prstGeom>
        </p:spPr>
      </p:pic>
      <p:sp>
        <p:nvSpPr>
          <p:cNvPr id="18" name="Text 15"/>
          <p:cNvSpPr txBox="1"/>
          <p:nvPr/>
        </p:nvSpPr>
        <p:spPr>
          <a:xfrm>
            <a:off x="640080" y="4434840"/>
            <a:ext cx="2036003" cy="365760"/>
          </a:xfrm>
          <a:prstGeom prst="rect">
            <a:avLst/>
          </a:prstGeom>
          <a:noFill/>
          <a:ln/>
        </p:spPr>
        <p:txBody>
          <a:bodyPr wrap="square" lIns="0" tIns="0" rIns="0" bIns="0" rtlCol="0" anchor="t"/>
          <a:lstStyle/>
          <a:p>
            <a:pPr algn="ctr" indent="0" marL="0">
              <a:buNone/>
            </a:pPr>
            <a:r>
              <a:rPr lang="en-US" sz="1400" dirty="0">
                <a:solidFill>
                  <a:schemeClr val="tx1"/>
                </a:solidFill>
              </a:rPr>
              <a:t>Build one step</a:t>
            </a:r>
            <a:endParaRPr lang="en-US" sz="1400" dirty="0"/>
          </a:p>
        </p:txBody>
      </p:sp>
      <p:pic>
        <p:nvPicPr>
          <p:cNvPr id="19" name="flow-arrow-1" descr="preencoded.png">    </p:cNvPr>
          <p:cNvPicPr>
            <a:picLocks noChangeAspect="1"/>
          </p:cNvPicPr>
          <p:nvPr/>
        </p:nvPicPr>
        <p:blipFill>
          <a:blip r:embed="rId2"/>
          <a:stretch>
            <a:fillRect/>
          </a:stretch>
        </p:blipFill>
        <p:spPr>
          <a:xfrm>
            <a:off x="2630363" y="3904488"/>
            <a:ext cx="274320" cy="237744"/>
          </a:xfrm>
          <a:prstGeom prst="rect">
            <a:avLst/>
          </a:prstGeom>
        </p:spPr>
      </p:pic>
      <p:sp>
        <p:nvSpPr>
          <p:cNvPr id="20" name="icon-circle-FaLaptopCode"/>
          <p:cNvSpPr/>
          <p:nvPr/>
        </p:nvSpPr>
        <p:spPr>
          <a:xfrm>
            <a:off x="3556925" y="3703320"/>
            <a:ext cx="640080" cy="640080"/>
          </a:xfrm>
          <a:prstGeom prst="ellipse">
            <a:avLst/>
          </a:prstGeom>
          <a:solidFill>
            <a:schemeClr val="accent1"/>
          </a:solidFill>
          <a:ln/>
        </p:spPr>
      </p:sp>
      <p:pic>
        <p:nvPicPr>
          <p:cNvPr id="21" name="icon-FaLaptopCode" descr="preencoded.png">    </p:cNvPr>
          <p:cNvPicPr>
            <a:picLocks noChangeAspect="1"/>
          </p:cNvPicPr>
          <p:nvPr/>
        </p:nvPicPr>
        <p:blipFill>
          <a:blip r:embed="rId3"/>
          <a:stretch>
            <a:fillRect/>
          </a:stretch>
        </p:blipFill>
        <p:spPr>
          <a:xfrm>
            <a:off x="3710544" y="3856939"/>
            <a:ext cx="332842" cy="332842"/>
          </a:xfrm>
          <a:prstGeom prst="rect">
            <a:avLst/>
          </a:prstGeom>
        </p:spPr>
      </p:pic>
      <p:sp>
        <p:nvSpPr>
          <p:cNvPr id="22" name="Text 17"/>
          <p:cNvSpPr txBox="1"/>
          <p:nvPr/>
        </p:nvSpPr>
        <p:spPr>
          <a:xfrm>
            <a:off x="2858963" y="4434840"/>
            <a:ext cx="2036003" cy="365760"/>
          </a:xfrm>
          <a:prstGeom prst="rect">
            <a:avLst/>
          </a:prstGeom>
          <a:noFill/>
          <a:ln/>
        </p:spPr>
        <p:txBody>
          <a:bodyPr wrap="square" lIns="0" tIns="0" rIns="0" bIns="0" rtlCol="0" anchor="t"/>
          <a:lstStyle/>
          <a:p>
            <a:pPr algn="ctr" indent="0" marL="0">
              <a:buNone/>
            </a:pPr>
            <a:r>
              <a:rPr lang="en-US" sz="1400" dirty="0">
                <a:solidFill>
                  <a:schemeClr val="tx1"/>
                </a:solidFill>
              </a:rPr>
              <a:t>Logic tests</a:t>
            </a:r>
            <a:endParaRPr lang="en-US" sz="1400" dirty="0"/>
          </a:p>
        </p:txBody>
      </p:sp>
      <p:pic>
        <p:nvPicPr>
          <p:cNvPr id="23" name="flow-arrow-2" descr="preencoded.png">    </p:cNvPr>
          <p:cNvPicPr>
            <a:picLocks noChangeAspect="1"/>
          </p:cNvPicPr>
          <p:nvPr/>
        </p:nvPicPr>
        <p:blipFill>
          <a:blip r:embed="rId4"/>
          <a:stretch>
            <a:fillRect/>
          </a:stretch>
        </p:blipFill>
        <p:spPr>
          <a:xfrm>
            <a:off x="4849246" y="3904488"/>
            <a:ext cx="274320" cy="237744"/>
          </a:xfrm>
          <a:prstGeom prst="rect">
            <a:avLst/>
          </a:prstGeom>
        </p:spPr>
      </p:pic>
      <p:sp>
        <p:nvSpPr>
          <p:cNvPr id="24" name="icon-circle-FaMobileAlt"/>
          <p:cNvSpPr/>
          <p:nvPr/>
        </p:nvSpPr>
        <p:spPr>
          <a:xfrm>
            <a:off x="5775808" y="3703320"/>
            <a:ext cx="640080" cy="640080"/>
          </a:xfrm>
          <a:prstGeom prst="ellipse">
            <a:avLst/>
          </a:prstGeom>
          <a:solidFill>
            <a:schemeClr val="accent1"/>
          </a:solidFill>
          <a:ln/>
        </p:spPr>
      </p:sp>
      <p:pic>
        <p:nvPicPr>
          <p:cNvPr id="25" name="icon-FaMobileAlt" descr="preencoded.png">    </p:cNvPr>
          <p:cNvPicPr>
            <a:picLocks noChangeAspect="1"/>
          </p:cNvPicPr>
          <p:nvPr/>
        </p:nvPicPr>
        <p:blipFill>
          <a:blip r:embed="rId5"/>
          <a:stretch>
            <a:fillRect/>
          </a:stretch>
        </p:blipFill>
        <p:spPr>
          <a:xfrm>
            <a:off x="5929427" y="3856939"/>
            <a:ext cx="332842" cy="332842"/>
          </a:xfrm>
          <a:prstGeom prst="rect">
            <a:avLst/>
          </a:prstGeom>
        </p:spPr>
      </p:pic>
      <p:sp>
        <p:nvSpPr>
          <p:cNvPr id="26" name="Text 19"/>
          <p:cNvSpPr txBox="1"/>
          <p:nvPr/>
        </p:nvSpPr>
        <p:spPr>
          <a:xfrm>
            <a:off x="5077846" y="4434840"/>
            <a:ext cx="2036003" cy="365760"/>
          </a:xfrm>
          <a:prstGeom prst="rect">
            <a:avLst/>
          </a:prstGeom>
          <a:noFill/>
          <a:ln/>
        </p:spPr>
        <p:txBody>
          <a:bodyPr wrap="square" lIns="0" tIns="0" rIns="0" bIns="0" rtlCol="0" anchor="t"/>
          <a:lstStyle/>
          <a:p>
            <a:pPr algn="ctr" indent="0" marL="0">
              <a:buNone/>
            </a:pPr>
            <a:r>
              <a:rPr lang="en-US" sz="1400" dirty="0">
                <a:solidFill>
                  <a:schemeClr val="tx1"/>
                </a:solidFill>
              </a:rPr>
              <a:t>Emulator tests</a:t>
            </a:r>
            <a:endParaRPr lang="en-US" sz="1400" dirty="0"/>
          </a:p>
        </p:txBody>
      </p:sp>
      <p:pic>
        <p:nvPicPr>
          <p:cNvPr id="27" name="flow-arrow-3" descr="preencoded.png">    </p:cNvPr>
          <p:cNvPicPr>
            <a:picLocks noChangeAspect="1"/>
          </p:cNvPicPr>
          <p:nvPr/>
        </p:nvPicPr>
        <p:blipFill>
          <a:blip r:embed="rId6"/>
          <a:stretch>
            <a:fillRect/>
          </a:stretch>
        </p:blipFill>
        <p:spPr>
          <a:xfrm>
            <a:off x="7068129" y="3904488"/>
            <a:ext cx="274320" cy="237744"/>
          </a:xfrm>
          <a:prstGeom prst="rect">
            <a:avLst/>
          </a:prstGeom>
        </p:spPr>
      </p:pic>
      <p:sp>
        <p:nvSpPr>
          <p:cNvPr id="28" name="icon-circle-FaHandHoldingHeart"/>
          <p:cNvSpPr/>
          <p:nvPr/>
        </p:nvSpPr>
        <p:spPr>
          <a:xfrm>
            <a:off x="7994691" y="3703320"/>
            <a:ext cx="640080" cy="640080"/>
          </a:xfrm>
          <a:prstGeom prst="ellipse">
            <a:avLst/>
          </a:prstGeom>
          <a:solidFill>
            <a:schemeClr val="accent1"/>
          </a:solidFill>
          <a:ln/>
        </p:spPr>
      </p:sp>
      <p:pic>
        <p:nvPicPr>
          <p:cNvPr id="29" name="icon-FaHandHoldingHeart" descr="preencoded.png">    </p:cNvPr>
          <p:cNvPicPr>
            <a:picLocks noChangeAspect="1"/>
          </p:cNvPicPr>
          <p:nvPr/>
        </p:nvPicPr>
        <p:blipFill>
          <a:blip r:embed="rId7"/>
          <a:stretch>
            <a:fillRect/>
          </a:stretch>
        </p:blipFill>
        <p:spPr>
          <a:xfrm>
            <a:off x="8148310" y="3856939"/>
            <a:ext cx="332842" cy="332842"/>
          </a:xfrm>
          <a:prstGeom prst="rect">
            <a:avLst/>
          </a:prstGeom>
        </p:spPr>
      </p:pic>
      <p:sp>
        <p:nvSpPr>
          <p:cNvPr id="30" name="Text 21"/>
          <p:cNvSpPr txBox="1"/>
          <p:nvPr/>
        </p:nvSpPr>
        <p:spPr>
          <a:xfrm>
            <a:off x="7296729" y="4434840"/>
            <a:ext cx="2036003" cy="365760"/>
          </a:xfrm>
          <a:prstGeom prst="rect">
            <a:avLst/>
          </a:prstGeom>
          <a:noFill/>
          <a:ln/>
        </p:spPr>
        <p:txBody>
          <a:bodyPr wrap="square" lIns="0" tIns="0" rIns="0" bIns="0" rtlCol="0" anchor="t"/>
          <a:lstStyle/>
          <a:p>
            <a:pPr algn="ctr" indent="0" marL="0">
              <a:buNone/>
            </a:pPr>
            <a:r>
              <a:rPr lang="en-US" sz="1400" dirty="0">
                <a:solidFill>
                  <a:schemeClr val="tx1"/>
                </a:solidFill>
              </a:rPr>
              <a:t>Check on the demo phone</a:t>
            </a:r>
            <a:endParaRPr lang="en-US" sz="1400" dirty="0"/>
          </a:p>
        </p:txBody>
      </p:sp>
      <p:pic>
        <p:nvPicPr>
          <p:cNvPr id="31" name="flow-arrow-4" descr="preencoded.png">    </p:cNvPr>
          <p:cNvPicPr>
            <a:picLocks noChangeAspect="1"/>
          </p:cNvPicPr>
          <p:nvPr/>
        </p:nvPicPr>
        <p:blipFill>
          <a:blip r:embed="rId8"/>
          <a:stretch>
            <a:fillRect/>
          </a:stretch>
        </p:blipFill>
        <p:spPr>
          <a:xfrm>
            <a:off x="9287012" y="3904488"/>
            <a:ext cx="274320" cy="237744"/>
          </a:xfrm>
          <a:prstGeom prst="rect">
            <a:avLst/>
          </a:prstGeom>
        </p:spPr>
      </p:pic>
      <p:sp>
        <p:nvSpPr>
          <p:cNvPr id="32" name="icon-circle-FaCheckCircle"/>
          <p:cNvSpPr/>
          <p:nvPr/>
        </p:nvSpPr>
        <p:spPr>
          <a:xfrm>
            <a:off x="10213574" y="3703320"/>
            <a:ext cx="640080" cy="640080"/>
          </a:xfrm>
          <a:prstGeom prst="ellipse">
            <a:avLst/>
          </a:prstGeom>
          <a:solidFill>
            <a:schemeClr val="accent3"/>
          </a:solidFill>
          <a:ln/>
        </p:spPr>
      </p:sp>
      <p:pic>
        <p:nvPicPr>
          <p:cNvPr id="33" name="icon-FaCheckCircle" descr="preencoded.png">    </p:cNvPr>
          <p:cNvPicPr>
            <a:picLocks noChangeAspect="1"/>
          </p:cNvPicPr>
          <p:nvPr/>
        </p:nvPicPr>
        <p:blipFill>
          <a:blip r:embed="rId9"/>
          <a:stretch>
            <a:fillRect/>
          </a:stretch>
        </p:blipFill>
        <p:spPr>
          <a:xfrm>
            <a:off x="10367193" y="3856939"/>
            <a:ext cx="332842" cy="332842"/>
          </a:xfrm>
          <a:prstGeom prst="rect">
            <a:avLst/>
          </a:prstGeom>
        </p:spPr>
      </p:pic>
      <p:sp>
        <p:nvSpPr>
          <p:cNvPr id="34" name="Text 23"/>
          <p:cNvSpPr txBox="1"/>
          <p:nvPr/>
        </p:nvSpPr>
        <p:spPr>
          <a:xfrm>
            <a:off x="9515612" y="4434840"/>
            <a:ext cx="2036003" cy="365760"/>
          </a:xfrm>
          <a:prstGeom prst="rect">
            <a:avLst/>
          </a:prstGeom>
          <a:noFill/>
          <a:ln/>
        </p:spPr>
        <p:txBody>
          <a:bodyPr wrap="square" lIns="0" tIns="0" rIns="0" bIns="0" rtlCol="0" anchor="t"/>
          <a:lstStyle/>
          <a:p>
            <a:pPr algn="ctr" indent="0" marL="0">
              <a:buNone/>
            </a:pPr>
            <a:r>
              <a:rPr lang="en-US" sz="1400" dirty="0">
                <a:solidFill>
                  <a:schemeClr val="tx1"/>
                </a:solidFill>
              </a:rPr>
              <a:t>Team approves, then commit</a:t>
            </a:r>
            <a:endParaRPr lang="en-US" sz="1400" dirty="0"/>
          </a:p>
        </p:txBody>
      </p:sp>
      <p:sp>
        <p:nvSpPr>
          <p:cNvPr id="35" name="backend-gate"/>
          <p:cNvSpPr/>
          <p:nvPr/>
        </p:nvSpPr>
        <p:spPr>
          <a:xfrm>
            <a:off x="548640" y="5029200"/>
            <a:ext cx="5410048" cy="1097280"/>
          </a:xfrm>
          <a:prstGeom prst="roundRect">
            <a:avLst>
              <a:gd name="adj" fmla="val 8333"/>
            </a:avLst>
          </a:prstGeom>
          <a:solidFill>
            <a:schemeClr val="bg2"/>
          </a:solidFill>
          <a:ln/>
        </p:spPr>
      </p:sp>
      <p:sp>
        <p:nvSpPr>
          <p:cNvPr id="36" name="icon-circle-FaShieldAlt"/>
          <p:cNvSpPr/>
          <p:nvPr/>
        </p:nvSpPr>
        <p:spPr>
          <a:xfrm>
            <a:off x="777240" y="5257800"/>
            <a:ext cx="640080" cy="640080"/>
          </a:xfrm>
          <a:prstGeom prst="ellipse">
            <a:avLst/>
          </a:prstGeom>
          <a:solidFill>
            <a:schemeClr val="accent5"/>
          </a:solidFill>
          <a:ln/>
        </p:spPr>
      </p:sp>
      <p:pic>
        <p:nvPicPr>
          <p:cNvPr id="37" name="icon-FaShieldAlt" descr="preencoded.png">    </p:cNvPr>
          <p:cNvPicPr>
            <a:picLocks noChangeAspect="1"/>
          </p:cNvPicPr>
          <p:nvPr/>
        </p:nvPicPr>
        <p:blipFill>
          <a:blip r:embed="rId10"/>
          <a:stretch>
            <a:fillRect/>
          </a:stretch>
        </p:blipFill>
        <p:spPr>
          <a:xfrm>
            <a:off x="930859" y="5411419"/>
            <a:ext cx="332842" cy="332842"/>
          </a:xfrm>
          <a:prstGeom prst="rect">
            <a:avLst/>
          </a:prstGeom>
        </p:spPr>
      </p:pic>
      <p:sp>
        <p:nvSpPr>
          <p:cNvPr id="38" name="Text 26"/>
          <p:cNvSpPr txBox="1"/>
          <p:nvPr/>
        </p:nvSpPr>
        <p:spPr>
          <a:xfrm>
            <a:off x="1600200" y="5102352"/>
            <a:ext cx="4175608" cy="960120"/>
          </a:xfrm>
          <a:prstGeom prst="rect">
            <a:avLst/>
          </a:prstGeom>
          <a:noFill/>
          <a:ln/>
        </p:spPr>
        <p:txBody>
          <a:bodyPr wrap="square" lIns="0" tIns="0" rIns="0" bIns="0" rtlCol="0" anchor="ctr"/>
          <a:lstStyle/>
          <a:p>
            <a:pPr indent="0" marL="0">
              <a:buNone/>
            </a:pPr>
            <a:r>
              <a:rPr lang="en-US" sz="1400" b="1" dirty="0">
                <a:solidFill>
                  <a:schemeClr val="tx2"/>
                </a:solidFill>
              </a:rPr>
              <a:t>Backend quality gate</a:t>
            </a:r>
            <a:endParaRPr lang="en-US" sz="1400" dirty="0"/>
          </a:p>
          <a:p>
            <a:pPr indent="0" marL="0">
              <a:buNone/>
            </a:pPr>
            <a:r>
              <a:rPr lang="en-US" sz="1400" dirty="0">
                <a:solidFill>
                  <a:schemeClr val="tx1"/>
                </a:solidFill>
              </a:rPr>
              <a:t>Lint, types, security scan, complexity limits, at least 90% coverage.</a:t>
            </a:r>
            <a:endParaRPr lang="en-US" sz="1400" dirty="0"/>
          </a:p>
        </p:txBody>
      </p:sp>
      <p:sp>
        <p:nvSpPr>
          <p:cNvPr id="39" name="known-issue"/>
          <p:cNvSpPr/>
          <p:nvPr/>
        </p:nvSpPr>
        <p:spPr>
          <a:xfrm>
            <a:off x="6233008" y="5029200"/>
            <a:ext cx="5410048" cy="1097280"/>
          </a:xfrm>
          <a:prstGeom prst="roundRect">
            <a:avLst>
              <a:gd name="adj" fmla="val 8333"/>
            </a:avLst>
          </a:prstGeom>
          <a:solidFill>
            <a:schemeClr val="bg2"/>
          </a:solidFill>
          <a:ln/>
        </p:spPr>
      </p:sp>
      <p:sp>
        <p:nvSpPr>
          <p:cNvPr id="40" name="icon-circle-FaBug"/>
          <p:cNvSpPr/>
          <p:nvPr/>
        </p:nvSpPr>
        <p:spPr>
          <a:xfrm>
            <a:off x="6461608" y="5257800"/>
            <a:ext cx="640080" cy="640080"/>
          </a:xfrm>
          <a:prstGeom prst="ellipse">
            <a:avLst/>
          </a:prstGeom>
          <a:solidFill>
            <a:schemeClr val="accent2"/>
          </a:solidFill>
          <a:ln/>
        </p:spPr>
      </p:sp>
      <p:pic>
        <p:nvPicPr>
          <p:cNvPr id="41" name="icon-FaBug" descr="preencoded.png">    </p:cNvPr>
          <p:cNvPicPr>
            <a:picLocks noChangeAspect="1"/>
          </p:cNvPicPr>
          <p:nvPr/>
        </p:nvPicPr>
        <p:blipFill>
          <a:blip r:embed="rId11"/>
          <a:stretch>
            <a:fillRect/>
          </a:stretch>
        </p:blipFill>
        <p:spPr>
          <a:xfrm>
            <a:off x="6615227" y="5411419"/>
            <a:ext cx="332842" cy="332842"/>
          </a:xfrm>
          <a:prstGeom prst="rect">
            <a:avLst/>
          </a:prstGeom>
        </p:spPr>
      </p:pic>
      <p:sp>
        <p:nvSpPr>
          <p:cNvPr id="42" name="Text 29"/>
          <p:cNvSpPr txBox="1"/>
          <p:nvPr/>
        </p:nvSpPr>
        <p:spPr>
          <a:xfrm>
            <a:off x="7284568" y="5102352"/>
            <a:ext cx="4175608" cy="960120"/>
          </a:xfrm>
          <a:prstGeom prst="rect">
            <a:avLst/>
          </a:prstGeom>
          <a:noFill/>
          <a:ln/>
        </p:spPr>
        <p:txBody>
          <a:bodyPr wrap="square" lIns="0" tIns="0" rIns="0" bIns="0" rtlCol="0" anchor="ctr"/>
          <a:lstStyle/>
          <a:p>
            <a:pPr indent="0" marL="0">
              <a:buNone/>
            </a:pPr>
            <a:r>
              <a:rPr lang="en-US" sz="1400" b="1" dirty="0">
                <a:solidFill>
                  <a:schemeClr val="tx2"/>
                </a:solidFill>
              </a:rPr>
              <a:t>Found on the real phone</a:t>
            </a:r>
            <a:endParaRPr lang="en-US" sz="1400" dirty="0"/>
          </a:p>
          <a:p>
            <a:pPr indent="0" marL="0">
              <a:buNone/>
            </a:pPr>
            <a:r>
              <a:rPr lang="en-US" sz="1400" dirty="0">
                <a:solidFill>
                  <a:schemeClr val="tx1"/>
                </a:solidFill>
              </a:rPr>
              <a:t>Xiaomi “Autostart” can block the restart after an update or reboot. For now: open the app once.</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Phase 3: core logic, first alert</a:t>
            </a:r>
            <a:endParaRPr lang="en-US" sz="3600" dirty="0"/>
          </a:p>
        </p:txBody>
      </p:sp>
      <p:sp>
        <p:nvSpPr>
          <p:cNvPr id="3" name="chip-25–29 Jan 2027 · ~50%"/>
          <p:cNvSpPr/>
          <p:nvPr/>
        </p:nvSpPr>
        <p:spPr>
          <a:xfrm>
            <a:off x="8897112" y="521208"/>
            <a:ext cx="2743200" cy="329184"/>
          </a:xfrm>
          <a:prstGeom prst="roundRect">
            <a:avLst>
              <a:gd name="adj" fmla="val 50000"/>
            </a:avLst>
          </a:prstGeom>
          <a:solidFill>
            <a:schemeClr val="accent4"/>
          </a:solidFill>
          <a:ln/>
        </p:spPr>
      </p:sp>
      <p:sp>
        <p:nvSpPr>
          <p:cNvPr id="4" name="Text 2"/>
          <p:cNvSpPr txBox="1"/>
          <p:nvPr/>
        </p:nvSpPr>
        <p:spPr>
          <a:xfrm>
            <a:off x="8897112" y="521208"/>
            <a:ext cx="2743200" cy="329184"/>
          </a:xfrm>
          <a:prstGeom prst="rect">
            <a:avLst/>
          </a:prstGeom>
          <a:noFill/>
          <a:ln/>
        </p:spPr>
        <p:txBody>
          <a:bodyPr wrap="square" lIns="0" tIns="0" rIns="0" bIns="0" rtlCol="0" anchor="ctr"/>
          <a:lstStyle/>
          <a:p>
            <a:pPr algn="ctr" indent="0" marL="0">
              <a:buNone/>
            </a:pPr>
            <a:r>
              <a:rPr lang="en-US" sz="1200" b="1" dirty="0">
                <a:solidFill>
                  <a:schemeClr val="bg1"/>
                </a:solidFill>
              </a:rPr>
              <a:t>25–29 Jan 2027 · ~50%</a:t>
            </a:r>
            <a:endParaRPr lang="en-US" sz="1200" dirty="0"/>
          </a:p>
        </p:txBody>
      </p:sp>
      <p:sp>
        <p:nvSpPr>
          <p:cNvPr id="5" name="phase3-1"/>
          <p:cNvSpPr/>
          <p:nvPr/>
        </p:nvSpPr>
        <p:spPr>
          <a:xfrm>
            <a:off x="548640" y="1325880"/>
            <a:ext cx="3515258" cy="4800600"/>
          </a:xfrm>
          <a:prstGeom prst="roundRect">
            <a:avLst>
              <a:gd name="adj" fmla="val 2601"/>
            </a:avLst>
          </a:prstGeom>
          <a:solidFill>
            <a:schemeClr val="bg2"/>
          </a:solidFill>
          <a:ln/>
        </p:spPr>
      </p:sp>
      <p:sp>
        <p:nvSpPr>
          <p:cNvPr id="6" name="icon-circle-FaAndroid"/>
          <p:cNvSpPr/>
          <p:nvPr/>
        </p:nvSpPr>
        <p:spPr>
          <a:xfrm>
            <a:off x="822960" y="1508760"/>
            <a:ext cx="594360" cy="594360"/>
          </a:xfrm>
          <a:prstGeom prst="ellipse">
            <a:avLst/>
          </a:prstGeom>
          <a:solidFill>
            <a:schemeClr val="accent1"/>
          </a:solidFill>
          <a:ln/>
        </p:spPr>
      </p:sp>
      <p:pic>
        <p:nvPicPr>
          <p:cNvPr id="7" name="icon-FaAndroid" descr="preencoded.png">    </p:cNvPr>
          <p:cNvPicPr>
            <a:picLocks noChangeAspect="1"/>
          </p:cNvPicPr>
          <p:nvPr/>
        </p:nvPicPr>
        <p:blipFill>
          <a:blip r:embed="rId1"/>
          <a:stretch>
            <a:fillRect/>
          </a:stretch>
        </p:blipFill>
        <p:spPr>
          <a:xfrm>
            <a:off x="965606" y="1651406"/>
            <a:ext cx="309067" cy="309067"/>
          </a:xfrm>
          <a:prstGeom prst="rect">
            <a:avLst/>
          </a:prstGeom>
        </p:spPr>
      </p:pic>
      <p:sp>
        <p:nvSpPr>
          <p:cNvPr id="8" name="Text 5"/>
          <p:cNvSpPr txBox="1"/>
          <p:nvPr/>
        </p:nvSpPr>
        <p:spPr>
          <a:xfrm>
            <a:off x="1554480" y="1508760"/>
            <a:ext cx="2326538" cy="365760"/>
          </a:xfrm>
          <a:prstGeom prst="rect">
            <a:avLst/>
          </a:prstGeom>
          <a:noFill/>
          <a:ln/>
        </p:spPr>
        <p:txBody>
          <a:bodyPr wrap="square" lIns="0" tIns="0" rIns="0" bIns="0" rtlCol="0" anchor="t"/>
          <a:lstStyle/>
          <a:p>
            <a:pPr indent="0" marL="0">
              <a:buNone/>
            </a:pPr>
            <a:r>
              <a:rPr lang="en-US" sz="1800" b="1" dirty="0">
                <a:solidFill>
                  <a:schemeClr val="tx2"/>
                </a:solidFill>
              </a:rPr>
              <a:t>On the phone</a:t>
            </a:r>
            <a:endParaRPr lang="en-US" sz="1800" dirty="0"/>
          </a:p>
        </p:txBody>
      </p:sp>
      <p:sp>
        <p:nvSpPr>
          <p:cNvPr id="9" name="Text 6"/>
          <p:cNvSpPr txBox="1"/>
          <p:nvPr/>
        </p:nvSpPr>
        <p:spPr>
          <a:xfrm>
            <a:off x="1554480" y="1856232"/>
            <a:ext cx="2326538" cy="274320"/>
          </a:xfrm>
          <a:prstGeom prst="rect">
            <a:avLst/>
          </a:prstGeom>
          <a:noFill/>
          <a:ln/>
        </p:spPr>
        <p:txBody>
          <a:bodyPr wrap="square" lIns="0" tIns="0" rIns="0" bIns="0" rtlCol="0" anchor="t"/>
          <a:lstStyle/>
          <a:p>
            <a:pPr indent="0" marL="0">
              <a:buNone/>
            </a:pPr>
            <a:r>
              <a:rPr lang="en-US" sz="1200" b="1" dirty="0">
                <a:solidFill>
                  <a:schemeClr val="accent2"/>
                </a:solidFill>
              </a:rPr>
              <a:t>Must-have</a:t>
            </a:r>
            <a:endParaRPr lang="en-US" sz="1200" dirty="0"/>
          </a:p>
        </p:txBody>
      </p:sp>
      <p:sp>
        <p:nvSpPr>
          <p:cNvPr id="10" name="Text 7"/>
          <p:cNvSpPr txBox="1"/>
          <p:nvPr/>
        </p:nvSpPr>
        <p:spPr>
          <a:xfrm>
            <a:off x="822960" y="2377440"/>
            <a:ext cx="3012338" cy="365760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Baseline: a rolling 14-day pattern, ready after 7 days</a:t>
            </a:r>
            <a:endParaRPr lang="en-US" sz="1500" dirty="0"/>
          </a:p>
          <a:p>
            <a:pPr marL="203200" indent="-203200">
              <a:spcAft>
                <a:spcPts val="900"/>
              </a:spcAft>
              <a:buSzPct val="100000"/>
              <a:buChar char="•"/>
            </a:pPr>
            <a:r>
              <a:rPr lang="en-US" sz="1500" dirty="0">
                <a:solidFill>
                  <a:schemeClr val="tx1"/>
                </a:solidFill>
              </a:rPr>
              <a:t>Deviation check with an “Everything OK?” nudge</a:t>
            </a:r>
            <a:endParaRPr lang="en-US" sz="1500" dirty="0"/>
          </a:p>
          <a:p>
            <a:pPr marL="203200" indent="-203200">
              <a:spcAft>
                <a:spcPts val="900"/>
              </a:spcAft>
              <a:buSzPct val="100000"/>
              <a:buChar char="•"/>
            </a:pPr>
            <a:r>
              <a:rPr lang="en-US" sz="1500" dirty="0">
                <a:solidFill>
                  <a:schemeClr val="tx1"/>
                </a:solidFill>
              </a:rPr>
              <a:t>Elder or caregiver role choice</a:t>
            </a:r>
            <a:endParaRPr lang="en-US" sz="1500" dirty="0"/>
          </a:p>
          <a:p>
            <a:pPr marL="203200" indent="-203200">
              <a:spcAft>
                <a:spcPts val="900"/>
              </a:spcAft>
              <a:buSzPct val="100000"/>
              <a:buChar char="•"/>
            </a:pPr>
            <a:r>
              <a:rPr lang="en-US" sz="1500" dirty="0">
                <a:solidFill>
                  <a:schemeClr val="tx1"/>
                </a:solidFill>
              </a:rPr>
              <a:t>Pairing with a 6-digit code, up to 3 caregivers</a:t>
            </a:r>
            <a:endParaRPr lang="en-US" sz="1500" dirty="0"/>
          </a:p>
          <a:p>
            <a:pPr marL="203200" indent="-203200">
              <a:spcAft>
                <a:spcPts val="900"/>
              </a:spcAft>
              <a:buSzPct val="100000"/>
              <a:buChar char="•"/>
            </a:pPr>
            <a:r>
              <a:rPr lang="en-US" sz="1500" dirty="0">
                <a:solidFill>
                  <a:schemeClr val="tx1"/>
                </a:solidFill>
              </a:rPr>
              <a:t>Heartbeat: only “I'm OK” + check-in window</a:t>
            </a:r>
            <a:endParaRPr lang="en-US" sz="1500" dirty="0"/>
          </a:p>
        </p:txBody>
      </p:sp>
      <p:sp>
        <p:nvSpPr>
          <p:cNvPr id="11" name="phase3-2"/>
          <p:cNvSpPr/>
          <p:nvPr/>
        </p:nvSpPr>
        <p:spPr>
          <a:xfrm>
            <a:off x="4338218" y="1325880"/>
            <a:ext cx="3515258" cy="4800600"/>
          </a:xfrm>
          <a:prstGeom prst="roundRect">
            <a:avLst>
              <a:gd name="adj" fmla="val 2601"/>
            </a:avLst>
          </a:prstGeom>
          <a:solidFill>
            <a:schemeClr val="bg2"/>
          </a:solidFill>
          <a:ln/>
        </p:spPr>
      </p:sp>
      <p:sp>
        <p:nvSpPr>
          <p:cNvPr id="12" name="icon-circle-FaServer"/>
          <p:cNvSpPr/>
          <p:nvPr/>
        </p:nvSpPr>
        <p:spPr>
          <a:xfrm>
            <a:off x="4612538" y="1508760"/>
            <a:ext cx="594360" cy="594360"/>
          </a:xfrm>
          <a:prstGeom prst="ellipse">
            <a:avLst/>
          </a:prstGeom>
          <a:solidFill>
            <a:schemeClr val="accent5"/>
          </a:solidFill>
          <a:ln/>
        </p:spPr>
      </p:sp>
      <p:pic>
        <p:nvPicPr>
          <p:cNvPr id="13" name="icon-FaServer" descr="preencoded.png">    </p:cNvPr>
          <p:cNvPicPr>
            <a:picLocks noChangeAspect="1"/>
          </p:cNvPicPr>
          <p:nvPr/>
        </p:nvPicPr>
        <p:blipFill>
          <a:blip r:embed="rId2"/>
          <a:stretch>
            <a:fillRect/>
          </a:stretch>
        </p:blipFill>
        <p:spPr>
          <a:xfrm>
            <a:off x="4755185" y="1651406"/>
            <a:ext cx="309067" cy="309067"/>
          </a:xfrm>
          <a:prstGeom prst="rect">
            <a:avLst/>
          </a:prstGeom>
        </p:spPr>
      </p:pic>
      <p:sp>
        <p:nvSpPr>
          <p:cNvPr id="14" name="Text 10"/>
          <p:cNvSpPr txBox="1"/>
          <p:nvPr/>
        </p:nvSpPr>
        <p:spPr>
          <a:xfrm>
            <a:off x="5344058" y="1508760"/>
            <a:ext cx="2326538" cy="365760"/>
          </a:xfrm>
          <a:prstGeom prst="rect">
            <a:avLst/>
          </a:prstGeom>
          <a:noFill/>
          <a:ln/>
        </p:spPr>
        <p:txBody>
          <a:bodyPr wrap="square" lIns="0" tIns="0" rIns="0" bIns="0" rtlCol="0" anchor="t"/>
          <a:lstStyle/>
          <a:p>
            <a:pPr indent="0" marL="0">
              <a:buNone/>
            </a:pPr>
            <a:r>
              <a:rPr lang="en-US" sz="1800" b="1" dirty="0">
                <a:solidFill>
                  <a:schemeClr val="tx2"/>
                </a:solidFill>
              </a:rPr>
              <a:t>On the server</a:t>
            </a:r>
            <a:endParaRPr lang="en-US" sz="1800" dirty="0"/>
          </a:p>
        </p:txBody>
      </p:sp>
      <p:sp>
        <p:nvSpPr>
          <p:cNvPr id="15" name="Text 11"/>
          <p:cNvSpPr txBox="1"/>
          <p:nvPr/>
        </p:nvSpPr>
        <p:spPr>
          <a:xfrm>
            <a:off x="5344058" y="1856232"/>
            <a:ext cx="2326538" cy="274320"/>
          </a:xfrm>
          <a:prstGeom prst="rect">
            <a:avLst/>
          </a:prstGeom>
          <a:noFill/>
          <a:ln/>
        </p:spPr>
        <p:txBody>
          <a:bodyPr wrap="square" lIns="0" tIns="0" rIns="0" bIns="0" rtlCol="0" anchor="t"/>
          <a:lstStyle/>
          <a:p>
            <a:pPr indent="0" marL="0">
              <a:buNone/>
            </a:pPr>
            <a:r>
              <a:rPr lang="en-US" sz="1200" b="1" dirty="0">
                <a:solidFill>
                  <a:schemeClr val="accent2"/>
                </a:solidFill>
              </a:rPr>
              <a:t>Must-have</a:t>
            </a:r>
            <a:endParaRPr lang="en-US" sz="1200" dirty="0"/>
          </a:p>
        </p:txBody>
      </p:sp>
      <p:sp>
        <p:nvSpPr>
          <p:cNvPr id="16" name="Text 12"/>
          <p:cNvSpPr txBox="1"/>
          <p:nvPr/>
        </p:nvSpPr>
        <p:spPr>
          <a:xfrm>
            <a:off x="4612538" y="2377440"/>
            <a:ext cx="3012338" cy="365760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Tables for elders, caregivers, pairings, heartbeats, alerts</a:t>
            </a:r>
            <a:endParaRPr lang="en-US" sz="1500" dirty="0"/>
          </a:p>
          <a:p>
            <a:pPr marL="203200" indent="-203200">
              <a:spcAft>
                <a:spcPts val="900"/>
              </a:spcAft>
              <a:buSzPct val="100000"/>
              <a:buChar char="•"/>
            </a:pPr>
            <a:r>
              <a:rPr lang="en-US" sz="1500" dirty="0">
                <a:solidFill>
                  <a:schemeClr val="tx1"/>
                </a:solidFill>
              </a:rPr>
              <a:t>Device registration with secure tokens</a:t>
            </a:r>
            <a:endParaRPr lang="en-US" sz="1500" dirty="0"/>
          </a:p>
          <a:p>
            <a:pPr marL="203200" indent="-203200">
              <a:spcAft>
                <a:spcPts val="900"/>
              </a:spcAft>
              <a:buSzPct val="100000"/>
              <a:buChar char="•"/>
            </a:pPr>
            <a:r>
              <a:rPr lang="en-US" sz="1500" dirty="0">
                <a:solidFill>
                  <a:schemeClr val="tx1"/>
                </a:solidFill>
              </a:rPr>
              <a:t>Dead-man's switch: alert when a heartbeat is missed</a:t>
            </a:r>
            <a:endParaRPr lang="en-US" sz="1500" dirty="0"/>
          </a:p>
          <a:p>
            <a:pPr marL="203200" indent="-203200">
              <a:spcAft>
                <a:spcPts val="900"/>
              </a:spcAft>
              <a:buSzPct val="100000"/>
              <a:buChar char="•"/>
            </a:pPr>
            <a:r>
              <a:rPr lang="en-US" sz="1500" dirty="0">
                <a:solidFill>
                  <a:schemeClr val="tx1"/>
                </a:solidFill>
              </a:rPr>
              <a:t>Push alert to caregivers (Firebase)</a:t>
            </a:r>
            <a:endParaRPr lang="en-US" sz="1500" dirty="0"/>
          </a:p>
          <a:p>
            <a:pPr marL="203200" indent="-203200">
              <a:spcAft>
                <a:spcPts val="900"/>
              </a:spcAft>
              <a:buSzPct val="100000"/>
              <a:buChar char="•"/>
            </a:pPr>
            <a:r>
              <a:rPr lang="en-US" sz="1500" dirty="0">
                <a:solidFill>
                  <a:schemeClr val="tx1"/>
                </a:solidFill>
              </a:rPr>
              <a:t>Nightly database backups</a:t>
            </a:r>
            <a:endParaRPr lang="en-US" sz="1500" dirty="0"/>
          </a:p>
        </p:txBody>
      </p:sp>
      <p:sp>
        <p:nvSpPr>
          <p:cNvPr id="17" name="phase3-3"/>
          <p:cNvSpPr/>
          <p:nvPr/>
        </p:nvSpPr>
        <p:spPr>
          <a:xfrm>
            <a:off x="8127797" y="1325880"/>
            <a:ext cx="3515258" cy="4800600"/>
          </a:xfrm>
          <a:prstGeom prst="roundRect">
            <a:avLst>
              <a:gd name="adj" fmla="val 2601"/>
            </a:avLst>
          </a:prstGeom>
          <a:solidFill>
            <a:schemeClr val="bg2"/>
          </a:solidFill>
          <a:ln/>
        </p:spPr>
      </p:sp>
      <p:sp>
        <p:nvSpPr>
          <p:cNvPr id="18" name="icon-circle-FaRedo"/>
          <p:cNvSpPr/>
          <p:nvPr/>
        </p:nvSpPr>
        <p:spPr>
          <a:xfrm>
            <a:off x="8402117" y="1508760"/>
            <a:ext cx="594360" cy="594360"/>
          </a:xfrm>
          <a:prstGeom prst="ellipse">
            <a:avLst/>
          </a:prstGeom>
          <a:solidFill>
            <a:schemeClr val="accent4"/>
          </a:solidFill>
          <a:ln/>
        </p:spPr>
      </p:sp>
      <p:pic>
        <p:nvPicPr>
          <p:cNvPr id="19" name="icon-FaRedo" descr="preencoded.png">    </p:cNvPr>
          <p:cNvPicPr>
            <a:picLocks noChangeAspect="1"/>
          </p:cNvPicPr>
          <p:nvPr/>
        </p:nvPicPr>
        <p:blipFill>
          <a:blip r:embed="rId3"/>
          <a:stretch>
            <a:fillRect/>
          </a:stretch>
        </p:blipFill>
        <p:spPr>
          <a:xfrm>
            <a:off x="8544763" y="1651406"/>
            <a:ext cx="309067" cy="309067"/>
          </a:xfrm>
          <a:prstGeom prst="rect">
            <a:avLst/>
          </a:prstGeom>
        </p:spPr>
      </p:pic>
      <p:sp>
        <p:nvSpPr>
          <p:cNvPr id="20" name="Text 15"/>
          <p:cNvSpPr txBox="1"/>
          <p:nvPr/>
        </p:nvSpPr>
        <p:spPr>
          <a:xfrm>
            <a:off x="9133637" y="1508760"/>
            <a:ext cx="2326538" cy="365760"/>
          </a:xfrm>
          <a:prstGeom prst="rect">
            <a:avLst/>
          </a:prstGeom>
          <a:noFill/>
          <a:ln/>
        </p:spPr>
        <p:txBody>
          <a:bodyPr wrap="square" lIns="0" tIns="0" rIns="0" bIns="0" rtlCol="0" anchor="t"/>
          <a:lstStyle/>
          <a:p>
            <a:pPr indent="0" marL="0">
              <a:buNone/>
            </a:pPr>
            <a:r>
              <a:rPr lang="en-US" sz="1800" b="1" dirty="0">
                <a:solidFill>
                  <a:schemeClr val="tx2"/>
                </a:solidFill>
              </a:rPr>
              <a:t>Moved from Phase 2</a:t>
            </a:r>
            <a:endParaRPr lang="en-US" sz="1800" dirty="0"/>
          </a:p>
        </p:txBody>
      </p:sp>
      <p:sp>
        <p:nvSpPr>
          <p:cNvPr id="21" name="Text 16"/>
          <p:cNvSpPr txBox="1"/>
          <p:nvPr/>
        </p:nvSpPr>
        <p:spPr>
          <a:xfrm>
            <a:off x="9133637" y="1856232"/>
            <a:ext cx="2326538" cy="274320"/>
          </a:xfrm>
          <a:prstGeom prst="rect">
            <a:avLst/>
          </a:prstGeom>
          <a:noFill/>
          <a:ln/>
        </p:spPr>
        <p:txBody>
          <a:bodyPr wrap="square" lIns="0" tIns="0" rIns="0" bIns="0" rtlCol="0" anchor="t"/>
          <a:lstStyle/>
          <a:p>
            <a:pPr indent="0" marL="0">
              <a:buNone/>
            </a:pPr>
            <a:r>
              <a:rPr lang="en-US" sz="1200" b="1" dirty="0">
                <a:solidFill>
                  <a:schemeClr val="accent4"/>
                </a:solidFill>
              </a:rPr>
              <a:t>Nice-to-have</a:t>
            </a:r>
            <a:endParaRPr lang="en-US" sz="1200" dirty="0"/>
          </a:p>
        </p:txBody>
      </p:sp>
      <p:sp>
        <p:nvSpPr>
          <p:cNvPr id="22" name="Text 17"/>
          <p:cNvSpPr txBox="1"/>
          <p:nvPr/>
        </p:nvSpPr>
        <p:spPr>
          <a:xfrm>
            <a:off x="8402117" y="2377440"/>
            <a:ext cx="3012338" cy="365760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Phase 3 API design draft</a:t>
            </a:r>
            <a:endParaRPr lang="en-US" sz="1500" dirty="0"/>
          </a:p>
          <a:p>
            <a:pPr marL="203200" indent="-203200">
              <a:spcAft>
                <a:spcPts val="900"/>
              </a:spcAft>
              <a:buSzPct val="100000"/>
              <a:buChar char="•"/>
            </a:pPr>
            <a:r>
              <a:rPr lang="en-US" sz="1500" dirty="0">
                <a:solidFill>
                  <a:schemeClr val="tx1"/>
                </a:solidFill>
              </a:rPr>
              <a:t>Charging: plugged and unplugged times</a:t>
            </a:r>
            <a:endParaRPr lang="en-US" sz="1500" dirty="0"/>
          </a:p>
          <a:p>
            <a:pPr marL="203200" indent="-203200">
              <a:spcAft>
                <a:spcPts val="900"/>
              </a:spcAft>
              <a:buSzPct val="100000"/>
              <a:buChar char="•"/>
            </a:pPr>
            <a:r>
              <a:rPr lang="en-US" sz="1500" dirty="0">
                <a:solidFill>
                  <a:schemeClr val="tx1"/>
                </a:solidFill>
              </a:rPr>
              <a:t>Call activity: counts and times only</a:t>
            </a:r>
            <a:endParaRPr lang="en-US" sz="1500" dirty="0"/>
          </a:p>
          <a:p>
            <a:pPr marL="203200" indent="-203200">
              <a:spcAft>
                <a:spcPts val="900"/>
              </a:spcAft>
              <a:buSzPct val="100000"/>
              <a:buChar char="•"/>
            </a:pPr>
            <a:r>
              <a:rPr lang="en-US" sz="1500" dirty="0">
                <a:solidFill>
                  <a:schemeClr val="tx1"/>
                </a:solidFill>
              </a:rPr>
              <a:t>30-day auto-delete on the phone</a:t>
            </a:r>
            <a:endParaRPr lang="en-US" sz="1500" dirty="0"/>
          </a:p>
          <a:p>
            <a:pPr marL="203200" indent="-203200">
              <a:spcAft>
                <a:spcPts val="900"/>
              </a:spcAft>
              <a:buSzPct val="100000"/>
              <a:buChar char="•"/>
            </a:pPr>
            <a:r>
              <a:rPr lang="en-US" sz="1500" dirty="0">
                <a:solidFill>
                  <a:schemeClr val="tx1"/>
                </a:solidFill>
              </a:rPr>
              <a:t>First battery measurement</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Phases 4 and 5: caregivers, Open House</a:t>
            </a:r>
            <a:endParaRPr lang="en-US" sz="3600" dirty="0"/>
          </a:p>
        </p:txBody>
      </p:sp>
      <p:sp>
        <p:nvSpPr>
          <p:cNvPr id="3" name="later-1"/>
          <p:cNvSpPr/>
          <p:nvPr/>
        </p:nvSpPr>
        <p:spPr>
          <a:xfrm>
            <a:off x="548640" y="1325880"/>
            <a:ext cx="5410048" cy="4800600"/>
          </a:xfrm>
          <a:prstGeom prst="roundRect">
            <a:avLst>
              <a:gd name="adj" fmla="val 1905"/>
            </a:avLst>
          </a:prstGeom>
          <a:solidFill>
            <a:schemeClr val="bg2"/>
          </a:solidFill>
          <a:ln/>
        </p:spPr>
      </p:sp>
      <p:sp>
        <p:nvSpPr>
          <p:cNvPr id="4" name="icon-circle-FaUserFriends"/>
          <p:cNvSpPr/>
          <p:nvPr/>
        </p:nvSpPr>
        <p:spPr>
          <a:xfrm>
            <a:off x="822960" y="1508760"/>
            <a:ext cx="640080" cy="640080"/>
          </a:xfrm>
          <a:prstGeom prst="ellipse">
            <a:avLst/>
          </a:prstGeom>
          <a:solidFill>
            <a:schemeClr val="accent1"/>
          </a:solidFill>
          <a:ln/>
        </p:spPr>
      </p:sp>
      <p:pic>
        <p:nvPicPr>
          <p:cNvPr id="5" name="icon-FaUserFriends" descr="preencoded.png">    </p:cNvPr>
          <p:cNvPicPr>
            <a:picLocks noChangeAspect="1"/>
          </p:cNvPicPr>
          <p:nvPr/>
        </p:nvPicPr>
        <p:blipFill>
          <a:blip r:embed="rId1"/>
          <a:stretch>
            <a:fillRect/>
          </a:stretch>
        </p:blipFill>
        <p:spPr>
          <a:xfrm>
            <a:off x="976579" y="1662379"/>
            <a:ext cx="332842" cy="332842"/>
          </a:xfrm>
          <a:prstGeom prst="rect">
            <a:avLst/>
          </a:prstGeom>
        </p:spPr>
      </p:pic>
      <p:sp>
        <p:nvSpPr>
          <p:cNvPr id="6" name="Text 3"/>
          <p:cNvSpPr txBox="1"/>
          <p:nvPr/>
        </p:nvSpPr>
        <p:spPr>
          <a:xfrm>
            <a:off x="1645920" y="1508760"/>
            <a:ext cx="4129888" cy="365760"/>
          </a:xfrm>
          <a:prstGeom prst="rect">
            <a:avLst/>
          </a:prstGeom>
          <a:noFill/>
          <a:ln/>
        </p:spPr>
        <p:txBody>
          <a:bodyPr wrap="square" lIns="0" tIns="0" rIns="0" bIns="0" rtlCol="0" anchor="t"/>
          <a:lstStyle/>
          <a:p>
            <a:pPr indent="0" marL="0">
              <a:buNone/>
            </a:pPr>
            <a:r>
              <a:rPr lang="en-US" sz="1900" b="1" dirty="0">
                <a:solidFill>
                  <a:schemeClr val="tx2"/>
                </a:solidFill>
              </a:rPr>
              <a:t>Phase 4 · Review V</a:t>
            </a:r>
            <a:endParaRPr lang="en-US" sz="1900" dirty="0"/>
          </a:p>
        </p:txBody>
      </p:sp>
      <p:sp>
        <p:nvSpPr>
          <p:cNvPr id="7" name="Text 4"/>
          <p:cNvSpPr txBox="1"/>
          <p:nvPr/>
        </p:nvSpPr>
        <p:spPr>
          <a:xfrm>
            <a:off x="1645920" y="1874520"/>
            <a:ext cx="4129888" cy="274320"/>
          </a:xfrm>
          <a:prstGeom prst="rect">
            <a:avLst/>
          </a:prstGeom>
          <a:noFill/>
          <a:ln/>
        </p:spPr>
        <p:txBody>
          <a:bodyPr wrap="square" lIns="0" tIns="0" rIns="0" bIns="0" rtlCol="0" anchor="t"/>
          <a:lstStyle/>
          <a:p>
            <a:pPr indent="0" marL="0">
              <a:buNone/>
            </a:pPr>
            <a:r>
              <a:rPr lang="en-US" sz="1300" dirty="0">
                <a:solidFill>
                  <a:schemeClr val="accent4"/>
                </a:solidFill>
              </a:rPr>
              <a:t>8–12 Mar 2027 · ~80%</a:t>
            </a:r>
            <a:endParaRPr lang="en-US" sz="1300" dirty="0"/>
          </a:p>
        </p:txBody>
      </p:sp>
      <p:sp>
        <p:nvSpPr>
          <p:cNvPr id="8" name="Text 5"/>
          <p:cNvSpPr txBox="1"/>
          <p:nvPr/>
        </p:nvSpPr>
        <p:spPr>
          <a:xfrm>
            <a:off x="822960" y="2377440"/>
            <a:ext cx="4907128" cy="365760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Caregiver dashboard: normal, nudged or escalated</a:t>
            </a:r>
            <a:endParaRPr lang="en-US" sz="1500" dirty="0"/>
          </a:p>
          <a:p>
            <a:pPr marL="203200" indent="-203200">
              <a:spcAft>
                <a:spcPts val="500"/>
              </a:spcAft>
              <a:buSzPct val="100000"/>
              <a:buChar char="•"/>
            </a:pPr>
            <a:r>
              <a:rPr lang="en-US" sz="1500" dirty="0">
                <a:solidFill>
                  <a:schemeClr val="tx1"/>
                </a:solidFill>
              </a:rPr>
              <a:t>Acknowledge and resolve alerts</a:t>
            </a:r>
            <a:endParaRPr lang="en-US" sz="1500" dirty="0"/>
          </a:p>
          <a:p>
            <a:pPr marL="203200" indent="-203200">
              <a:spcAft>
                <a:spcPts val="500"/>
              </a:spcAft>
              <a:buSzPct val="100000"/>
              <a:buChar char="•"/>
            </a:pPr>
            <a:r>
              <a:rPr lang="en-US" sz="1500" dirty="0">
                <a:solidFill>
                  <a:schemeClr val="tx1"/>
                </a:solidFill>
              </a:rPr>
              <a:t>Transparency screen: everything collected, in plain words</a:t>
            </a:r>
            <a:endParaRPr lang="en-US" sz="1500" dirty="0"/>
          </a:p>
          <a:p>
            <a:pPr marL="203200" indent="-203200">
              <a:spcAft>
                <a:spcPts val="500"/>
              </a:spcAft>
              <a:buSzPct val="100000"/>
              <a:buChar char="•"/>
            </a:pPr>
            <a:r>
              <a:rPr lang="en-US" sz="1500" dirty="0">
                <a:solidFill>
                  <a:schemeClr val="tx1"/>
                </a:solidFill>
              </a:rPr>
              <a:t>Pause / travel mode</a:t>
            </a:r>
            <a:endParaRPr lang="en-US" sz="1500" dirty="0"/>
          </a:p>
          <a:p>
            <a:pPr marL="203200" indent="-203200">
              <a:spcAft>
                <a:spcPts val="500"/>
              </a:spcAft>
              <a:buSzPct val="100000"/>
              <a:buChar char="•"/>
            </a:pPr>
            <a:r>
              <a:rPr lang="en-US" sz="1500" dirty="0">
                <a:solidFill>
                  <a:schemeClr val="tx1"/>
                </a:solidFill>
              </a:rPr>
              <a:t>View and remove caregivers; revoking consent unpairs all</a:t>
            </a:r>
            <a:endParaRPr lang="en-US" sz="1500" dirty="0"/>
          </a:p>
          <a:p>
            <a:pPr marL="203200" indent="-203200">
              <a:spcAft>
                <a:spcPts val="500"/>
              </a:spcAft>
              <a:buSzPct val="100000"/>
              <a:buChar char="•"/>
            </a:pPr>
            <a:r>
              <a:rPr lang="en-US" sz="1500" dirty="0">
                <a:solidFill>
                  <a:schemeClr val="tx1"/>
                </a:solidFill>
              </a:rPr>
              <a:t>Pilot users and threshold tuning</a:t>
            </a:r>
            <a:endParaRPr lang="en-US" sz="1500" dirty="0"/>
          </a:p>
          <a:p>
            <a:pPr marL="203200" indent="-203200">
              <a:spcAft>
                <a:spcPts val="500"/>
              </a:spcAft>
              <a:buSzPct val="100000"/>
              <a:buChar char="•"/>
            </a:pPr>
            <a:r>
              <a:rPr lang="en-US" sz="1500" dirty="0">
                <a:solidFill>
                  <a:schemeClr val="tx1"/>
                </a:solidFill>
              </a:rPr>
              <a:t>Battery target: under 5% extra a day</a:t>
            </a:r>
            <a:endParaRPr lang="en-US" sz="1500" dirty="0"/>
          </a:p>
          <a:p>
            <a:pPr marL="203200" indent="-203200">
              <a:spcAft>
                <a:spcPts val="500"/>
              </a:spcAft>
              <a:buSzPct val="100000"/>
              <a:buChar char="•"/>
            </a:pPr>
            <a:r>
              <a:rPr lang="en-US" sz="1500" dirty="0">
                <a:solidFill>
                  <a:schemeClr val="tx1"/>
                </a:solidFill>
              </a:rPr>
              <a:t>Test plan and results</a:t>
            </a:r>
            <a:endParaRPr lang="en-US" sz="1500" dirty="0"/>
          </a:p>
          <a:p>
            <a:pPr marL="203200" indent="-203200">
              <a:spcAft>
                <a:spcPts val="500"/>
              </a:spcAft>
              <a:buSzPct val="100000"/>
              <a:buChar char="•"/>
            </a:pPr>
            <a:r>
              <a:rPr lang="en-US" sz="1500" dirty="0">
                <a:solidFill>
                  <a:schemeClr val="tx1"/>
                </a:solidFill>
              </a:rPr>
              <a:t>Activity trend for caregivers, aggregated (nice-to-have)</a:t>
            </a:r>
            <a:endParaRPr lang="en-US" sz="1500" dirty="0"/>
          </a:p>
        </p:txBody>
      </p:sp>
      <p:sp>
        <p:nvSpPr>
          <p:cNvPr id="9" name="later-2"/>
          <p:cNvSpPr/>
          <p:nvPr/>
        </p:nvSpPr>
        <p:spPr>
          <a:xfrm>
            <a:off x="6233008" y="1325880"/>
            <a:ext cx="5410048" cy="4800600"/>
          </a:xfrm>
          <a:prstGeom prst="roundRect">
            <a:avLst>
              <a:gd name="adj" fmla="val 1905"/>
            </a:avLst>
          </a:prstGeom>
          <a:solidFill>
            <a:schemeClr val="bg2"/>
          </a:solidFill>
          <a:ln/>
        </p:spPr>
      </p:sp>
      <p:sp>
        <p:nvSpPr>
          <p:cNvPr id="10" name="icon-circle-FaRocket"/>
          <p:cNvSpPr/>
          <p:nvPr/>
        </p:nvSpPr>
        <p:spPr>
          <a:xfrm>
            <a:off x="6507328" y="1508760"/>
            <a:ext cx="640080" cy="640080"/>
          </a:xfrm>
          <a:prstGeom prst="ellipse">
            <a:avLst/>
          </a:prstGeom>
          <a:solidFill>
            <a:schemeClr val="accent2"/>
          </a:solidFill>
          <a:ln/>
        </p:spPr>
      </p:sp>
      <p:pic>
        <p:nvPicPr>
          <p:cNvPr id="11" name="icon-FaRocket" descr="preencoded.png">    </p:cNvPr>
          <p:cNvPicPr>
            <a:picLocks noChangeAspect="1"/>
          </p:cNvPicPr>
          <p:nvPr/>
        </p:nvPicPr>
        <p:blipFill>
          <a:blip r:embed="rId2"/>
          <a:stretch>
            <a:fillRect/>
          </a:stretch>
        </p:blipFill>
        <p:spPr>
          <a:xfrm>
            <a:off x="6660947" y="1662379"/>
            <a:ext cx="332842" cy="332842"/>
          </a:xfrm>
          <a:prstGeom prst="rect">
            <a:avLst/>
          </a:prstGeom>
        </p:spPr>
      </p:pic>
      <p:sp>
        <p:nvSpPr>
          <p:cNvPr id="12" name="Text 8"/>
          <p:cNvSpPr txBox="1"/>
          <p:nvPr/>
        </p:nvSpPr>
        <p:spPr>
          <a:xfrm>
            <a:off x="7330288" y="1508760"/>
            <a:ext cx="4129888" cy="365760"/>
          </a:xfrm>
          <a:prstGeom prst="rect">
            <a:avLst/>
          </a:prstGeom>
          <a:noFill/>
          <a:ln/>
        </p:spPr>
        <p:txBody>
          <a:bodyPr wrap="square" lIns="0" tIns="0" rIns="0" bIns="0" rtlCol="0" anchor="t"/>
          <a:lstStyle/>
          <a:p>
            <a:pPr indent="0" marL="0">
              <a:buNone/>
            </a:pPr>
            <a:r>
              <a:rPr lang="en-US" sz="1900" b="1" dirty="0">
                <a:solidFill>
                  <a:schemeClr val="tx2"/>
                </a:solidFill>
              </a:rPr>
              <a:t>Phase 5 · Open House + report</a:t>
            </a:r>
            <a:endParaRPr lang="en-US" sz="1900" dirty="0"/>
          </a:p>
        </p:txBody>
      </p:sp>
      <p:sp>
        <p:nvSpPr>
          <p:cNvPr id="13" name="Text 9"/>
          <p:cNvSpPr txBox="1"/>
          <p:nvPr/>
        </p:nvSpPr>
        <p:spPr>
          <a:xfrm>
            <a:off x="7330288" y="1874520"/>
            <a:ext cx="4129888" cy="274320"/>
          </a:xfrm>
          <a:prstGeom prst="rect">
            <a:avLst/>
          </a:prstGeom>
          <a:noFill/>
          <a:ln/>
        </p:spPr>
        <p:txBody>
          <a:bodyPr wrap="square" lIns="0" tIns="0" rIns="0" bIns="0" rtlCol="0" anchor="t"/>
          <a:lstStyle/>
          <a:p>
            <a:pPr indent="0" marL="0">
              <a:buNone/>
            </a:pPr>
            <a:r>
              <a:rPr lang="en-US" sz="1300" dirty="0">
                <a:solidFill>
                  <a:schemeClr val="accent4"/>
                </a:solidFill>
              </a:rPr>
              <a:t>29 Mar–2 Apr 2027 · 100%</a:t>
            </a:r>
            <a:endParaRPr lang="en-US" sz="1300" dirty="0"/>
          </a:p>
        </p:txBody>
      </p:sp>
      <p:sp>
        <p:nvSpPr>
          <p:cNvPr id="14" name="Text 10"/>
          <p:cNvSpPr txBox="1"/>
          <p:nvPr/>
        </p:nvSpPr>
        <p:spPr>
          <a:xfrm>
            <a:off x="6507328" y="2377440"/>
            <a:ext cx="4907128" cy="365760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Polish and accessibility pass</a:t>
            </a:r>
            <a:endParaRPr lang="en-US" sz="1500" dirty="0"/>
          </a:p>
          <a:p>
            <a:pPr marL="203200" indent="-203200">
              <a:spcAft>
                <a:spcPts val="500"/>
              </a:spcAft>
              <a:buSzPct val="100000"/>
              <a:buChar char="•"/>
            </a:pPr>
            <a:r>
              <a:rPr lang="en-US" sz="1500" dirty="0">
                <a:solidFill>
                  <a:schemeClr val="tx1"/>
                </a:solidFill>
              </a:rPr>
              <a:t>Performance evaluation: alert delay, false alarms, battery</a:t>
            </a:r>
            <a:endParaRPr lang="en-US" sz="1500" dirty="0"/>
          </a:p>
          <a:p>
            <a:pPr marL="203200" indent="-203200">
              <a:spcAft>
                <a:spcPts val="500"/>
              </a:spcAft>
              <a:buSzPct val="100000"/>
              <a:buChar char="•"/>
            </a:pPr>
            <a:r>
              <a:rPr lang="en-US" sz="1500" dirty="0">
                <a:solidFill>
                  <a:schemeClr val="tx1"/>
                </a:solidFill>
              </a:rPr>
              <a:t>Open House demo kit: two phones, live alert, backup video</a:t>
            </a:r>
            <a:endParaRPr lang="en-US" sz="1500" dirty="0"/>
          </a:p>
          <a:p>
            <a:pPr marL="203200" indent="-203200">
              <a:spcAft>
                <a:spcPts val="500"/>
              </a:spcAft>
              <a:buSzPct val="100000"/>
              <a:buChar char="•"/>
            </a:pPr>
            <a:r>
              <a:rPr lang="en-US" sz="1500" dirty="0">
                <a:solidFill>
                  <a:schemeClr val="tx1"/>
                </a:solidFill>
              </a:rPr>
              <a:t>Final report in the prescribed format (2 Apr 2027)</a:t>
            </a:r>
            <a:endParaRPr lang="en-US" sz="1500" dirty="0"/>
          </a:p>
          <a:p>
            <a:pPr marL="203200" indent="-203200">
              <a:spcAft>
                <a:spcPts val="500"/>
              </a:spcAft>
              <a:buSzPct val="100000"/>
              <a:buChar char="•"/>
            </a:pPr>
            <a:r>
              <a:rPr lang="en-US" sz="1500" dirty="0">
                <a:solidFill>
                  <a:schemeClr val="tx1"/>
                </a:solidFill>
              </a:rPr>
              <a:t>SMS fallback for caregivers (nice-to-have)</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The privacy promise, in every phase</a:t>
            </a:r>
            <a:endParaRPr lang="en-US" sz="3600" dirty="0"/>
          </a:p>
        </p:txBody>
      </p:sp>
      <p:sp>
        <p:nvSpPr>
          <p:cNvPr id="3" name="privacy-1"/>
          <p:cNvSpPr/>
          <p:nvPr/>
        </p:nvSpPr>
        <p:spPr>
          <a:xfrm>
            <a:off x="548640" y="1371600"/>
            <a:ext cx="2567864" cy="3291840"/>
          </a:xfrm>
          <a:prstGeom prst="roundRect">
            <a:avLst>
              <a:gd name="adj" fmla="val 3561"/>
            </a:avLst>
          </a:prstGeom>
          <a:solidFill>
            <a:schemeClr val="bg2"/>
          </a:solidFill>
          <a:ln/>
        </p:spPr>
      </p:sp>
      <p:sp>
        <p:nvSpPr>
          <p:cNvPr id="4" name="icon-circle-FaMobileAlt"/>
          <p:cNvSpPr/>
          <p:nvPr/>
        </p:nvSpPr>
        <p:spPr>
          <a:xfrm>
            <a:off x="1329652" y="1645920"/>
            <a:ext cx="1005840" cy="1005840"/>
          </a:xfrm>
          <a:prstGeom prst="ellipse">
            <a:avLst/>
          </a:prstGeom>
          <a:solidFill>
            <a:schemeClr val="tx2"/>
          </a:solidFill>
          <a:ln/>
        </p:spPr>
      </p:sp>
      <p:pic>
        <p:nvPicPr>
          <p:cNvPr id="5" name="icon-FaMobileAlt" descr="preencoded.png">    </p:cNvPr>
          <p:cNvPicPr>
            <a:picLocks noChangeAspect="1"/>
          </p:cNvPicPr>
          <p:nvPr/>
        </p:nvPicPr>
        <p:blipFill>
          <a:blip r:embed="rId1"/>
          <a:stretch>
            <a:fillRect/>
          </a:stretch>
        </p:blipFill>
        <p:spPr>
          <a:xfrm>
            <a:off x="1571054" y="1887322"/>
            <a:ext cx="523037" cy="523037"/>
          </a:xfrm>
          <a:prstGeom prst="rect">
            <a:avLst/>
          </a:prstGeom>
        </p:spPr>
      </p:pic>
      <p:sp>
        <p:nvSpPr>
          <p:cNvPr id="6" name="Text 3"/>
          <p:cNvSpPr txBox="1"/>
          <p:nvPr/>
        </p:nvSpPr>
        <p:spPr>
          <a:xfrm>
            <a:off x="777240" y="2834640"/>
            <a:ext cx="2110664" cy="685800"/>
          </a:xfrm>
          <a:prstGeom prst="rect">
            <a:avLst/>
          </a:prstGeom>
          <a:noFill/>
          <a:ln/>
        </p:spPr>
        <p:txBody>
          <a:bodyPr wrap="square" lIns="0" tIns="0" rIns="0" bIns="0" rtlCol="0" anchor="t"/>
          <a:lstStyle/>
          <a:p>
            <a:pPr algn="ctr" indent="0" marL="0">
              <a:buNone/>
            </a:pPr>
            <a:r>
              <a:rPr lang="en-US" sz="1800" b="1" dirty="0">
                <a:solidFill>
                  <a:schemeClr val="tx2"/>
                </a:solidFill>
              </a:rPr>
              <a:t>Raw data stays on the phone</a:t>
            </a:r>
            <a:endParaRPr lang="en-US" sz="1800" dirty="0"/>
          </a:p>
        </p:txBody>
      </p:sp>
      <p:sp>
        <p:nvSpPr>
          <p:cNvPr id="7" name="Text 4"/>
          <p:cNvSpPr txBox="1"/>
          <p:nvPr/>
        </p:nvSpPr>
        <p:spPr>
          <a:xfrm>
            <a:off x="777240" y="3520440"/>
            <a:ext cx="2110664" cy="1005840"/>
          </a:xfrm>
          <a:prstGeom prst="rect">
            <a:avLst/>
          </a:prstGeom>
          <a:noFill/>
          <a:ln/>
        </p:spPr>
        <p:txBody>
          <a:bodyPr wrap="square" lIns="0" tIns="0" rIns="0" bIns="0" rtlCol="0" anchor="t"/>
          <a:lstStyle/>
          <a:p>
            <a:pPr algn="ctr" indent="0" marL="0">
              <a:buNone/>
            </a:pPr>
            <a:r>
              <a:rPr lang="en-US" sz="1400" dirty="0">
                <a:solidFill>
                  <a:schemeClr val="tx1"/>
                </a:solidFill>
              </a:rPr>
              <a:t>Unlocks, app names, motion and calls never leave it.</a:t>
            </a:r>
            <a:endParaRPr lang="en-US" sz="1400" dirty="0"/>
          </a:p>
        </p:txBody>
      </p:sp>
      <p:sp>
        <p:nvSpPr>
          <p:cNvPr id="8" name="privacy-2"/>
          <p:cNvSpPr/>
          <p:nvPr/>
        </p:nvSpPr>
        <p:spPr>
          <a:xfrm>
            <a:off x="3390824" y="1371600"/>
            <a:ext cx="2567864" cy="3291840"/>
          </a:xfrm>
          <a:prstGeom prst="roundRect">
            <a:avLst>
              <a:gd name="adj" fmla="val 3561"/>
            </a:avLst>
          </a:prstGeom>
          <a:solidFill>
            <a:schemeClr val="bg2"/>
          </a:solidFill>
          <a:ln/>
        </p:spPr>
      </p:sp>
      <p:sp>
        <p:nvSpPr>
          <p:cNvPr id="9" name="icon-circle-FaHeartbeat"/>
          <p:cNvSpPr/>
          <p:nvPr/>
        </p:nvSpPr>
        <p:spPr>
          <a:xfrm>
            <a:off x="4171836" y="1645920"/>
            <a:ext cx="1005840" cy="1005840"/>
          </a:xfrm>
          <a:prstGeom prst="ellipse">
            <a:avLst/>
          </a:prstGeom>
          <a:solidFill>
            <a:schemeClr val="tx2"/>
          </a:solidFill>
          <a:ln/>
        </p:spPr>
      </p:sp>
      <p:pic>
        <p:nvPicPr>
          <p:cNvPr id="10" name="icon-FaHeartbeat" descr="preencoded.png">    </p:cNvPr>
          <p:cNvPicPr>
            <a:picLocks noChangeAspect="1"/>
          </p:cNvPicPr>
          <p:nvPr/>
        </p:nvPicPr>
        <p:blipFill>
          <a:blip r:embed="rId2"/>
          <a:stretch>
            <a:fillRect/>
          </a:stretch>
        </p:blipFill>
        <p:spPr>
          <a:xfrm>
            <a:off x="4413237" y="1887322"/>
            <a:ext cx="523037" cy="523037"/>
          </a:xfrm>
          <a:prstGeom prst="rect">
            <a:avLst/>
          </a:prstGeom>
        </p:spPr>
      </p:pic>
      <p:sp>
        <p:nvSpPr>
          <p:cNvPr id="11" name="Text 7"/>
          <p:cNvSpPr txBox="1"/>
          <p:nvPr/>
        </p:nvSpPr>
        <p:spPr>
          <a:xfrm>
            <a:off x="3619424" y="2834640"/>
            <a:ext cx="2110664" cy="685800"/>
          </a:xfrm>
          <a:prstGeom prst="rect">
            <a:avLst/>
          </a:prstGeom>
          <a:noFill/>
          <a:ln/>
        </p:spPr>
        <p:txBody>
          <a:bodyPr wrap="square" lIns="0" tIns="0" rIns="0" bIns="0" rtlCol="0" anchor="t"/>
          <a:lstStyle/>
          <a:p>
            <a:pPr algn="ctr" indent="0" marL="0">
              <a:buNone/>
            </a:pPr>
            <a:r>
              <a:rPr lang="en-US" sz="1800" b="1" dirty="0">
                <a:solidFill>
                  <a:schemeClr val="tx2"/>
                </a:solidFill>
              </a:rPr>
              <a:t>Only a heartbeat is sent</a:t>
            </a:r>
            <a:endParaRPr lang="en-US" sz="1800" dirty="0"/>
          </a:p>
        </p:txBody>
      </p:sp>
      <p:sp>
        <p:nvSpPr>
          <p:cNvPr id="12" name="Text 8"/>
          <p:cNvSpPr txBox="1"/>
          <p:nvPr/>
        </p:nvSpPr>
        <p:spPr>
          <a:xfrm>
            <a:off x="3619424" y="3520440"/>
            <a:ext cx="2110664" cy="1005840"/>
          </a:xfrm>
          <a:prstGeom prst="rect">
            <a:avLst/>
          </a:prstGeom>
          <a:noFill/>
          <a:ln/>
        </p:spPr>
        <p:txBody>
          <a:bodyPr wrap="square" lIns="0" tIns="0" rIns="0" bIns="0" rtlCol="0" anchor="t"/>
          <a:lstStyle/>
          <a:p>
            <a:pPr algn="ctr" indent="0" marL="0">
              <a:buNone/>
            </a:pPr>
            <a:r>
              <a:rPr lang="en-US" sz="1400" dirty="0">
                <a:solidFill>
                  <a:schemeClr val="tx1"/>
                </a:solidFill>
              </a:rPr>
              <a:t>“I'm OK” and the expected check-in window. Nothing else.</a:t>
            </a:r>
            <a:endParaRPr lang="en-US" sz="1400" dirty="0"/>
          </a:p>
        </p:txBody>
      </p:sp>
      <p:sp>
        <p:nvSpPr>
          <p:cNvPr id="13" name="privacy-3"/>
          <p:cNvSpPr/>
          <p:nvPr/>
        </p:nvSpPr>
        <p:spPr>
          <a:xfrm>
            <a:off x="6233008" y="1371600"/>
            <a:ext cx="2567864" cy="3291840"/>
          </a:xfrm>
          <a:prstGeom prst="roundRect">
            <a:avLst>
              <a:gd name="adj" fmla="val 3561"/>
            </a:avLst>
          </a:prstGeom>
          <a:solidFill>
            <a:schemeClr val="bg2"/>
          </a:solidFill>
          <a:ln/>
        </p:spPr>
      </p:sp>
      <p:sp>
        <p:nvSpPr>
          <p:cNvPr id="14" name="icon-circle-FaDatabase"/>
          <p:cNvSpPr/>
          <p:nvPr/>
        </p:nvSpPr>
        <p:spPr>
          <a:xfrm>
            <a:off x="7014020" y="1645920"/>
            <a:ext cx="1005840" cy="1005840"/>
          </a:xfrm>
          <a:prstGeom prst="ellipse">
            <a:avLst/>
          </a:prstGeom>
          <a:solidFill>
            <a:schemeClr val="tx2"/>
          </a:solidFill>
          <a:ln/>
        </p:spPr>
      </p:sp>
      <p:pic>
        <p:nvPicPr>
          <p:cNvPr id="15" name="icon-FaDatabase" descr="preencoded.png">    </p:cNvPr>
          <p:cNvPicPr>
            <a:picLocks noChangeAspect="1"/>
          </p:cNvPicPr>
          <p:nvPr/>
        </p:nvPicPr>
        <p:blipFill>
          <a:blip r:embed="rId3"/>
          <a:stretch>
            <a:fillRect/>
          </a:stretch>
        </p:blipFill>
        <p:spPr>
          <a:xfrm>
            <a:off x="7255421" y="1887322"/>
            <a:ext cx="523037" cy="523037"/>
          </a:xfrm>
          <a:prstGeom prst="rect">
            <a:avLst/>
          </a:prstGeom>
        </p:spPr>
      </p:pic>
      <p:sp>
        <p:nvSpPr>
          <p:cNvPr id="16" name="Text 11"/>
          <p:cNvSpPr txBox="1"/>
          <p:nvPr/>
        </p:nvSpPr>
        <p:spPr>
          <a:xfrm>
            <a:off x="6461608" y="2834640"/>
            <a:ext cx="2110664" cy="685800"/>
          </a:xfrm>
          <a:prstGeom prst="rect">
            <a:avLst/>
          </a:prstGeom>
          <a:noFill/>
          <a:ln/>
        </p:spPr>
        <p:txBody>
          <a:bodyPr wrap="square" lIns="0" tIns="0" rIns="0" bIns="0" rtlCol="0" anchor="t"/>
          <a:lstStyle/>
          <a:p>
            <a:pPr algn="ctr" indent="0" marL="0">
              <a:buNone/>
            </a:pPr>
            <a:r>
              <a:rPr lang="en-US" sz="1800" b="1" dirty="0">
                <a:solidFill>
                  <a:schemeClr val="tx2"/>
                </a:solidFill>
              </a:rPr>
              <a:t>The server cannot hold it</a:t>
            </a:r>
            <a:endParaRPr lang="en-US" sz="1800" dirty="0"/>
          </a:p>
        </p:txBody>
      </p:sp>
      <p:sp>
        <p:nvSpPr>
          <p:cNvPr id="17" name="Text 12"/>
          <p:cNvSpPr txBox="1"/>
          <p:nvPr/>
        </p:nvSpPr>
        <p:spPr>
          <a:xfrm>
            <a:off x="6461608" y="3520440"/>
            <a:ext cx="2110664" cy="1005840"/>
          </a:xfrm>
          <a:prstGeom prst="rect">
            <a:avLst/>
          </a:prstGeom>
          <a:noFill/>
          <a:ln/>
        </p:spPr>
        <p:txBody>
          <a:bodyPr wrap="square" lIns="0" tIns="0" rIns="0" bIns="0" rtlCol="0" anchor="t"/>
          <a:lstStyle/>
          <a:p>
            <a:pPr algn="ctr" indent="0" marL="0">
              <a:buNone/>
            </a:pPr>
            <a:r>
              <a:rPr lang="en-US" sz="1400" dirty="0">
                <a:solidFill>
                  <a:schemeClr val="tx1"/>
                </a:solidFill>
              </a:rPr>
              <a:t>There is no server table that could store raw activity.</a:t>
            </a:r>
            <a:endParaRPr lang="en-US" sz="1400" dirty="0"/>
          </a:p>
        </p:txBody>
      </p:sp>
      <p:sp>
        <p:nvSpPr>
          <p:cNvPr id="18" name="privacy-4"/>
          <p:cNvSpPr/>
          <p:nvPr/>
        </p:nvSpPr>
        <p:spPr>
          <a:xfrm>
            <a:off x="9075191" y="1371600"/>
            <a:ext cx="2567864" cy="3291840"/>
          </a:xfrm>
          <a:prstGeom prst="roundRect">
            <a:avLst>
              <a:gd name="adj" fmla="val 3561"/>
            </a:avLst>
          </a:prstGeom>
          <a:solidFill>
            <a:schemeClr val="bg2"/>
          </a:solidFill>
          <a:ln/>
        </p:spPr>
      </p:sp>
      <p:sp>
        <p:nvSpPr>
          <p:cNvPr id="19" name="icon-circle-FaBan"/>
          <p:cNvSpPr/>
          <p:nvPr/>
        </p:nvSpPr>
        <p:spPr>
          <a:xfrm>
            <a:off x="9856203" y="1645920"/>
            <a:ext cx="1005840" cy="1005840"/>
          </a:xfrm>
          <a:prstGeom prst="ellipse">
            <a:avLst/>
          </a:prstGeom>
          <a:solidFill>
            <a:schemeClr val="tx2"/>
          </a:solidFill>
          <a:ln/>
        </p:spPr>
      </p:sp>
      <p:pic>
        <p:nvPicPr>
          <p:cNvPr id="20" name="icon-FaBan" descr="preencoded.png">    </p:cNvPr>
          <p:cNvPicPr>
            <a:picLocks noChangeAspect="1"/>
          </p:cNvPicPr>
          <p:nvPr/>
        </p:nvPicPr>
        <p:blipFill>
          <a:blip r:embed="rId4"/>
          <a:stretch>
            <a:fillRect/>
          </a:stretch>
        </p:blipFill>
        <p:spPr>
          <a:xfrm>
            <a:off x="10097605" y="1887322"/>
            <a:ext cx="523037" cy="523037"/>
          </a:xfrm>
          <a:prstGeom prst="rect">
            <a:avLst/>
          </a:prstGeom>
        </p:spPr>
      </p:pic>
      <p:sp>
        <p:nvSpPr>
          <p:cNvPr id="21" name="Text 15"/>
          <p:cNvSpPr txBox="1"/>
          <p:nvPr/>
        </p:nvSpPr>
        <p:spPr>
          <a:xfrm>
            <a:off x="9303791" y="2834640"/>
            <a:ext cx="2110664" cy="685800"/>
          </a:xfrm>
          <a:prstGeom prst="rect">
            <a:avLst/>
          </a:prstGeom>
          <a:noFill/>
          <a:ln/>
        </p:spPr>
        <p:txBody>
          <a:bodyPr wrap="square" lIns="0" tIns="0" rIns="0" bIns="0" rtlCol="0" anchor="t"/>
          <a:lstStyle/>
          <a:p>
            <a:pPr algn="ctr" indent="0" marL="0">
              <a:buNone/>
            </a:pPr>
            <a:r>
              <a:rPr lang="en-US" sz="1800" b="1" dirty="0">
                <a:solidFill>
                  <a:schemeClr val="tx2"/>
                </a:solidFill>
              </a:rPr>
              <a:t>No GPS, ever</a:t>
            </a:r>
            <a:endParaRPr lang="en-US" sz="1800" dirty="0"/>
          </a:p>
        </p:txBody>
      </p:sp>
      <p:sp>
        <p:nvSpPr>
          <p:cNvPr id="22" name="Text 16"/>
          <p:cNvSpPr txBox="1"/>
          <p:nvPr/>
        </p:nvSpPr>
        <p:spPr>
          <a:xfrm>
            <a:off x="9303791" y="3520440"/>
            <a:ext cx="2110664" cy="1005840"/>
          </a:xfrm>
          <a:prstGeom prst="rect">
            <a:avLst/>
          </a:prstGeom>
          <a:noFill/>
          <a:ln/>
        </p:spPr>
        <p:txBody>
          <a:bodyPr wrap="square" lIns="0" tIns="0" rIns="0" bIns="0" rtlCol="0" anchor="t"/>
          <a:lstStyle/>
          <a:p>
            <a:pPr algn="ctr" indent="0" marL="0">
              <a:buNone/>
            </a:pPr>
            <a:r>
              <a:rPr lang="en-US" sz="1400" dirty="0">
                <a:solidFill>
                  <a:schemeClr val="tx1"/>
                </a:solidFill>
              </a:rPr>
              <a:t>No location permission is asked for.</a:t>
            </a:r>
            <a:endParaRPr lang="en-US" sz="1400" dirty="0"/>
          </a:p>
        </p:txBody>
      </p:sp>
      <p:sp>
        <p:nvSpPr>
          <p:cNvPr id="23" name="out-of-scope"/>
          <p:cNvSpPr/>
          <p:nvPr/>
        </p:nvSpPr>
        <p:spPr>
          <a:xfrm>
            <a:off x="548640" y="4937760"/>
            <a:ext cx="11094415" cy="1188720"/>
          </a:xfrm>
          <a:prstGeom prst="roundRect">
            <a:avLst>
              <a:gd name="adj" fmla="val 7692"/>
            </a:avLst>
          </a:prstGeom>
          <a:solidFill>
            <a:schemeClr val="bg1"/>
          </a:solidFill>
          <a:ln/>
        </p:spPr>
      </p:sp>
      <p:sp>
        <p:nvSpPr>
          <p:cNvPr id="24" name="out-of-scope-frame"/>
          <p:cNvSpPr/>
          <p:nvPr/>
        </p:nvSpPr>
        <p:spPr>
          <a:xfrm>
            <a:off x="548640" y="4937760"/>
            <a:ext cx="11094415" cy="1188720"/>
          </a:xfrm>
          <a:prstGeom prst="roundRect">
            <a:avLst>
              <a:gd name="adj" fmla="val 7692"/>
            </a:avLst>
          </a:prstGeom>
          <a:solidFill>
            <a:schemeClr val="bg1"/>
          </a:solidFill>
          <a:ln w="12700">
            <a:solidFill>
              <a:schemeClr val="accent4"/>
            </a:solidFill>
            <a:prstDash val="solid"/>
          </a:ln>
        </p:spPr>
      </p:sp>
      <p:sp>
        <p:nvSpPr>
          <p:cNvPr id="25" name="Text 19"/>
          <p:cNvSpPr txBox="1"/>
          <p:nvPr/>
        </p:nvSpPr>
        <p:spPr>
          <a:xfrm>
            <a:off x="822960" y="5029200"/>
            <a:ext cx="10545775" cy="1005840"/>
          </a:xfrm>
          <a:prstGeom prst="rect">
            <a:avLst/>
          </a:prstGeom>
          <a:noFill/>
          <a:ln/>
        </p:spPr>
        <p:txBody>
          <a:bodyPr wrap="square" lIns="0" tIns="0" rIns="0" bIns="0" rtlCol="0" anchor="ctr"/>
          <a:lstStyle/>
          <a:p>
            <a:pPr indent="0" marL="0">
              <a:buNone/>
            </a:pPr>
            <a:r>
              <a:rPr lang="en-US" sz="1500" b="1" dirty="0">
                <a:solidFill>
                  <a:schemeClr val="tx2"/>
                </a:solidFill>
              </a:rPr>
              <a:t>Out of scope for version 1: </a:t>
            </a:r>
            <a:pPr indent="0" marL="0">
              <a:buNone/>
            </a:pPr>
            <a:r>
              <a:rPr lang="en-US" sz="1500" dirty="0">
                <a:solidFill>
                  <a:schemeClr val="tx1"/>
                </a:solidFill>
              </a:rPr>
              <a:t>fall detection, medical diagnosis, step counting, GPS tracking, wearables, iOS, audio or video monitoring, multiple languages, more than 3 caregivers per elder.</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600" b="1" dirty="0">
                <a:solidFill>
                  <a:schemeClr val="tx2"/>
                </a:solidFill>
              </a:rPr>
              <a:t>Who did what, and who does what next</a:t>
            </a:r>
            <a:endParaRPr lang="en-US" sz="3600" dirty="0"/>
          </a:p>
        </p:txBody>
      </p:sp>
      <p:sp>
        <p:nvSpPr>
          <p:cNvPr id="3" name="person-1"/>
          <p:cNvSpPr/>
          <p:nvPr/>
        </p:nvSpPr>
        <p:spPr>
          <a:xfrm>
            <a:off x="548640" y="1325880"/>
            <a:ext cx="5410048" cy="4800600"/>
          </a:xfrm>
          <a:prstGeom prst="roundRect">
            <a:avLst>
              <a:gd name="adj" fmla="val 1905"/>
            </a:avLst>
          </a:prstGeom>
          <a:solidFill>
            <a:schemeClr val="bg2"/>
          </a:solidFill>
          <a:ln/>
        </p:spPr>
      </p:sp>
      <p:sp>
        <p:nvSpPr>
          <p:cNvPr id="4" name="icon-circle-FaAndroid"/>
          <p:cNvSpPr/>
          <p:nvPr/>
        </p:nvSpPr>
        <p:spPr>
          <a:xfrm>
            <a:off x="822960" y="1508760"/>
            <a:ext cx="777240" cy="777240"/>
          </a:xfrm>
          <a:prstGeom prst="ellipse">
            <a:avLst/>
          </a:prstGeom>
          <a:solidFill>
            <a:schemeClr val="accent1"/>
          </a:solidFill>
          <a:ln/>
        </p:spPr>
      </p:sp>
      <p:pic>
        <p:nvPicPr>
          <p:cNvPr id="5" name="icon-FaAndroid" descr="preencoded.png">    </p:cNvPr>
          <p:cNvPicPr>
            <a:picLocks noChangeAspect="1"/>
          </p:cNvPicPr>
          <p:nvPr/>
        </p:nvPicPr>
        <p:blipFill>
          <a:blip r:embed="rId1"/>
          <a:stretch>
            <a:fillRect/>
          </a:stretch>
        </p:blipFill>
        <p:spPr>
          <a:xfrm>
            <a:off x="1009498" y="1695298"/>
            <a:ext cx="404165" cy="404165"/>
          </a:xfrm>
          <a:prstGeom prst="rect">
            <a:avLst/>
          </a:prstGeom>
        </p:spPr>
      </p:pic>
      <p:sp>
        <p:nvSpPr>
          <p:cNvPr id="6" name="Text 3"/>
          <p:cNvSpPr txBox="1"/>
          <p:nvPr/>
        </p:nvSpPr>
        <p:spPr>
          <a:xfrm>
            <a:off x="1783080" y="1554480"/>
            <a:ext cx="3992728" cy="384048"/>
          </a:xfrm>
          <a:prstGeom prst="rect">
            <a:avLst/>
          </a:prstGeom>
          <a:noFill/>
          <a:ln/>
        </p:spPr>
        <p:txBody>
          <a:bodyPr wrap="square" lIns="0" tIns="0" rIns="0" bIns="0" rtlCol="0" anchor="t"/>
          <a:lstStyle/>
          <a:p>
            <a:pPr indent="0" marL="0">
              <a:buNone/>
            </a:pPr>
            <a:r>
              <a:rPr lang="en-US" sz="2000" b="1" dirty="0">
                <a:solidFill>
                  <a:schemeClr val="tx2"/>
                </a:solidFill>
              </a:rPr>
              <a:t>Sri Hasini Chowdhary G</a:t>
            </a:r>
            <a:endParaRPr lang="en-US" sz="2000" dirty="0"/>
          </a:p>
        </p:txBody>
      </p:sp>
      <p:sp>
        <p:nvSpPr>
          <p:cNvPr id="7" name="Text 4"/>
          <p:cNvSpPr txBox="1"/>
          <p:nvPr/>
        </p:nvSpPr>
        <p:spPr>
          <a:xfrm>
            <a:off x="1783080" y="1938528"/>
            <a:ext cx="3992728" cy="320040"/>
          </a:xfrm>
          <a:prstGeom prst="rect">
            <a:avLst/>
          </a:prstGeom>
          <a:noFill/>
          <a:ln/>
        </p:spPr>
        <p:txBody>
          <a:bodyPr wrap="square" lIns="0" tIns="0" rIns="0" bIns="0" rtlCol="0" anchor="t"/>
          <a:lstStyle/>
          <a:p>
            <a:pPr indent="0" marL="0">
              <a:buNone/>
            </a:pPr>
            <a:r>
              <a:rPr lang="en-US" sz="1200" dirty="0">
                <a:solidFill>
                  <a:schemeClr val="accent4"/>
                </a:solidFill>
              </a:rPr>
              <a:t>Android app · kinsync-android</a:t>
            </a:r>
            <a:endParaRPr lang="en-US" sz="1200" dirty="0"/>
          </a:p>
        </p:txBody>
      </p:sp>
      <p:sp>
        <p:nvSpPr>
          <p:cNvPr id="8" name="Text 5"/>
          <p:cNvSpPr txBox="1"/>
          <p:nvPr/>
        </p:nvSpPr>
        <p:spPr>
          <a:xfrm>
            <a:off x="868680" y="2560320"/>
            <a:ext cx="4769968" cy="274320"/>
          </a:xfrm>
          <a:prstGeom prst="rect">
            <a:avLst/>
          </a:prstGeom>
          <a:noFill/>
          <a:ln/>
        </p:spPr>
        <p:txBody>
          <a:bodyPr wrap="square" lIns="0" tIns="0" rIns="0" bIns="0" rtlCol="0" anchor="t"/>
          <a:lstStyle/>
          <a:p>
            <a:pPr indent="0" marL="0">
              <a:buNone/>
            </a:pPr>
            <a:r>
              <a:rPr lang="en-US" sz="1300" b="1" dirty="0">
                <a:solidFill>
                  <a:schemeClr val="accent1"/>
                </a:solidFill>
              </a:rPr>
              <a:t>Phase 1</a:t>
            </a:r>
            <a:endParaRPr lang="en-US" sz="1300" dirty="0"/>
          </a:p>
        </p:txBody>
      </p:sp>
      <p:sp>
        <p:nvSpPr>
          <p:cNvPr id="9" name="Text 6"/>
          <p:cNvSpPr txBox="1"/>
          <p:nvPr/>
        </p:nvSpPr>
        <p:spPr>
          <a:xfrm>
            <a:off x="868680" y="2852928"/>
            <a:ext cx="4769968" cy="804672"/>
          </a:xfrm>
          <a:prstGeom prst="rect">
            <a:avLst/>
          </a:prstGeom>
          <a:noFill/>
          <a:ln/>
        </p:spPr>
        <p:txBody>
          <a:bodyPr wrap="square" lIns="0" tIns="0" rIns="0" bIns="0" rtlCol="0" anchor="t"/>
          <a:lstStyle/>
          <a:p>
            <a:pPr indent="0" marL="0">
              <a:buNone/>
            </a:pPr>
            <a:r>
              <a:rPr lang="en-US" sz="1400" dirty="0">
                <a:solidFill>
                  <a:schemeClr val="tx1"/>
                </a:solidFill>
              </a:rPr>
              <a:t>Onboarding, permissions, unlock capture, debug screen, backend check.</a:t>
            </a:r>
            <a:endParaRPr lang="en-US" sz="1400" dirty="0"/>
          </a:p>
        </p:txBody>
      </p:sp>
      <p:sp>
        <p:nvSpPr>
          <p:cNvPr id="10" name="Text 7"/>
          <p:cNvSpPr txBox="1"/>
          <p:nvPr/>
        </p:nvSpPr>
        <p:spPr>
          <a:xfrm>
            <a:off x="868680" y="3721608"/>
            <a:ext cx="4769968" cy="274320"/>
          </a:xfrm>
          <a:prstGeom prst="rect">
            <a:avLst/>
          </a:prstGeom>
          <a:noFill/>
          <a:ln/>
        </p:spPr>
        <p:txBody>
          <a:bodyPr wrap="square" lIns="0" tIns="0" rIns="0" bIns="0" rtlCol="0" anchor="t"/>
          <a:lstStyle/>
          <a:p>
            <a:pPr indent="0" marL="0">
              <a:buNone/>
            </a:pPr>
            <a:r>
              <a:rPr lang="en-US" sz="1300" b="1" dirty="0">
                <a:solidFill>
                  <a:schemeClr val="accent1"/>
                </a:solidFill>
              </a:rPr>
              <a:t>Phase 2</a:t>
            </a:r>
            <a:endParaRPr lang="en-US" sz="1300" dirty="0"/>
          </a:p>
        </p:txBody>
      </p:sp>
      <p:sp>
        <p:nvSpPr>
          <p:cNvPr id="11" name="Text 8"/>
          <p:cNvSpPr txBox="1"/>
          <p:nvPr/>
        </p:nvSpPr>
        <p:spPr>
          <a:xfrm>
            <a:off x="868680" y="4014216"/>
            <a:ext cx="4769968" cy="804672"/>
          </a:xfrm>
          <a:prstGeom prst="rect">
            <a:avLst/>
          </a:prstGeom>
          <a:noFill/>
          <a:ln/>
        </p:spPr>
        <p:txBody>
          <a:bodyPr wrap="square" lIns="0" tIns="0" rIns="0" bIns="0" rtlCol="0" anchor="t"/>
          <a:lstStyle/>
          <a:p>
            <a:pPr indent="0" marL="0">
              <a:buNone/>
            </a:pPr>
            <a:r>
              <a:rPr lang="en-US" sz="1400" dirty="0">
                <a:solidFill>
                  <a:schemeClr val="tx1"/>
                </a:solidFill>
              </a:rPr>
              <a:t>Versioned consent, app usage, last moved, activity, daily summary, “My day” timeline, migrations, tests.</a:t>
            </a:r>
            <a:endParaRPr lang="en-US" sz="1400" dirty="0"/>
          </a:p>
        </p:txBody>
      </p:sp>
      <p:sp>
        <p:nvSpPr>
          <p:cNvPr id="12" name="Text 9"/>
          <p:cNvSpPr txBox="1"/>
          <p:nvPr/>
        </p:nvSpPr>
        <p:spPr>
          <a:xfrm>
            <a:off x="868680" y="4882896"/>
            <a:ext cx="4769968" cy="274320"/>
          </a:xfrm>
          <a:prstGeom prst="rect">
            <a:avLst/>
          </a:prstGeom>
          <a:noFill/>
          <a:ln/>
        </p:spPr>
        <p:txBody>
          <a:bodyPr wrap="square" lIns="0" tIns="0" rIns="0" bIns="0" rtlCol="0" anchor="t"/>
          <a:lstStyle/>
          <a:p>
            <a:pPr indent="0" marL="0">
              <a:buNone/>
            </a:pPr>
            <a:r>
              <a:rPr lang="en-US" sz="1300" b="1" dirty="0">
                <a:solidFill>
                  <a:schemeClr val="accent2"/>
                </a:solidFill>
              </a:rPr>
              <a:t>Next: Phase 3</a:t>
            </a:r>
            <a:endParaRPr lang="en-US" sz="1300" dirty="0"/>
          </a:p>
        </p:txBody>
      </p:sp>
      <p:sp>
        <p:nvSpPr>
          <p:cNvPr id="13" name="Text 10"/>
          <p:cNvSpPr txBox="1"/>
          <p:nvPr/>
        </p:nvSpPr>
        <p:spPr>
          <a:xfrm>
            <a:off x="868680" y="5175504"/>
            <a:ext cx="4769968" cy="804672"/>
          </a:xfrm>
          <a:prstGeom prst="rect">
            <a:avLst/>
          </a:prstGeom>
          <a:noFill/>
          <a:ln/>
        </p:spPr>
        <p:txBody>
          <a:bodyPr wrap="square" lIns="0" tIns="0" rIns="0" bIns="0" rtlCol="0" anchor="t"/>
          <a:lstStyle/>
          <a:p>
            <a:pPr indent="0" marL="0">
              <a:buNone/>
            </a:pPr>
            <a:r>
              <a:rPr lang="en-US" sz="1400" dirty="0">
                <a:solidFill>
                  <a:schemeClr val="tx1"/>
                </a:solidFill>
              </a:rPr>
              <a:t>Baseline, deviation check and nudge, role choice, pairing screen, heartbeat sender; charging, calls, auto-delete, battery.</a:t>
            </a:r>
            <a:endParaRPr lang="en-US" sz="1400" dirty="0"/>
          </a:p>
        </p:txBody>
      </p:sp>
      <p:sp>
        <p:nvSpPr>
          <p:cNvPr id="14" name="person-2"/>
          <p:cNvSpPr/>
          <p:nvPr/>
        </p:nvSpPr>
        <p:spPr>
          <a:xfrm>
            <a:off x="6233008" y="1325880"/>
            <a:ext cx="5410048" cy="4800600"/>
          </a:xfrm>
          <a:prstGeom prst="roundRect">
            <a:avLst>
              <a:gd name="adj" fmla="val 1905"/>
            </a:avLst>
          </a:prstGeom>
          <a:solidFill>
            <a:schemeClr val="bg2"/>
          </a:solidFill>
          <a:ln/>
        </p:spPr>
      </p:sp>
      <p:sp>
        <p:nvSpPr>
          <p:cNvPr id="15" name="icon-circle-FaServer"/>
          <p:cNvSpPr/>
          <p:nvPr/>
        </p:nvSpPr>
        <p:spPr>
          <a:xfrm>
            <a:off x="6507328" y="1508760"/>
            <a:ext cx="777240" cy="777240"/>
          </a:xfrm>
          <a:prstGeom prst="ellipse">
            <a:avLst/>
          </a:prstGeom>
          <a:solidFill>
            <a:schemeClr val="accent5"/>
          </a:solidFill>
          <a:ln/>
        </p:spPr>
      </p:sp>
      <p:pic>
        <p:nvPicPr>
          <p:cNvPr id="16" name="icon-FaServer" descr="preencoded.png">    </p:cNvPr>
          <p:cNvPicPr>
            <a:picLocks noChangeAspect="1"/>
          </p:cNvPicPr>
          <p:nvPr/>
        </p:nvPicPr>
        <p:blipFill>
          <a:blip r:embed="rId2"/>
          <a:stretch>
            <a:fillRect/>
          </a:stretch>
        </p:blipFill>
        <p:spPr>
          <a:xfrm>
            <a:off x="6693865" y="1695298"/>
            <a:ext cx="404165" cy="404165"/>
          </a:xfrm>
          <a:prstGeom prst="rect">
            <a:avLst/>
          </a:prstGeom>
        </p:spPr>
      </p:pic>
      <p:sp>
        <p:nvSpPr>
          <p:cNvPr id="17" name="Text 13"/>
          <p:cNvSpPr txBox="1"/>
          <p:nvPr/>
        </p:nvSpPr>
        <p:spPr>
          <a:xfrm>
            <a:off x="7467448" y="1554480"/>
            <a:ext cx="3992728" cy="384048"/>
          </a:xfrm>
          <a:prstGeom prst="rect">
            <a:avLst/>
          </a:prstGeom>
          <a:noFill/>
          <a:ln/>
        </p:spPr>
        <p:txBody>
          <a:bodyPr wrap="square" lIns="0" tIns="0" rIns="0" bIns="0" rtlCol="0" anchor="t"/>
          <a:lstStyle/>
          <a:p>
            <a:pPr indent="0" marL="0">
              <a:buNone/>
            </a:pPr>
            <a:r>
              <a:rPr lang="en-US" sz="2000" b="1" dirty="0">
                <a:solidFill>
                  <a:schemeClr val="tx2"/>
                </a:solidFill>
              </a:rPr>
              <a:t>Nithin Vinayagamoorthy</a:t>
            </a:r>
            <a:endParaRPr lang="en-US" sz="2000" dirty="0"/>
          </a:p>
        </p:txBody>
      </p:sp>
      <p:sp>
        <p:nvSpPr>
          <p:cNvPr id="18" name="Text 14"/>
          <p:cNvSpPr txBox="1"/>
          <p:nvPr/>
        </p:nvSpPr>
        <p:spPr>
          <a:xfrm>
            <a:off x="7467448" y="1938528"/>
            <a:ext cx="3992728" cy="320040"/>
          </a:xfrm>
          <a:prstGeom prst="rect">
            <a:avLst/>
          </a:prstGeom>
          <a:noFill/>
          <a:ln/>
        </p:spPr>
        <p:txBody>
          <a:bodyPr wrap="square" lIns="0" tIns="0" rIns="0" bIns="0" rtlCol="0" anchor="t"/>
          <a:lstStyle/>
          <a:p>
            <a:pPr indent="0" marL="0">
              <a:buNone/>
            </a:pPr>
            <a:r>
              <a:rPr lang="en-US" sz="1200" dirty="0">
                <a:solidFill>
                  <a:schemeClr val="accent4"/>
                </a:solidFill>
              </a:rPr>
              <a:t>Backend, server and docs · kinsync-api, kinsync-docs</a:t>
            </a:r>
            <a:endParaRPr lang="en-US" sz="1200" dirty="0"/>
          </a:p>
        </p:txBody>
      </p:sp>
      <p:sp>
        <p:nvSpPr>
          <p:cNvPr id="19" name="Text 15"/>
          <p:cNvSpPr txBox="1"/>
          <p:nvPr/>
        </p:nvSpPr>
        <p:spPr>
          <a:xfrm>
            <a:off x="6553048" y="2560320"/>
            <a:ext cx="4769968" cy="274320"/>
          </a:xfrm>
          <a:prstGeom prst="rect">
            <a:avLst/>
          </a:prstGeom>
          <a:noFill/>
          <a:ln/>
        </p:spPr>
        <p:txBody>
          <a:bodyPr wrap="square" lIns="0" tIns="0" rIns="0" bIns="0" rtlCol="0" anchor="t"/>
          <a:lstStyle/>
          <a:p>
            <a:pPr indent="0" marL="0">
              <a:buNone/>
            </a:pPr>
            <a:r>
              <a:rPr lang="en-US" sz="1300" b="1" dirty="0">
                <a:solidFill>
                  <a:schemeClr val="accent1"/>
                </a:solidFill>
              </a:rPr>
              <a:t>Phase 1</a:t>
            </a:r>
            <a:endParaRPr lang="en-US" sz="1300" dirty="0"/>
          </a:p>
        </p:txBody>
      </p:sp>
      <p:sp>
        <p:nvSpPr>
          <p:cNvPr id="20" name="Text 16"/>
          <p:cNvSpPr txBox="1"/>
          <p:nvPr/>
        </p:nvSpPr>
        <p:spPr>
          <a:xfrm>
            <a:off x="6553048" y="2852928"/>
            <a:ext cx="4769968" cy="804672"/>
          </a:xfrm>
          <a:prstGeom prst="rect">
            <a:avLst/>
          </a:prstGeom>
          <a:noFill/>
          <a:ln/>
        </p:spPr>
        <p:txBody>
          <a:bodyPr wrap="square" lIns="0" tIns="0" rIns="0" bIns="0" rtlCol="0" anchor="t"/>
          <a:lstStyle/>
          <a:p>
            <a:pPr indent="0" marL="0">
              <a:buNone/>
            </a:pPr>
            <a:r>
              <a:rPr lang="en-US" sz="1400" dirty="0">
                <a:solidFill>
                  <a:schemeClr val="tx1"/>
                </a:solidFill>
              </a:rPr>
              <a:t>Hardened server, HTTPS, PostgreSQL, FastAPI health endpoints, quality gate.</a:t>
            </a:r>
            <a:endParaRPr lang="en-US" sz="1400" dirty="0"/>
          </a:p>
        </p:txBody>
      </p:sp>
      <p:sp>
        <p:nvSpPr>
          <p:cNvPr id="21" name="Text 17"/>
          <p:cNvSpPr txBox="1"/>
          <p:nvPr/>
        </p:nvSpPr>
        <p:spPr>
          <a:xfrm>
            <a:off x="6553048" y="3721608"/>
            <a:ext cx="4769968" cy="274320"/>
          </a:xfrm>
          <a:prstGeom prst="rect">
            <a:avLst/>
          </a:prstGeom>
          <a:noFill/>
          <a:ln/>
        </p:spPr>
        <p:txBody>
          <a:bodyPr wrap="square" lIns="0" tIns="0" rIns="0" bIns="0" rtlCol="0" anchor="t"/>
          <a:lstStyle/>
          <a:p>
            <a:pPr indent="0" marL="0">
              <a:buNone/>
            </a:pPr>
            <a:r>
              <a:rPr lang="en-US" sz="1300" b="1" dirty="0">
                <a:solidFill>
                  <a:schemeClr val="accent1"/>
                </a:solidFill>
              </a:rPr>
              <a:t>Phase 2</a:t>
            </a:r>
            <a:endParaRPr lang="en-US" sz="1300" dirty="0"/>
          </a:p>
        </p:txBody>
      </p:sp>
      <p:sp>
        <p:nvSpPr>
          <p:cNvPr id="22" name="Text 18"/>
          <p:cNvSpPr txBox="1"/>
          <p:nvPr/>
        </p:nvSpPr>
        <p:spPr>
          <a:xfrm>
            <a:off x="6553048" y="4014216"/>
            <a:ext cx="4769968" cy="804672"/>
          </a:xfrm>
          <a:prstGeom prst="rect">
            <a:avLst/>
          </a:prstGeom>
          <a:noFill/>
          <a:ln/>
        </p:spPr>
        <p:txBody>
          <a:bodyPr wrap="square" lIns="0" tIns="0" rIns="0" bIns="0" rtlCol="0" anchor="t"/>
          <a:lstStyle/>
          <a:p>
            <a:pPr indent="0" marL="0">
              <a:buNone/>
            </a:pPr>
            <a:r>
              <a:rPr lang="en-US" sz="1400" dirty="0">
                <a:solidFill>
                  <a:schemeClr val="tx1"/>
                </a:solidFill>
              </a:rPr>
              <a:t>Server kept running; Phase 2 plan, feature map, requirements, traceability, runbooks.</a:t>
            </a:r>
            <a:endParaRPr lang="en-US" sz="1400" dirty="0"/>
          </a:p>
        </p:txBody>
      </p:sp>
      <p:sp>
        <p:nvSpPr>
          <p:cNvPr id="23" name="Text 19"/>
          <p:cNvSpPr txBox="1"/>
          <p:nvPr/>
        </p:nvSpPr>
        <p:spPr>
          <a:xfrm>
            <a:off x="6553048" y="4882896"/>
            <a:ext cx="4769968" cy="274320"/>
          </a:xfrm>
          <a:prstGeom prst="rect">
            <a:avLst/>
          </a:prstGeom>
          <a:noFill/>
          <a:ln/>
        </p:spPr>
        <p:txBody>
          <a:bodyPr wrap="square" lIns="0" tIns="0" rIns="0" bIns="0" rtlCol="0" anchor="t"/>
          <a:lstStyle/>
          <a:p>
            <a:pPr indent="0" marL="0">
              <a:buNone/>
            </a:pPr>
            <a:r>
              <a:rPr lang="en-US" sz="1300" b="1" dirty="0">
                <a:solidFill>
                  <a:schemeClr val="accent2"/>
                </a:solidFill>
              </a:rPr>
              <a:t>Next: Phase 3</a:t>
            </a:r>
            <a:endParaRPr lang="en-US" sz="1300" dirty="0"/>
          </a:p>
        </p:txBody>
      </p:sp>
      <p:sp>
        <p:nvSpPr>
          <p:cNvPr id="24" name="Text 20"/>
          <p:cNvSpPr txBox="1"/>
          <p:nvPr/>
        </p:nvSpPr>
        <p:spPr>
          <a:xfrm>
            <a:off x="6553048" y="5175504"/>
            <a:ext cx="4769968" cy="804672"/>
          </a:xfrm>
          <a:prstGeom prst="rect">
            <a:avLst/>
          </a:prstGeom>
          <a:noFill/>
          <a:ln/>
        </p:spPr>
        <p:txBody>
          <a:bodyPr wrap="square" lIns="0" tIns="0" rIns="0" bIns="0" rtlCol="0" anchor="t"/>
          <a:lstStyle/>
          <a:p>
            <a:pPr indent="0" marL="0">
              <a:buNone/>
            </a:pPr>
            <a:r>
              <a:rPr lang="en-US" sz="1400" dirty="0">
                <a:solidFill>
                  <a:schemeClr val="tx1"/>
                </a:solidFill>
              </a:rPr>
              <a:t>API design, server tables, pairing and tokens, heartbeat endpoint, dead-man's switch, push alerts, backups.</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822960"/>
            <a:ext cx="11094415" cy="914400"/>
          </a:xfrm>
          <a:prstGeom prst="rect">
            <a:avLst/>
          </a:prstGeom>
          <a:noFill/>
          <a:ln/>
        </p:spPr>
        <p:txBody>
          <a:bodyPr wrap="square" lIns="0" tIns="0" rIns="0" bIns="0" rtlCol="0" anchor="b"/>
          <a:lstStyle/>
          <a:p>
            <a:pPr indent="0" marL="0">
              <a:buNone/>
            </a:pPr>
            <a:r>
              <a:rPr lang="en-US" sz="4400" b="1" dirty="0">
                <a:solidFill>
                  <a:schemeClr val="bg1"/>
                </a:solidFill>
                <a:latin typeface="Cambria" pitchFamily="34" charset="0"/>
                <a:ea typeface="Cambria" pitchFamily="34" charset="-122"/>
                <a:cs typeface="Cambria" pitchFamily="34" charset="-120"/>
              </a:rPr>
              <a:t>Live demo, then questions</a:t>
            </a:r>
            <a:endParaRPr lang="en-US" sz="4400" dirty="0"/>
          </a:p>
        </p:txBody>
      </p:sp>
      <p:sp>
        <p:nvSpPr>
          <p:cNvPr id="3" name="Text 1"/>
          <p:cNvSpPr txBox="1"/>
          <p:nvPr/>
        </p:nvSpPr>
        <p:spPr>
          <a:xfrm>
            <a:off x="548640" y="1874520"/>
            <a:ext cx="11094415" cy="457200"/>
          </a:xfrm>
          <a:prstGeom prst="rect">
            <a:avLst/>
          </a:prstGeom>
          <a:noFill/>
          <a:ln/>
        </p:spPr>
        <p:txBody>
          <a:bodyPr wrap="square" lIns="0" tIns="0" rIns="0" bIns="0" rtlCol="0" anchor="t"/>
          <a:lstStyle/>
          <a:p>
            <a:pPr indent="0" marL="0">
              <a:buNone/>
            </a:pPr>
            <a:r>
              <a:rPr lang="en-US" sz="2000" dirty="0">
                <a:solidFill>
                  <a:schemeClr val="bg2"/>
                </a:solidFill>
              </a:rPr>
              <a:t>On the demo phone, collecting since 14 Sep 2026</a:t>
            </a:r>
            <a:endParaRPr lang="en-US" sz="2000" dirty="0"/>
          </a:p>
        </p:txBody>
      </p:sp>
      <p:sp>
        <p:nvSpPr>
          <p:cNvPr id="4" name="demo-1"/>
          <p:cNvSpPr/>
          <p:nvPr/>
        </p:nvSpPr>
        <p:spPr>
          <a:xfrm>
            <a:off x="548640" y="2834640"/>
            <a:ext cx="2567864" cy="2377440"/>
          </a:xfrm>
          <a:prstGeom prst="roundRect">
            <a:avLst>
              <a:gd name="adj" fmla="val 3846"/>
            </a:avLst>
          </a:prstGeom>
          <a:solidFill>
            <a:schemeClr val="bg1"/>
          </a:solidFill>
          <a:ln/>
        </p:spPr>
      </p:sp>
      <p:sp>
        <p:nvSpPr>
          <p:cNvPr id="5" name="icon-circle-FaCalendarDay"/>
          <p:cNvSpPr/>
          <p:nvPr/>
        </p:nvSpPr>
        <p:spPr>
          <a:xfrm>
            <a:off x="822960" y="3063240"/>
            <a:ext cx="685800" cy="685800"/>
          </a:xfrm>
          <a:prstGeom prst="ellipse">
            <a:avLst/>
          </a:prstGeom>
          <a:solidFill>
            <a:schemeClr val="accent1"/>
          </a:solidFill>
          <a:ln/>
        </p:spPr>
      </p:sp>
      <p:pic>
        <p:nvPicPr>
          <p:cNvPr id="6" name="icon-FaCalendarDay" descr="preencoded.png">    </p:cNvPr>
          <p:cNvPicPr>
            <a:picLocks noChangeAspect="1"/>
          </p:cNvPicPr>
          <p:nvPr/>
        </p:nvPicPr>
        <p:blipFill>
          <a:blip r:embed="rId1"/>
          <a:stretch>
            <a:fillRect/>
          </a:stretch>
        </p:blipFill>
        <p:spPr>
          <a:xfrm>
            <a:off x="987552" y="3227832"/>
            <a:ext cx="356616" cy="356616"/>
          </a:xfrm>
          <a:prstGeom prst="rect">
            <a:avLst/>
          </a:prstGeom>
        </p:spPr>
      </p:pic>
      <p:sp>
        <p:nvSpPr>
          <p:cNvPr id="7" name="Text 4"/>
          <p:cNvSpPr txBox="1"/>
          <p:nvPr/>
        </p:nvSpPr>
        <p:spPr>
          <a:xfrm>
            <a:off x="2384984" y="3063240"/>
            <a:ext cx="457200" cy="685800"/>
          </a:xfrm>
          <a:prstGeom prst="rect">
            <a:avLst/>
          </a:prstGeom>
          <a:noFill/>
          <a:ln/>
        </p:spPr>
        <p:txBody>
          <a:bodyPr wrap="square" lIns="0" tIns="0" rIns="0" bIns="0" rtlCol="0" anchor="t"/>
          <a:lstStyle/>
          <a:p>
            <a:pPr algn="r" indent="0" marL="0">
              <a:buNone/>
            </a:pPr>
            <a:r>
              <a:rPr lang="en-US" sz="3200" b="1" dirty="0">
                <a:solidFill>
                  <a:schemeClr val="accent2"/>
                </a:solidFill>
                <a:latin typeface="Cambria" pitchFamily="34" charset="0"/>
                <a:ea typeface="Cambria" pitchFamily="34" charset="-122"/>
                <a:cs typeface="Cambria" pitchFamily="34" charset="-120"/>
              </a:rPr>
              <a:t>1</a:t>
            </a:r>
            <a:endParaRPr lang="en-US" sz="3200" dirty="0"/>
          </a:p>
        </p:txBody>
      </p:sp>
      <p:sp>
        <p:nvSpPr>
          <p:cNvPr id="8" name="Text 5"/>
          <p:cNvSpPr txBox="1"/>
          <p:nvPr/>
        </p:nvSpPr>
        <p:spPr>
          <a:xfrm>
            <a:off x="822960" y="3886200"/>
            <a:ext cx="2019224" cy="685800"/>
          </a:xfrm>
          <a:prstGeom prst="rect">
            <a:avLst/>
          </a:prstGeom>
          <a:noFill/>
          <a:ln/>
        </p:spPr>
        <p:txBody>
          <a:bodyPr wrap="square" lIns="0" tIns="0" rIns="0" bIns="0" rtlCol="0" anchor="t"/>
          <a:lstStyle/>
          <a:p>
            <a:pPr indent="0" marL="0">
              <a:buNone/>
            </a:pPr>
            <a:r>
              <a:rPr lang="en-US" sz="1800" b="1" dirty="0">
                <a:solidFill>
                  <a:schemeClr val="tx2"/>
                </a:solidFill>
              </a:rPr>
              <a:t>Your day so far</a:t>
            </a:r>
            <a:endParaRPr lang="en-US" sz="1800" dirty="0"/>
          </a:p>
        </p:txBody>
      </p:sp>
      <p:sp>
        <p:nvSpPr>
          <p:cNvPr id="9" name="Text 6"/>
          <p:cNvSpPr txBox="1"/>
          <p:nvPr/>
        </p:nvSpPr>
        <p:spPr>
          <a:xfrm>
            <a:off x="822960" y="4572000"/>
            <a:ext cx="2019224" cy="548640"/>
          </a:xfrm>
          <a:prstGeom prst="rect">
            <a:avLst/>
          </a:prstGeom>
          <a:noFill/>
          <a:ln/>
        </p:spPr>
        <p:txBody>
          <a:bodyPr wrap="square" lIns="0" tIns="0" rIns="0" bIns="0" rtlCol="0" anchor="t"/>
          <a:lstStyle/>
          <a:p>
            <a:pPr indent="0" marL="0">
              <a:buNone/>
            </a:pPr>
            <a:r>
              <a:rPr lang="en-US" sz="1400" dirty="0">
                <a:solidFill>
                  <a:schemeClr val="tx1"/>
                </a:solidFill>
              </a:rPr>
              <a:t>The daily summary</a:t>
            </a:r>
            <a:endParaRPr lang="en-US" sz="1400" dirty="0"/>
          </a:p>
        </p:txBody>
      </p:sp>
      <p:sp>
        <p:nvSpPr>
          <p:cNvPr id="10" name="demo-2"/>
          <p:cNvSpPr/>
          <p:nvPr/>
        </p:nvSpPr>
        <p:spPr>
          <a:xfrm>
            <a:off x="3390824" y="2834640"/>
            <a:ext cx="2567864" cy="2377440"/>
          </a:xfrm>
          <a:prstGeom prst="roundRect">
            <a:avLst>
              <a:gd name="adj" fmla="val 3846"/>
            </a:avLst>
          </a:prstGeom>
          <a:solidFill>
            <a:schemeClr val="bg1"/>
          </a:solidFill>
          <a:ln/>
        </p:spPr>
      </p:sp>
      <p:sp>
        <p:nvSpPr>
          <p:cNvPr id="11" name="icon-circle-FaStream"/>
          <p:cNvSpPr/>
          <p:nvPr/>
        </p:nvSpPr>
        <p:spPr>
          <a:xfrm>
            <a:off x="3665144" y="3063240"/>
            <a:ext cx="685800" cy="685800"/>
          </a:xfrm>
          <a:prstGeom prst="ellipse">
            <a:avLst/>
          </a:prstGeom>
          <a:solidFill>
            <a:schemeClr val="accent1"/>
          </a:solidFill>
          <a:ln/>
        </p:spPr>
      </p:sp>
      <p:pic>
        <p:nvPicPr>
          <p:cNvPr id="12" name="icon-FaStream" descr="preencoded.png">    </p:cNvPr>
          <p:cNvPicPr>
            <a:picLocks noChangeAspect="1"/>
          </p:cNvPicPr>
          <p:nvPr/>
        </p:nvPicPr>
        <p:blipFill>
          <a:blip r:embed="rId2"/>
          <a:stretch>
            <a:fillRect/>
          </a:stretch>
        </p:blipFill>
        <p:spPr>
          <a:xfrm>
            <a:off x="3829736" y="3227832"/>
            <a:ext cx="356616" cy="356616"/>
          </a:xfrm>
          <a:prstGeom prst="rect">
            <a:avLst/>
          </a:prstGeom>
        </p:spPr>
      </p:pic>
      <p:sp>
        <p:nvSpPr>
          <p:cNvPr id="13" name="Text 9"/>
          <p:cNvSpPr txBox="1"/>
          <p:nvPr/>
        </p:nvSpPr>
        <p:spPr>
          <a:xfrm>
            <a:off x="5227168" y="3063240"/>
            <a:ext cx="457200" cy="685800"/>
          </a:xfrm>
          <a:prstGeom prst="rect">
            <a:avLst/>
          </a:prstGeom>
          <a:noFill/>
          <a:ln/>
        </p:spPr>
        <p:txBody>
          <a:bodyPr wrap="square" lIns="0" tIns="0" rIns="0" bIns="0" rtlCol="0" anchor="t"/>
          <a:lstStyle/>
          <a:p>
            <a:pPr algn="r" indent="0" marL="0">
              <a:buNone/>
            </a:pPr>
            <a:r>
              <a:rPr lang="en-US" sz="3200" b="1" dirty="0">
                <a:solidFill>
                  <a:schemeClr val="accent2"/>
                </a:solidFill>
                <a:latin typeface="Cambria" pitchFamily="34" charset="0"/>
                <a:ea typeface="Cambria" pitchFamily="34" charset="-122"/>
                <a:cs typeface="Cambria" pitchFamily="34" charset="-120"/>
              </a:rPr>
              <a:t>2</a:t>
            </a:r>
            <a:endParaRPr lang="en-US" sz="3200" dirty="0"/>
          </a:p>
        </p:txBody>
      </p:sp>
      <p:sp>
        <p:nvSpPr>
          <p:cNvPr id="14" name="Text 10"/>
          <p:cNvSpPr txBox="1"/>
          <p:nvPr/>
        </p:nvSpPr>
        <p:spPr>
          <a:xfrm>
            <a:off x="3665144" y="3886200"/>
            <a:ext cx="2019224" cy="685800"/>
          </a:xfrm>
          <a:prstGeom prst="rect">
            <a:avLst/>
          </a:prstGeom>
          <a:noFill/>
          <a:ln/>
        </p:spPr>
        <p:txBody>
          <a:bodyPr wrap="square" lIns="0" tIns="0" rIns="0" bIns="0" rtlCol="0" anchor="t"/>
          <a:lstStyle/>
          <a:p>
            <a:pPr indent="0" marL="0">
              <a:buNone/>
            </a:pPr>
            <a:r>
              <a:rPr lang="en-US" sz="1800" b="1" dirty="0">
                <a:solidFill>
                  <a:schemeClr val="tx2"/>
                </a:solidFill>
              </a:rPr>
              <a:t>My day, hour by hour</a:t>
            </a:r>
            <a:endParaRPr lang="en-US" sz="1800" dirty="0"/>
          </a:p>
        </p:txBody>
      </p:sp>
      <p:sp>
        <p:nvSpPr>
          <p:cNvPr id="15" name="Text 11"/>
          <p:cNvSpPr txBox="1"/>
          <p:nvPr/>
        </p:nvSpPr>
        <p:spPr>
          <a:xfrm>
            <a:off x="3665144" y="4572000"/>
            <a:ext cx="2019224" cy="548640"/>
          </a:xfrm>
          <a:prstGeom prst="rect">
            <a:avLst/>
          </a:prstGeom>
          <a:noFill/>
          <a:ln/>
        </p:spPr>
        <p:txBody>
          <a:bodyPr wrap="square" lIns="0" tIns="0" rIns="0" bIns="0" rtlCol="0" anchor="t"/>
          <a:lstStyle/>
          <a:p>
            <a:pPr indent="0" marL="0">
              <a:buNone/>
            </a:pPr>
            <a:r>
              <a:rPr lang="en-US" sz="1400" dirty="0">
                <a:solidFill>
                  <a:schemeClr val="tx1"/>
                </a:solidFill>
              </a:rPr>
              <a:t>Timeline, then yesterday</a:t>
            </a:r>
            <a:endParaRPr lang="en-US" sz="1400" dirty="0"/>
          </a:p>
        </p:txBody>
      </p:sp>
      <p:sp>
        <p:nvSpPr>
          <p:cNvPr id="16" name="demo-3"/>
          <p:cNvSpPr/>
          <p:nvPr/>
        </p:nvSpPr>
        <p:spPr>
          <a:xfrm>
            <a:off x="6233008" y="2834640"/>
            <a:ext cx="2567864" cy="2377440"/>
          </a:xfrm>
          <a:prstGeom prst="roundRect">
            <a:avLst>
              <a:gd name="adj" fmla="val 3846"/>
            </a:avLst>
          </a:prstGeom>
          <a:solidFill>
            <a:schemeClr val="bg1"/>
          </a:solidFill>
          <a:ln/>
        </p:spPr>
      </p:sp>
      <p:sp>
        <p:nvSpPr>
          <p:cNvPr id="17" name="icon-circle-FaWalking"/>
          <p:cNvSpPr/>
          <p:nvPr/>
        </p:nvSpPr>
        <p:spPr>
          <a:xfrm>
            <a:off x="6507328" y="3063240"/>
            <a:ext cx="685800" cy="685800"/>
          </a:xfrm>
          <a:prstGeom prst="ellipse">
            <a:avLst/>
          </a:prstGeom>
          <a:solidFill>
            <a:schemeClr val="accent1"/>
          </a:solidFill>
          <a:ln/>
        </p:spPr>
      </p:sp>
      <p:pic>
        <p:nvPicPr>
          <p:cNvPr id="18" name="icon-FaWalking" descr="preencoded.png">    </p:cNvPr>
          <p:cNvPicPr>
            <a:picLocks noChangeAspect="1"/>
          </p:cNvPicPr>
          <p:nvPr/>
        </p:nvPicPr>
        <p:blipFill>
          <a:blip r:embed="rId3"/>
          <a:stretch>
            <a:fillRect/>
          </a:stretch>
        </p:blipFill>
        <p:spPr>
          <a:xfrm>
            <a:off x="6671920" y="3227832"/>
            <a:ext cx="356616" cy="356616"/>
          </a:xfrm>
          <a:prstGeom prst="rect">
            <a:avLst/>
          </a:prstGeom>
        </p:spPr>
      </p:pic>
      <p:sp>
        <p:nvSpPr>
          <p:cNvPr id="19" name="Text 14"/>
          <p:cNvSpPr txBox="1"/>
          <p:nvPr/>
        </p:nvSpPr>
        <p:spPr>
          <a:xfrm>
            <a:off x="8069351" y="3063240"/>
            <a:ext cx="457200" cy="685800"/>
          </a:xfrm>
          <a:prstGeom prst="rect">
            <a:avLst/>
          </a:prstGeom>
          <a:noFill/>
          <a:ln/>
        </p:spPr>
        <p:txBody>
          <a:bodyPr wrap="square" lIns="0" tIns="0" rIns="0" bIns="0" rtlCol="0" anchor="t"/>
          <a:lstStyle/>
          <a:p>
            <a:pPr algn="r" indent="0" marL="0">
              <a:buNone/>
            </a:pPr>
            <a:r>
              <a:rPr lang="en-US" sz="3200" b="1" dirty="0">
                <a:solidFill>
                  <a:schemeClr val="accent2"/>
                </a:solidFill>
                <a:latin typeface="Cambria" pitchFamily="34" charset="0"/>
                <a:ea typeface="Cambria" pitchFamily="34" charset="-122"/>
                <a:cs typeface="Cambria" pitchFamily="34" charset="-120"/>
              </a:rPr>
              <a:t>3</a:t>
            </a:r>
            <a:endParaRPr lang="en-US" sz="3200" dirty="0"/>
          </a:p>
        </p:txBody>
      </p:sp>
      <p:sp>
        <p:nvSpPr>
          <p:cNvPr id="20" name="Text 15"/>
          <p:cNvSpPr txBox="1"/>
          <p:nvPr/>
        </p:nvSpPr>
        <p:spPr>
          <a:xfrm>
            <a:off x="6507328" y="3886200"/>
            <a:ext cx="2019224" cy="685800"/>
          </a:xfrm>
          <a:prstGeom prst="rect">
            <a:avLst/>
          </a:prstGeom>
          <a:noFill/>
          <a:ln/>
        </p:spPr>
        <p:txBody>
          <a:bodyPr wrap="square" lIns="0" tIns="0" rIns="0" bIns="0" rtlCol="0" anchor="t"/>
          <a:lstStyle/>
          <a:p>
            <a:pPr indent="0" marL="0">
              <a:buNone/>
            </a:pPr>
            <a:r>
              <a:rPr lang="en-US" sz="1800" b="1" dirty="0">
                <a:solidFill>
                  <a:schemeClr val="tx2"/>
                </a:solidFill>
              </a:rPr>
              <a:t>Live</a:t>
            </a:r>
            <a:endParaRPr lang="en-US" sz="1800" dirty="0"/>
          </a:p>
        </p:txBody>
      </p:sp>
      <p:sp>
        <p:nvSpPr>
          <p:cNvPr id="21" name="Text 16"/>
          <p:cNvSpPr txBox="1"/>
          <p:nvPr/>
        </p:nvSpPr>
        <p:spPr>
          <a:xfrm>
            <a:off x="6507328" y="4572000"/>
            <a:ext cx="2019224" cy="548640"/>
          </a:xfrm>
          <a:prstGeom prst="rect">
            <a:avLst/>
          </a:prstGeom>
          <a:noFill/>
          <a:ln/>
        </p:spPr>
        <p:txBody>
          <a:bodyPr wrap="square" lIns="0" tIns="0" rIns="0" bIns="0" rtlCol="0" anchor="t"/>
          <a:lstStyle/>
          <a:p>
            <a:pPr indent="0" marL="0">
              <a:buNone/>
            </a:pPr>
            <a:r>
              <a:rPr lang="en-US" sz="1400" dirty="0">
                <a:solidFill>
                  <a:schemeClr val="tx1"/>
                </a:solidFill>
              </a:rPr>
              <a:t>Unlock, lock, walk a few steps</a:t>
            </a:r>
            <a:endParaRPr lang="en-US" sz="1400" dirty="0"/>
          </a:p>
        </p:txBody>
      </p:sp>
      <p:sp>
        <p:nvSpPr>
          <p:cNvPr id="22" name="demo-4"/>
          <p:cNvSpPr/>
          <p:nvPr/>
        </p:nvSpPr>
        <p:spPr>
          <a:xfrm>
            <a:off x="9075191" y="2834640"/>
            <a:ext cx="2567864" cy="2377440"/>
          </a:xfrm>
          <a:prstGeom prst="roundRect">
            <a:avLst>
              <a:gd name="adj" fmla="val 3846"/>
            </a:avLst>
          </a:prstGeom>
          <a:solidFill>
            <a:schemeClr val="bg1"/>
          </a:solidFill>
          <a:ln/>
        </p:spPr>
      </p:sp>
      <p:sp>
        <p:nvSpPr>
          <p:cNvPr id="23" name="icon-circle-FaEye"/>
          <p:cNvSpPr/>
          <p:nvPr/>
        </p:nvSpPr>
        <p:spPr>
          <a:xfrm>
            <a:off x="9349511" y="3063240"/>
            <a:ext cx="685800" cy="685800"/>
          </a:xfrm>
          <a:prstGeom prst="ellipse">
            <a:avLst/>
          </a:prstGeom>
          <a:solidFill>
            <a:schemeClr val="accent1"/>
          </a:solidFill>
          <a:ln/>
        </p:spPr>
      </p:sp>
      <p:pic>
        <p:nvPicPr>
          <p:cNvPr id="24" name="icon-FaEye" descr="preencoded.png">    </p:cNvPr>
          <p:cNvPicPr>
            <a:picLocks noChangeAspect="1"/>
          </p:cNvPicPr>
          <p:nvPr/>
        </p:nvPicPr>
        <p:blipFill>
          <a:blip r:embed="rId4"/>
          <a:stretch>
            <a:fillRect/>
          </a:stretch>
        </p:blipFill>
        <p:spPr>
          <a:xfrm>
            <a:off x="9514103" y="3227832"/>
            <a:ext cx="356616" cy="356616"/>
          </a:xfrm>
          <a:prstGeom prst="rect">
            <a:avLst/>
          </a:prstGeom>
        </p:spPr>
      </p:pic>
      <p:sp>
        <p:nvSpPr>
          <p:cNvPr id="25" name="Text 19"/>
          <p:cNvSpPr txBox="1"/>
          <p:nvPr/>
        </p:nvSpPr>
        <p:spPr>
          <a:xfrm>
            <a:off x="10911535" y="3063240"/>
            <a:ext cx="457200" cy="685800"/>
          </a:xfrm>
          <a:prstGeom prst="rect">
            <a:avLst/>
          </a:prstGeom>
          <a:noFill/>
          <a:ln/>
        </p:spPr>
        <p:txBody>
          <a:bodyPr wrap="square" lIns="0" tIns="0" rIns="0" bIns="0" rtlCol="0" anchor="t"/>
          <a:lstStyle/>
          <a:p>
            <a:pPr algn="r" indent="0" marL="0">
              <a:buNone/>
            </a:pPr>
            <a:r>
              <a:rPr lang="en-US" sz="3200" b="1" dirty="0">
                <a:solidFill>
                  <a:schemeClr val="accent2"/>
                </a:solidFill>
                <a:latin typeface="Cambria" pitchFamily="34" charset="0"/>
                <a:ea typeface="Cambria" pitchFamily="34" charset="-122"/>
                <a:cs typeface="Cambria" pitchFamily="34" charset="-120"/>
              </a:rPr>
              <a:t>4</a:t>
            </a:r>
            <a:endParaRPr lang="en-US" sz="3200" dirty="0"/>
          </a:p>
        </p:txBody>
      </p:sp>
      <p:sp>
        <p:nvSpPr>
          <p:cNvPr id="26" name="Text 20"/>
          <p:cNvSpPr txBox="1"/>
          <p:nvPr/>
        </p:nvSpPr>
        <p:spPr>
          <a:xfrm>
            <a:off x="9349511" y="3886200"/>
            <a:ext cx="2019224" cy="685800"/>
          </a:xfrm>
          <a:prstGeom prst="rect">
            <a:avLst/>
          </a:prstGeom>
          <a:noFill/>
          <a:ln/>
        </p:spPr>
        <p:txBody>
          <a:bodyPr wrap="square" lIns="0" tIns="0" rIns="0" bIns="0" rtlCol="0" anchor="t"/>
          <a:lstStyle/>
          <a:p>
            <a:pPr indent="0" marL="0">
              <a:buNone/>
            </a:pPr>
            <a:r>
              <a:rPr lang="en-US" sz="1800" b="1" dirty="0">
                <a:solidFill>
                  <a:schemeClr val="tx2"/>
                </a:solidFill>
              </a:rPr>
              <a:t>Everything recorded</a:t>
            </a:r>
            <a:endParaRPr lang="en-US" sz="1800" dirty="0"/>
          </a:p>
        </p:txBody>
      </p:sp>
      <p:sp>
        <p:nvSpPr>
          <p:cNvPr id="27" name="Text 21"/>
          <p:cNvSpPr txBox="1"/>
          <p:nvPr/>
        </p:nvSpPr>
        <p:spPr>
          <a:xfrm>
            <a:off x="9349511" y="4572000"/>
            <a:ext cx="2019224" cy="548640"/>
          </a:xfrm>
          <a:prstGeom prst="rect">
            <a:avLst/>
          </a:prstGeom>
          <a:noFill/>
          <a:ln/>
        </p:spPr>
        <p:txBody>
          <a:bodyPr wrap="square" lIns="0" tIns="0" rIns="0" bIns="0" rtlCol="0" anchor="t"/>
          <a:lstStyle/>
          <a:p>
            <a:pPr indent="0" marL="0">
              <a:buNone/>
            </a:pPr>
            <a:r>
              <a:rPr lang="en-US" sz="1400" dirty="0">
                <a:solidFill>
                  <a:schemeClr val="tx1"/>
                </a:solidFill>
              </a:rPr>
              <a:t>Raw records and the server health check</a:t>
            </a:r>
            <a:endParaRPr lang="en-US" sz="1400" dirty="0"/>
          </a:p>
        </p:txBody>
      </p:sp>
      <p:sp>
        <p:nvSpPr>
          <p:cNvPr id="28" name="Text 22"/>
          <p:cNvSpPr txBox="1"/>
          <p:nvPr/>
        </p:nvSpPr>
        <p:spPr>
          <a:xfrm>
            <a:off x="548640" y="5669280"/>
            <a:ext cx="11094415" cy="548640"/>
          </a:xfrm>
          <a:prstGeom prst="rect">
            <a:avLst/>
          </a:prstGeom>
          <a:noFill/>
          <a:ln/>
        </p:spPr>
        <p:txBody>
          <a:bodyPr wrap="square" lIns="0" tIns="0" rIns="0" bIns="0" rtlCol="0" anchor="t"/>
          <a:lstStyle/>
          <a:p>
            <a:pPr indent="0" marL="0">
              <a:buNone/>
            </a:pPr>
            <a:r>
              <a:rPr lang="en-US" sz="2400" b="1" i="1" dirty="0">
                <a:solidFill>
                  <a:schemeClr val="bg1"/>
                </a:solidFill>
                <a:latin typeface="Cambria" pitchFamily="34" charset="0"/>
                <a:ea typeface="Cambria" pitchFamily="34" charset="-122"/>
                <a:cs typeface="Cambria" pitchFamily="34" charset="-120"/>
              </a:rPr>
              <a:t>Thank you</a:t>
            </a:r>
            <a:endParaRPr lang="en-US" sz="2400" dirty="0"/>
          </a:p>
        </p:txBody>
      </p:sp>
      <p:sp>
        <p:nvSpPr>
          <p:cNvPr id="30" name="Text 0"/>
          <p:cNvSpPr/>
          <p:nvPr>
            <p:ph idx="100" type="title" hasCustomPrompt="1"/>
          </p:nvPr>
        </p:nvSpPr>
        <p:spPr>
          <a:xfrm>
            <a:off x="548640" y="2011680"/>
            <a:ext cx="7498080" cy="1188720"/>
          </a:xfrm>
          <a:prstGeom prst="rect">
            <a:avLst/>
          </a:prstGeom>
          <a:noFill/>
          <a:ln/>
        </p:spPr>
        <p:txBody>
          <a:bodyPr wrap="square" lIns="0" tIns="0" rIns="0" bIns="0" rtlCol="0" anchor="b"/>
          <a:lstStyle/>
          <a:p>
            <a:pPr algn="l" indent="0" marL="0">
              <a:buNone/>
            </a:pPr>
            <a:endParaRPr lang="en-US" sz="5400" dirty="0"/>
          </a:p>
        </p:txBody>
      </p:sp>
      <p:sp>
        <p:nvSpPr>
          <p:cNvPr id="31" name="Text 0"/>
          <p:cNvSpPr/>
          <p:nvPr>
            <p:ph idx="101" type="body" hasCustomPrompt="1"/>
          </p:nvPr>
        </p:nvSpPr>
        <p:spPr>
          <a:xfrm>
            <a:off x="548640" y="3291840"/>
            <a:ext cx="7498080" cy="1005840"/>
          </a:xfrm>
          <a:prstGeom prst="rect">
            <a:avLst/>
          </a:prstGeom>
          <a:noFill/>
          <a:ln/>
        </p:spPr>
        <p:txBody>
          <a:bodyPr wrap="square" lIns="0" tIns="0" rIns="0" bIns="0" rtlCol="0" anchor="t"/>
          <a:lstStyle/>
          <a:p>
            <a:pPr algn="l" indent="0" marL="0">
              <a:buNone/>
            </a:pPr>
            <a:endParaRPr lang="en-US" sz="2200" dirty="0"/>
          </a:p>
        </p:txBody>
      </p:sp>
    </p:spTree>
  </p:cSld>
  <p:clrMapOvr>
    <a:masterClrMapping/>
  </p:clrMapOvr>
</p:sld>
</file>

<file path=ppt/theme/theme1.xml><?xml version="1.0" encoding="utf-8"?>
<a:theme xmlns:a="http://schemas.openxmlformats.org/drawingml/2006/main" name="KinSync">
  <a:themeElements>
    <a:clrScheme name="KinSync">
      <a:dk1>
        <a:srgbClr val="1D2B2E"/>
      </a:dk1>
      <a:lt1>
        <a:srgbClr val="FFFFFF"/>
      </a:lt1>
      <a:dk2>
        <a:srgbClr val="0E4D57"/>
      </a:dk2>
      <a:lt2>
        <a:srgbClr val="EAF2F1"/>
      </a:lt2>
      <a:accent1>
        <a:srgbClr val="1A7F86"/>
      </a:accent1>
      <a:accent2>
        <a:srgbClr val="D9682B"/>
      </a:accent2>
      <a:accent3>
        <a:srgbClr val="3F8F5E"/>
      </a:accent3>
      <a:accent4>
        <a:srgbClr val="7D8A92"/>
      </a:accent4>
      <a:accent5>
        <a:srgbClr val="2F6690"/>
      </a:accent5>
      <a:accent6>
        <a:srgbClr val="9C4668"/>
      </a:accent6>
      <a:hlink>
        <a:srgbClr val="1A7F86"/>
      </a:hlink>
      <a:folHlink>
        <a:srgbClr val="0E4D57"/>
      </a:folHlink>
    </a:clrScheme>
    <a:fontScheme name="KinSyn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VIT Chennai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KinSync - Review III</dc:title>
  <dc:subject>BACSE291 Innovative Design Project, Review III</dc:subject>
  <dc:creator>Nithin Vinayagamoorthy, Sri Hasini Chowdhary G</dc:creator>
  <cp:lastModifiedBy>Nithin Vinayagamoorthy, Sri Hasini Chowdhary G</cp:lastModifiedBy>
  <cp:revision>1</cp:revision>
  <dcterms:created xsi:type="dcterms:W3CDTF">2026-10-10T17:39:46Z</dcterms:created>
  <dcterms:modified xsi:type="dcterms:W3CDTF">2026-10-10T17:39:46Z</dcterms:modified>
</cp:coreProperties>
</file>